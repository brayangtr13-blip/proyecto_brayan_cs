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8" r:id="rId9"/>
    <p:sldId id="264" r:id="rId10"/>
    <p:sldId id="276" r:id="rId25"/>
    <p:sldId id="277" r:id="rId26"/>
    <p:sldId id="278" r:id="rId27"/>
    <p:sldId id="279" r:id="rId28"/>
    <p:sldId id="280" r:id="rId29"/>
    <p:sldId id="281" r:id="rId30"/>
    <p:sldId id="265" r:id="rId11"/>
    <p:sldId id="269" r:id="rId18"/>
    <p:sldId id="270" r:id="rId19"/>
    <p:sldId id="271" r:id="rId20"/>
    <p:sldId id="272" r:id="rId21"/>
    <p:sldId id="273" r:id="rId22"/>
    <p:sldId id="274" r:id="rId23"/>
    <p:sldId id="275" r:id="rId24"/>
    <p:sldId id="266" r:id="rId12"/>
    <p:sldId id="267"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954"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6.xml"/><Relationship Id="rId12" Type="http://schemas.openxmlformats.org/officeDocument/2006/relationships/slide" Target="slides/slide24.xml"/><Relationship Id="rId13" Type="http://schemas.openxmlformats.org/officeDocument/2006/relationships/slide" Target="slides/slide25.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0"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1459991"/>
          </a:xfrm>
          <a:prstGeom prst="rect">
            <a:avLst/>
          </a:prstGeom>
        </p:spPr>
      </p:pic>
      <p:sp>
        <p:nvSpPr>
          <p:cNvPr id="2" name="Holder 2"/>
          <p:cNvSpPr>
            <a:spLocks noGrp="1"/>
          </p:cNvSpPr>
          <p:nvPr>
            <p:ph type="title"/>
          </p:nvPr>
        </p:nvSpPr>
        <p:spPr/>
        <p:txBody>
          <a:bodyPr lIns="0" tIns="0" rIns="0" bIns="0"/>
          <a:lstStyle>
            <a:lvl1pPr>
              <a:defRPr sz="32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37AE0D"/>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4572" y="3436620"/>
            <a:ext cx="12182855" cy="393191"/>
          </a:xfrm>
          <a:prstGeom prst="rect">
            <a:avLst/>
          </a:prstGeom>
        </p:spPr>
      </p:pic>
      <p:pic>
        <p:nvPicPr>
          <p:cNvPr id="18" name="bg object 18"/>
          <p:cNvPicPr/>
          <p:nvPr/>
        </p:nvPicPr>
        <p:blipFill>
          <a:blip r:embed="rId3" cstate="print"/>
          <a:stretch>
            <a:fillRect/>
          </a:stretch>
        </p:blipFill>
        <p:spPr>
          <a:xfrm>
            <a:off x="0" y="1341119"/>
            <a:ext cx="12191999" cy="219455"/>
          </a:xfrm>
          <a:prstGeom prst="rect">
            <a:avLst/>
          </a:prstGeom>
        </p:spPr>
      </p:pic>
      <p:pic>
        <p:nvPicPr>
          <p:cNvPr id="19" name="bg object 19"/>
          <p:cNvPicPr/>
          <p:nvPr/>
        </p:nvPicPr>
        <p:blipFill>
          <a:blip r:embed="rId4" cstate="print"/>
          <a:stretch>
            <a:fillRect/>
          </a:stretch>
        </p:blipFill>
        <p:spPr>
          <a:xfrm>
            <a:off x="5670804" y="1574291"/>
            <a:ext cx="868679" cy="150875"/>
          </a:xfrm>
          <a:prstGeom prst="rect">
            <a:avLst/>
          </a:prstGeom>
        </p:spPr>
      </p:pic>
      <p:pic>
        <p:nvPicPr>
          <p:cNvPr id="20" name="bg object 20"/>
          <p:cNvPicPr/>
          <p:nvPr/>
        </p:nvPicPr>
        <p:blipFill>
          <a:blip r:embed="rId5" cstate="print"/>
          <a:stretch>
            <a:fillRect/>
          </a:stretch>
        </p:blipFill>
        <p:spPr>
          <a:xfrm>
            <a:off x="5629656" y="1743455"/>
            <a:ext cx="937259" cy="512063"/>
          </a:xfrm>
          <a:prstGeom prst="rect">
            <a:avLst/>
          </a:prstGeom>
        </p:spPr>
      </p:pic>
      <p:sp>
        <p:nvSpPr>
          <p:cNvPr id="21" name="bg object 21"/>
          <p:cNvSpPr/>
          <p:nvPr/>
        </p:nvSpPr>
        <p:spPr>
          <a:xfrm>
            <a:off x="0" y="5265420"/>
            <a:ext cx="12184380" cy="499109"/>
          </a:xfrm>
          <a:custGeom>
            <a:avLst/>
            <a:gdLst/>
            <a:ahLst/>
            <a:cxnLst/>
            <a:rect l="l" t="t" r="r" b="b"/>
            <a:pathLst>
              <a:path w="12184380" h="499110">
                <a:moveTo>
                  <a:pt x="12184253" y="0"/>
                </a:moveTo>
                <a:lnTo>
                  <a:pt x="0" y="0"/>
                </a:lnTo>
                <a:lnTo>
                  <a:pt x="0" y="499109"/>
                </a:lnTo>
                <a:lnTo>
                  <a:pt x="12184253" y="499109"/>
                </a:lnTo>
                <a:lnTo>
                  <a:pt x="12184253" y="0"/>
                </a:lnTo>
                <a:close/>
              </a:path>
            </a:pathLst>
          </a:custGeom>
          <a:solidFill>
            <a:srgbClr val="3DA10D"/>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2877" y="235457"/>
            <a:ext cx="6739178" cy="1078738"/>
          </a:xfrm>
          <a:prstGeom prst="rect">
            <a:avLst/>
          </a:prstGeom>
        </p:spPr>
        <p:txBody>
          <a:bodyPr wrap="square" lIns="0" tIns="0" rIns="0" bIns="0">
            <a:spAutoFit/>
          </a:bodyPr>
          <a:lstStyle>
            <a:lvl1pPr>
              <a:defRPr sz="32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270763" y="2122678"/>
            <a:ext cx="10998835" cy="2348865"/>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27.png"/><Relationship Id="rId7"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3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Control_Store_Scrum_DE.xlsx#'GANTT SCRUM'!A1" TargetMode="External"/><Relationship Id="rId3" Type="http://schemas.openxmlformats.org/officeDocument/2006/relationships/image" Target="../media/image8.jpg"/><Relationship Id="rId4" Type="http://schemas.openxmlformats.org/officeDocument/2006/relationships/image" Target="../media/image3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jpg"/><Relationship Id="rId4" Type="http://schemas.openxmlformats.org/officeDocument/2006/relationships/image" Target="../media/image31.jpg"/><Relationship Id="rId10" Type="http://schemas.openxmlformats.org/officeDocument/2006/relationships/image" Target="../media/gantt_t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 Id="rId3" Type="http://schemas.openxmlformats.org/officeDocument/2006/relationships/image" Target="../media/image8.jpg"/><Relationship Id="rId4" Type="http://schemas.openxmlformats.org/officeDocument/2006/relationships/image" Target="../media/image32.png"/><Relationship Id="rId5" Type="http://schemas.openxmlformats.org/officeDocument/2006/relationships/hyperlink" Target="https://github.com/brayangtr13-blip/proyecto_grado_alexander/tree/develop/_docs_/trim01/02_proceso" TargetMode="External"/><Relationship Id="rId6" Type="http://schemas.openxmlformats.org/officeDocument/2006/relationships/hyperlink" Target="https://github.com/brayangtr13-blip/proyecto_grado_alexander/tree/develop/_docs_/trim01/03_elicitacion_requisitos" TargetMode="External"/><Relationship Id="rId7" Type="http://schemas.openxmlformats.org/officeDocument/2006/relationships/hyperlink" Target="https://github.com/brayangtr13-blip/proyecto_grado_alexander/blob/develop/_docs_/trim01/04_requisitos/ControlStore_IEEE830.pdf" TargetMode="External"/><Relationship Id="rId8" Type="http://schemas.openxmlformats.org/officeDocument/2006/relationships/image" Target="../media/image33.png"/><Relationship Id="rId9" Type="http://schemas.openxmlformats.org/officeDocument/2006/relationships/hyperlink" Target="https://github.com/brayangtr13-blip/proyecto_grado_alexander/tree/develop/_docs_/trim02/01_casos_uso" TargetMode="External"/><Relationship Id="rId10" Type="http://schemas.openxmlformats.org/officeDocument/2006/relationships/hyperlink" Target="https://github.com/brayangtr13-blip/proyecto_grado_alexander/tree/develop/_docs_/trim02/02_wireframes_mockpus" TargetMode="External"/><Relationship Id="rId11" Type="http://schemas.openxmlformats.org/officeDocument/2006/relationships/hyperlink" Target="https://github.com/brayangtr13-blip/proyecto_grado_alexander/tree/develop/_docs_/trim02/03_estimaci%C3%B3n_costos" TargetMode="External"/><Relationship Id="rId12" Type="http://schemas.openxmlformats.org/officeDocument/2006/relationships/hyperlink" Target="https://github.com/brayangtr13-blip/proyecto_grado_alexander" TargetMode="External"/><Relationship Id="rId13" Type="http://schemas.openxmlformats.org/officeDocument/2006/relationships/image" Target="../media/image34.png"/><Relationship Id="rId14" Type="http://schemas.openxmlformats.org/officeDocument/2006/relationships/hyperlink" Target="https://github.com/brayangtr13-blip/proyecto_grado_alexander/tree/develop/_docs_/trim03/01_modelo_relacional" TargetMode="External"/><Relationship Id="rId15" Type="http://schemas.openxmlformats.org/officeDocument/2006/relationships/hyperlink" Target="https://github.com/brayangtr13-blip/proyecto_grado_alexander/tree/develop/_docs_/trim03/02_normalizacion" TargetMode="External"/><Relationship Id="rId16" Type="http://schemas.openxmlformats.org/officeDocument/2006/relationships/hyperlink" Target="https://github.com/brayangtr13-blip/proyecto_grado_alexander/tree/develop/_docs_/trim03/05_diccionario_de_datos" TargetMode="External"/><Relationship Id="rId17" Type="http://schemas.openxmlformats.org/officeDocument/2006/relationships/hyperlink" Target="https://github.com/brayangtr13-blip/proyecto_grado_alexander/tree/develop/_docs_/trim03/03_diagrama%20de%20clases" TargetMode="External"/><Relationship Id="rId18" Type="http://schemas.openxmlformats.org/officeDocument/2006/relationships/hyperlink" Target="https://github.com/brayangtr13-blip/proyecto_grado_alexander/tree/develop/_docs_/trim03/06_prototipo_navegable" TargetMode="External"/><Relationship Id="rId19" Type="http://schemas.openxmlformats.org/officeDocument/2006/relationships/image" Target="../media/image35.png"/><Relationship Id="rId20" Type="http://schemas.openxmlformats.org/officeDocument/2006/relationships/image" Target="../media/image36.png"/><Relationship Id="rId21" Type="http://schemas.openxmlformats.org/officeDocument/2006/relationships/image" Target="../media/image37.png"/><Relationship Id="rId22"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7"/>
          </a:xfrm>
          <a:prstGeom prst="rect">
            <a:avLst/>
          </a:prstGeom>
        </p:spPr>
      </p:pic>
      <p:sp>
        <p:nvSpPr>
          <p:cNvPr id="3" name="object 3" descr="$PPTXTitle"/>
          <p:cNvSpPr txBox="1">
            <a:spLocks noGrp="1"/>
          </p:cNvSpPr>
          <p:nvPr>
            <p:ph type="title"/>
          </p:nvPr>
        </p:nvSpPr>
        <p:spPr>
          <a:xfrm>
            <a:off x="1074521" y="2543301"/>
            <a:ext cx="4211320" cy="627380"/>
          </a:xfrm>
          <a:prstGeom prst="rect">
            <a:avLst/>
          </a:prstGeom>
        </p:spPr>
        <p:txBody>
          <a:bodyPr vert="horz" wrap="square" lIns="0" tIns="12065" rIns="0" bIns="0" rtlCol="0">
            <a:spAutoFit/>
          </a:bodyPr>
          <a:lstStyle/>
          <a:p>
            <a:pPr marL="12700">
              <a:lnSpc>
                <a:spcPct val="100000"/>
              </a:lnSpc>
              <a:spcBef>
                <a:spcPts val="95"/>
              </a:spcBef>
            </a:pPr>
            <a:r>
              <a:rPr sz="3950" b="1" spc="135" dirty="0">
                <a:solidFill>
                  <a:srgbClr val="404040"/>
                </a:solidFill>
                <a:latin typeface="Times New Roman"/>
                <a:cs typeface="Times New Roman"/>
              </a:rPr>
              <a:t>CONTROL</a:t>
            </a:r>
            <a:r>
              <a:rPr sz="3950" b="1" spc="490" dirty="0">
                <a:solidFill>
                  <a:srgbClr val="404040"/>
                </a:solidFill>
                <a:latin typeface="Times New Roman"/>
                <a:cs typeface="Times New Roman"/>
              </a:rPr>
              <a:t> </a:t>
            </a:r>
            <a:r>
              <a:rPr sz="3950" b="1" spc="120" dirty="0">
                <a:solidFill>
                  <a:srgbClr val="404040"/>
                </a:solidFill>
                <a:latin typeface="Times New Roman"/>
                <a:cs typeface="Times New Roman"/>
              </a:rPr>
              <a:t>STORE</a:t>
            </a:r>
            <a:endParaRPr sz="3950">
              <a:latin typeface="Times New Roman"/>
              <a:cs typeface="Times New Roman"/>
            </a:endParaRPr>
          </a:p>
        </p:txBody>
      </p:sp>
      <p:sp>
        <p:nvSpPr>
          <p:cNvPr id="4" name="object 4"/>
          <p:cNvSpPr txBox="1"/>
          <p:nvPr/>
        </p:nvSpPr>
        <p:spPr>
          <a:xfrm>
            <a:off x="6501384" y="2767583"/>
            <a:ext cx="1999614" cy="1333500"/>
          </a:xfrm>
          <a:prstGeom prst="rect">
            <a:avLst/>
          </a:prstGeom>
          <a:ln w="9144">
            <a:solidFill>
              <a:srgbClr val="000000"/>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spcBef>
                <a:spcPts val="910"/>
              </a:spcBef>
            </a:pPr>
            <a:endParaRPr sz="1200">
              <a:latin typeface="Times New Roman"/>
              <a:cs typeface="Times New Roman"/>
            </a:endParaRPr>
          </a:p>
          <a:p>
            <a:pPr marL="358775">
              <a:lnSpc>
                <a:spcPct val="100000"/>
              </a:lnSpc>
              <a:spcBef>
                <a:spcPts val="5"/>
              </a:spcBef>
            </a:pPr>
            <a:r>
              <a:rPr sz="1200" dirty="0">
                <a:latin typeface="Times New Roman"/>
                <a:cs typeface="Times New Roman"/>
              </a:rPr>
              <a:t>Logo</a:t>
            </a:r>
            <a:r>
              <a:rPr sz="1200" spc="335" dirty="0">
                <a:latin typeface="Times New Roman"/>
                <a:cs typeface="Times New Roman"/>
              </a:rPr>
              <a:t> </a:t>
            </a:r>
            <a:r>
              <a:rPr sz="1200" spc="-10" dirty="0">
                <a:latin typeface="Times New Roman"/>
                <a:cs typeface="Times New Roman"/>
              </a:rPr>
              <a:t>Sistema</a:t>
            </a:r>
            <a:endParaRPr sz="1200">
              <a:latin typeface="Times New Roman"/>
              <a:cs typeface="Times New Roman"/>
            </a:endParaRPr>
          </a:p>
        </p:txBody>
      </p:sp>
      <p:grpSp>
        <p:nvGrpSpPr>
          <p:cNvPr id="5" name="object 5"/>
          <p:cNvGrpSpPr/>
          <p:nvPr/>
        </p:nvGrpSpPr>
        <p:grpSpPr>
          <a:xfrm>
            <a:off x="6496811" y="2763011"/>
            <a:ext cx="4018915" cy="1343025"/>
            <a:chOff x="6496811" y="2763011"/>
            <a:chExt cx="4018915" cy="1343025"/>
          </a:xfrm>
        </p:grpSpPr>
        <p:pic>
          <p:nvPicPr>
            <p:cNvPr id="6" name="object 6"/>
            <p:cNvPicPr/>
            <p:nvPr/>
          </p:nvPicPr>
          <p:blipFill>
            <a:blip r:embed="rId3" cstate="print"/>
            <a:stretch>
              <a:fillRect/>
            </a:stretch>
          </p:blipFill>
          <p:spPr>
            <a:xfrm>
              <a:off x="8496300" y="2763011"/>
              <a:ext cx="2019300" cy="1342644"/>
            </a:xfrm>
            <a:prstGeom prst="rect">
              <a:avLst/>
            </a:prstGeom>
          </p:spPr>
        </p:pic>
        <p:pic>
          <p:nvPicPr>
            <p:cNvPr id="7" name="object 7"/>
            <p:cNvPicPr/>
            <p:nvPr/>
          </p:nvPicPr>
          <p:blipFill>
            <a:blip r:embed="rId4" cstate="print"/>
            <a:stretch>
              <a:fillRect/>
            </a:stretch>
          </p:blipFill>
          <p:spPr>
            <a:xfrm>
              <a:off x="6496811" y="2763011"/>
              <a:ext cx="2066543" cy="13335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11350752" y="313943"/>
              <a:ext cx="173735" cy="170687"/>
            </a:xfrm>
            <a:prstGeom prst="rect">
              <a:avLst/>
            </a:prstGeom>
          </p:spPr>
        </p:pic>
        <p:pic>
          <p:nvPicPr>
            <p:cNvPr id="5" name="object 5"/>
            <p:cNvPicPr/>
            <p:nvPr/>
          </p:nvPicPr>
          <p:blipFill>
            <a:blip r:embed="rId4" cstate="print"/>
            <a:stretch>
              <a:fillRect/>
            </a:stretch>
          </p:blipFill>
          <p:spPr>
            <a:xfrm>
              <a:off x="11069193" y="512065"/>
              <a:ext cx="162814" cy="119886"/>
            </a:xfrm>
            <a:prstGeom prst="rect">
              <a:avLst/>
            </a:prstGeom>
          </p:spPr>
        </p:pic>
        <p:sp>
          <p:nvSpPr>
            <p:cNvPr id="6" name="object 6"/>
            <p:cNvSpPr/>
            <p:nvPr/>
          </p:nvSpPr>
          <p:spPr>
            <a:xfrm>
              <a:off x="11030712" y="513079"/>
              <a:ext cx="615315" cy="587375"/>
            </a:xfrm>
            <a:custGeom>
              <a:avLst/>
              <a:gdLst/>
              <a:ahLst/>
              <a:cxnLst/>
              <a:rect l="l" t="t" r="r" b="b"/>
              <a:pathLst>
                <a:path w="615315" h="587375">
                  <a:moveTo>
                    <a:pt x="364236" y="91440"/>
                  </a:moveTo>
                  <a:lnTo>
                    <a:pt x="274701" y="91440"/>
                  </a:lnTo>
                  <a:lnTo>
                    <a:pt x="274701" y="68580"/>
                  </a:lnTo>
                  <a:lnTo>
                    <a:pt x="354330" y="68580"/>
                  </a:lnTo>
                  <a:lnTo>
                    <a:pt x="354330" y="44450"/>
                  </a:lnTo>
                  <a:lnTo>
                    <a:pt x="274701" y="44450"/>
                  </a:lnTo>
                  <a:lnTo>
                    <a:pt x="274701" y="26670"/>
                  </a:lnTo>
                  <a:lnTo>
                    <a:pt x="361061" y="26670"/>
                  </a:lnTo>
                  <a:lnTo>
                    <a:pt x="361061" y="0"/>
                  </a:lnTo>
                  <a:lnTo>
                    <a:pt x="222631" y="0"/>
                  </a:lnTo>
                  <a:lnTo>
                    <a:pt x="222631" y="26670"/>
                  </a:lnTo>
                  <a:lnTo>
                    <a:pt x="222631" y="44450"/>
                  </a:lnTo>
                  <a:lnTo>
                    <a:pt x="222631" y="68580"/>
                  </a:lnTo>
                  <a:lnTo>
                    <a:pt x="222631" y="91440"/>
                  </a:lnTo>
                  <a:lnTo>
                    <a:pt x="222631" y="116840"/>
                  </a:lnTo>
                  <a:lnTo>
                    <a:pt x="364236" y="116840"/>
                  </a:lnTo>
                  <a:lnTo>
                    <a:pt x="364236" y="91440"/>
                  </a:lnTo>
                  <a:close/>
                </a:path>
                <a:path w="615315" h="587375">
                  <a:moveTo>
                    <a:pt x="371983" y="146431"/>
                  </a:moveTo>
                  <a:lnTo>
                    <a:pt x="0" y="146431"/>
                  </a:lnTo>
                  <a:lnTo>
                    <a:pt x="0" y="208153"/>
                  </a:lnTo>
                  <a:lnTo>
                    <a:pt x="231013" y="208153"/>
                  </a:lnTo>
                  <a:lnTo>
                    <a:pt x="241427" y="210947"/>
                  </a:lnTo>
                  <a:lnTo>
                    <a:pt x="248412" y="218186"/>
                  </a:lnTo>
                  <a:lnTo>
                    <a:pt x="250952" y="227838"/>
                  </a:lnTo>
                  <a:lnTo>
                    <a:pt x="248158" y="238252"/>
                  </a:lnTo>
                  <a:lnTo>
                    <a:pt x="107188" y="483743"/>
                  </a:lnTo>
                  <a:lnTo>
                    <a:pt x="153416" y="527304"/>
                  </a:lnTo>
                  <a:lnTo>
                    <a:pt x="371983" y="146431"/>
                  </a:lnTo>
                  <a:close/>
                </a:path>
                <a:path w="615315" h="587375">
                  <a:moveTo>
                    <a:pt x="614934" y="558038"/>
                  </a:moveTo>
                  <a:lnTo>
                    <a:pt x="405257" y="210820"/>
                  </a:lnTo>
                  <a:lnTo>
                    <a:pt x="404749" y="210820"/>
                  </a:lnTo>
                  <a:lnTo>
                    <a:pt x="404749" y="211328"/>
                  </a:lnTo>
                  <a:lnTo>
                    <a:pt x="199771" y="559562"/>
                  </a:lnTo>
                  <a:lnTo>
                    <a:pt x="254381" y="586994"/>
                  </a:lnTo>
                  <a:lnTo>
                    <a:pt x="388620" y="360172"/>
                  </a:lnTo>
                  <a:lnTo>
                    <a:pt x="396367" y="352679"/>
                  </a:lnTo>
                  <a:lnTo>
                    <a:pt x="406273" y="350139"/>
                  </a:lnTo>
                  <a:lnTo>
                    <a:pt x="416306" y="352679"/>
                  </a:lnTo>
                  <a:lnTo>
                    <a:pt x="424053" y="360172"/>
                  </a:lnTo>
                  <a:lnTo>
                    <a:pt x="559308" y="586994"/>
                  </a:lnTo>
                  <a:lnTo>
                    <a:pt x="614934" y="558038"/>
                  </a:lnTo>
                  <a:close/>
                </a:path>
              </a:pathLst>
            </a:custGeom>
            <a:solidFill>
              <a:srgbClr val="FFFFFF"/>
            </a:solidFill>
          </p:spPr>
          <p:txBody>
            <a:bodyPr wrap="square" lIns="0" tIns="0" rIns="0" bIns="0" rtlCol="0"/>
            <a:lstStyle/>
            <a:p>
              <a:endParaRPr sz="1200">
                <a:latin typeface="Times New Roman"/>
                <a:cs typeface="Times New Roman"/>
              </a:endParaRPr>
            </a:p>
          </p:txBody>
        </p:sp>
        <p:pic>
          <p:nvPicPr>
            <p:cNvPr id="7" name="object 7"/>
            <p:cNvPicPr/>
            <p:nvPr/>
          </p:nvPicPr>
          <p:blipFill>
            <a:blip r:embed="rId5" cstate="print"/>
            <a:stretch>
              <a:fillRect/>
            </a:stretch>
          </p:blipFill>
          <p:spPr>
            <a:xfrm>
              <a:off x="11416792" y="513587"/>
              <a:ext cx="403605" cy="116332"/>
            </a:xfrm>
            <a:prstGeom prst="rect">
              <a:avLst/>
            </a:prstGeom>
          </p:spPr>
        </p:pic>
        <p:sp>
          <p:nvSpPr>
            <p:cNvPr id="8" name="object 8"/>
            <p:cNvSpPr/>
            <p:nvPr/>
          </p:nvSpPr>
          <p:spPr>
            <a:xfrm>
              <a:off x="11468734" y="659511"/>
              <a:ext cx="372745" cy="381000"/>
            </a:xfrm>
            <a:custGeom>
              <a:avLst/>
              <a:gdLst/>
              <a:ahLst/>
              <a:cxnLst/>
              <a:rect l="l" t="t" r="r" b="b"/>
              <a:pathLst>
                <a:path w="372745" h="381000">
                  <a:moveTo>
                    <a:pt x="372618" y="0"/>
                  </a:moveTo>
                  <a:lnTo>
                    <a:pt x="0" y="0"/>
                  </a:lnTo>
                  <a:lnTo>
                    <a:pt x="218567" y="380873"/>
                  </a:lnTo>
                  <a:lnTo>
                    <a:pt x="264922" y="337312"/>
                  </a:lnTo>
                  <a:lnTo>
                    <a:pt x="123825" y="91821"/>
                  </a:lnTo>
                  <a:lnTo>
                    <a:pt x="121031" y="81406"/>
                  </a:lnTo>
                  <a:lnTo>
                    <a:pt x="123698" y="71754"/>
                  </a:lnTo>
                  <a:lnTo>
                    <a:pt x="130683" y="64515"/>
                  </a:lnTo>
                  <a:lnTo>
                    <a:pt x="141097" y="61722"/>
                  </a:lnTo>
                  <a:lnTo>
                    <a:pt x="372618" y="61722"/>
                  </a:lnTo>
                  <a:lnTo>
                    <a:pt x="372618" y="0"/>
                  </a:lnTo>
                  <a:close/>
                </a:path>
              </a:pathLst>
            </a:custGeom>
            <a:solidFill>
              <a:srgbClr val="FFFFFF"/>
            </a:solidFill>
          </p:spPr>
          <p:txBody>
            <a:bodyPr wrap="square" lIns="0" tIns="0" rIns="0" bIns="0" rtlCol="0"/>
            <a:lstStyle/>
            <a:p>
              <a:endParaRPr sz="1200">
                <a:latin typeface="Times New Roman"/>
                <a:cs typeface="Times New Roman"/>
              </a:endParaRPr>
            </a:p>
          </p:txBody>
        </p:sp>
      </p:grpSp>
      <p:sp>
        <p:nvSpPr>
          <p:cNvPr id="11" name="object 11" descr="$PPTXTitle"/>
          <p:cNvSpPr txBox="1">
            <a:spLocks noGrp="1"/>
          </p:cNvSpPr>
          <p:nvPr>
            <p:ph type="title"/>
          </p:nvPr>
        </p:nvSpPr>
        <p:spPr>
          <a:xfrm>
            <a:off x="914400" y="1097280"/>
            <a:ext cx="10360152" cy="1188720"/>
          </a:xfrm>
          <a:prstGeom prst="rect">
            <a:avLst/>
          </a:prstGeom>
        </p:spPr>
        <p:txBody>
          <a:bodyPr vert="horz" wrap="square" lIns="0" tIns="635" rIns="0" bIns="0" rtlCol="0"/>
          <a:lstStyle/>
          <a:p>
            <a:pPr marL="821690" marR="5080" indent="-809625" algn="ctr">
              <a:lnSpc>
                <a:spcPct val="100000"/>
              </a:lnSpc>
              <a:spcBef>
                <a:spcPts val="5"/>
              </a:spcBef>
              <a:spcAft>
                <a:spcPts val="0"/>
              </a:spcAft>
            </a:pPr>
            <a:r>
              <a:rPr sz="6600" b="0" i="0">
                <a:solidFill>
                  <a:srgbClr val="FFFFFF"/>
                </a:solidFill>
                <a:latin typeface="Times New Roman"/>
                <a:cs typeface="Times New Roman"/>
              </a:rPr>
              <a:t>CONTROL STORE</a:t>
            </a:r>
            <a:endParaRPr sz="7200">
              <a:latin typeface="Times New Roman"/>
              <a:cs typeface="Times New Roman"/>
            </a:endParaRPr>
          </a:p>
        </p:txBody>
      </p:sp>
      <p:sp>
        <p:nvSpPr>
          <p:cNvPr id="12" name="object 12"/>
          <p:cNvSpPr txBox="1"/>
          <p:nvPr/>
        </p:nvSpPr>
        <p:spPr>
          <a:xfrm>
            <a:off x="2743200" y="2788920"/>
            <a:ext cx="6702552" cy="914400"/>
          </a:xfrm>
          <a:prstGeom prst="rect">
            <a:avLst/>
          </a:prstGeom>
        </p:spPr>
        <p:txBody>
          <a:bodyPr vert="horz" wrap="square" lIns="0" tIns="12065" rIns="0" bIns="0" rtlCol="0"/>
          <a:lstStyle/>
          <a:p>
            <a:pPr marL="12700" marR="5080" indent="44450" algn="ctr">
              <a:lnSpc>
                <a:spcPct val="100000"/>
              </a:lnSpc>
              <a:spcBef>
                <a:spcPts val="95"/>
              </a:spcBef>
              <a:spcAft>
                <a:spcPts val="200"/>
              </a:spcAft>
            </a:pPr>
            <a:r>
              <a:rPr sz="1200" b="1" i="0">
                <a:solidFill>
                  <a:srgbClr val="FFFFFF"/>
                </a:solidFill>
                <a:latin typeface="Times New Roman"/>
                <a:cs typeface="Times New Roman"/>
              </a:rPr>
              <a:t>Integrantes</a:t>
            </a:r>
            <a:endParaRPr sz="1200" dirty="0">
              <a:latin typeface="Times New Roman"/>
              <a:cs typeface="Times New Roman"/>
            </a:endParaRPr>
          </a:p>
          <a:p>
            <a:pPr algn="ctr">
              <a:lnSpc>
                <a:spcPct val="100000"/>
              </a:lnSpc>
              <a:spcAft>
                <a:spcPts val="200"/>
              </a:spcAft>
            </a:pPr>
            <a:r>
              <a:rPr sz="1200" b="0" i="0">
                <a:solidFill>
                  <a:srgbClr val="FFFFFF"/>
                </a:solidFill>
                <a:latin typeface="Times New Roman"/>
                <a:cs typeface="Times New Roman"/>
              </a:rPr>
              <a:t>Torres Peña Brayan Alexander</a:t>
            </a:r>
          </a:p>
          <a:p>
            <a:pPr algn="ctr">
              <a:lnSpc>
                <a:spcPct val="100000"/>
              </a:lnSpc>
              <a:spcAft>
                <a:spcPts val="200"/>
              </a:spcAft>
            </a:pPr>
            <a:r>
              <a:rPr sz="1200" b="0" i="0">
                <a:solidFill>
                  <a:srgbClr val="FFFFFF"/>
                </a:solidFill>
                <a:latin typeface="Times New Roman"/>
                <a:cs typeface="Times New Roman"/>
              </a:rPr>
              <a:t>Ortegón Acosta David Alejandro</a:t>
            </a:r>
          </a:p>
        </p:txBody>
      </p:sp>
      <p:sp>
        <p:nvSpPr>
          <p:cNvPr id="22" name="object 22"/>
          <p:cNvSpPr txBox="1"/>
          <p:nvPr/>
        </p:nvSpPr>
        <p:spPr>
          <a:xfrm>
            <a:off x="1371600" y="4343400"/>
            <a:ext cx="9445752" cy="1463040"/>
          </a:xfrm>
          <a:prstGeom prst="rect">
            <a:avLst/>
          </a:prstGeom>
        </p:spPr>
        <p:txBody>
          <a:bodyPr vert="horz" wrap="square" lIns="0" tIns="12700" rIns="0" bIns="0" rtlCol="0"/>
          <a:lstStyle/>
          <a:p>
            <a:pPr marL="12700" marR="5080" algn="ctr">
              <a:lnSpc>
                <a:spcPct val="100000"/>
              </a:lnSpc>
              <a:spcBef>
                <a:spcPts val="100"/>
              </a:spcBef>
              <a:spcAft>
                <a:spcPts val="200"/>
              </a:spcAft>
            </a:pPr>
            <a:r>
              <a:rPr sz="1200" b="1" i="0">
                <a:solidFill>
                  <a:srgbClr val="FFFFFF"/>
                </a:solidFill>
                <a:latin typeface="Times New Roman"/>
                <a:cs typeface="Times New Roman"/>
              </a:rPr>
              <a:t>Servicio Nacional de Aprendizaje – SENA</a:t>
            </a:r>
            <a:endParaRPr sz="1200">
              <a:latin typeface="Times New Roman"/>
              <a:cs typeface="Times New Roman"/>
            </a:endParaRPr>
          </a:p>
          <a:p>
            <a:pPr algn="ctr">
              <a:lnSpc>
                <a:spcPct val="100000"/>
              </a:lnSpc>
              <a:spcAft>
                <a:spcPts val="200"/>
              </a:spcAft>
            </a:pPr>
            <a:r>
              <a:rPr sz="1200" b="0" i="0">
                <a:solidFill>
                  <a:srgbClr val="FFFFFF"/>
                </a:solidFill>
                <a:latin typeface="Times New Roman"/>
                <a:cs typeface="Times New Roman"/>
              </a:rPr>
              <a:t>Centro de Electricidad, Electrónica y Telecomunicaciones</a:t>
            </a:r>
          </a:p>
          <a:p>
            <a:pPr algn="ctr">
              <a:lnSpc>
                <a:spcPct val="100000"/>
              </a:lnSpc>
              <a:spcAft>
                <a:spcPts val="200"/>
              </a:spcAft>
            </a:pPr>
            <a:r>
              <a:rPr sz="1200" b="0" i="0">
                <a:solidFill>
                  <a:srgbClr val="FFFFFF"/>
                </a:solidFill>
                <a:latin typeface="Times New Roman"/>
                <a:cs typeface="Times New Roman"/>
              </a:rPr>
              <a:t>Técnico en Programación de Software – TPS · Primer Trimestre</a:t>
            </a:r>
          </a:p>
          <a:p>
            <a:pPr algn="ctr">
              <a:lnSpc>
                <a:spcPct val="100000"/>
              </a:lnSpc>
              <a:spcAft>
                <a:spcPts val="200"/>
              </a:spcAft>
            </a:pPr>
            <a:r>
              <a:rPr sz="1200" b="0" i="0">
                <a:solidFill>
                  <a:srgbClr val="FFFFFF"/>
                </a:solidFill>
                <a:latin typeface="Times New Roman"/>
                <a:cs typeface="Times New Roman"/>
              </a:rPr>
              <a:t>Instructor: Albeiro Ramos</a:t>
            </a:r>
          </a:p>
          <a:p>
            <a:pPr algn="ctr">
              <a:lnSpc>
                <a:spcPct val="100000"/>
              </a:lnSpc>
              <a:spcAft>
                <a:spcPts val="200"/>
              </a:spcAft>
            </a:pPr>
            <a:r>
              <a:rPr sz="1200" b="0" i="0">
                <a:solidFill>
                  <a:srgbClr val="FFFFFF"/>
                </a:solidFill>
                <a:latin typeface="Times New Roman"/>
                <a:cs typeface="Times New Roman"/>
              </a:rPr>
              <a:t>Bogotá, 25 de abril de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52650"/>
            <a:ext cx="12192000" cy="6705600"/>
            <a:chOff x="0" y="152650"/>
            <a:chExt cx="12192000" cy="6705600"/>
          </a:xfrm>
        </p:grpSpPr>
        <p:pic>
          <p:nvPicPr>
            <p:cNvPr id="3" name="object 3"/>
            <p:cNvPicPr/>
            <p:nvPr/>
          </p:nvPicPr>
          <p:blipFill>
            <a:blip r:embed="rId2" cstate="print"/>
            <a:stretch>
              <a:fillRect/>
            </a:stretch>
          </p:blipFill>
          <p:spPr>
            <a:xfrm>
              <a:off x="0" y="152650"/>
              <a:ext cx="12191999" cy="6705343"/>
            </a:xfrm>
            <a:prstGeom prst="rect">
              <a:avLst/>
            </a:prstGeom>
          </p:spPr>
        </p:pic>
        <p:pic>
          <p:nvPicPr>
            <p:cNvPr id="4" name="object 4"/>
            <p:cNvPicPr/>
            <p:nvPr/>
          </p:nvPicPr>
          <p:blipFill>
            <a:blip r:embed="rId3" cstate="print"/>
            <a:stretch>
              <a:fillRect/>
            </a:stretch>
          </p:blipFill>
          <p:spPr>
            <a:xfrm>
              <a:off x="11393424" y="304800"/>
              <a:ext cx="182879" cy="182879"/>
            </a:xfrm>
            <a:prstGeom prst="rect">
              <a:avLst/>
            </a:prstGeom>
          </p:spPr>
        </p:pic>
        <p:pic>
          <p:nvPicPr>
            <p:cNvPr id="5" name="object 5"/>
            <p:cNvPicPr/>
            <p:nvPr/>
          </p:nvPicPr>
          <p:blipFill>
            <a:blip r:embed="rId4" cstate="print"/>
            <a:stretch>
              <a:fillRect/>
            </a:stretch>
          </p:blipFill>
          <p:spPr>
            <a:xfrm>
              <a:off x="11098656" y="516637"/>
              <a:ext cx="170688" cy="126236"/>
            </a:xfrm>
            <a:prstGeom prst="rect">
              <a:avLst/>
            </a:prstGeom>
          </p:spPr>
        </p:pic>
        <p:sp>
          <p:nvSpPr>
            <p:cNvPr id="6" name="object 6"/>
            <p:cNvSpPr/>
            <p:nvPr/>
          </p:nvSpPr>
          <p:spPr>
            <a:xfrm>
              <a:off x="11058144" y="518159"/>
              <a:ext cx="645160" cy="615315"/>
            </a:xfrm>
            <a:custGeom>
              <a:avLst/>
              <a:gdLst/>
              <a:ahLst/>
              <a:cxnLst/>
              <a:rect l="l" t="t" r="r" b="b"/>
              <a:pathLst>
                <a:path w="645159" h="615315">
                  <a:moveTo>
                    <a:pt x="382143" y="96520"/>
                  </a:moveTo>
                  <a:lnTo>
                    <a:pt x="288163" y="96520"/>
                  </a:lnTo>
                  <a:lnTo>
                    <a:pt x="288163" y="72390"/>
                  </a:lnTo>
                  <a:lnTo>
                    <a:pt x="371602" y="72390"/>
                  </a:lnTo>
                  <a:lnTo>
                    <a:pt x="371602" y="46990"/>
                  </a:lnTo>
                  <a:lnTo>
                    <a:pt x="288163" y="46990"/>
                  </a:lnTo>
                  <a:lnTo>
                    <a:pt x="288163" y="26670"/>
                  </a:lnTo>
                  <a:lnTo>
                    <a:pt x="378587" y="26670"/>
                  </a:lnTo>
                  <a:lnTo>
                    <a:pt x="378587" y="0"/>
                  </a:lnTo>
                  <a:lnTo>
                    <a:pt x="233426" y="0"/>
                  </a:lnTo>
                  <a:lnTo>
                    <a:pt x="233426" y="26670"/>
                  </a:lnTo>
                  <a:lnTo>
                    <a:pt x="233426" y="46990"/>
                  </a:lnTo>
                  <a:lnTo>
                    <a:pt x="233426" y="72390"/>
                  </a:lnTo>
                  <a:lnTo>
                    <a:pt x="233426" y="96520"/>
                  </a:lnTo>
                  <a:lnTo>
                    <a:pt x="233426" y="123190"/>
                  </a:lnTo>
                  <a:lnTo>
                    <a:pt x="382143" y="123190"/>
                  </a:lnTo>
                  <a:lnTo>
                    <a:pt x="382143" y="96520"/>
                  </a:lnTo>
                  <a:close/>
                </a:path>
                <a:path w="645159" h="615315">
                  <a:moveTo>
                    <a:pt x="390271" y="153416"/>
                  </a:moveTo>
                  <a:lnTo>
                    <a:pt x="0" y="153416"/>
                  </a:lnTo>
                  <a:lnTo>
                    <a:pt x="0" y="217551"/>
                  </a:lnTo>
                  <a:lnTo>
                    <a:pt x="242316" y="217551"/>
                  </a:lnTo>
                  <a:lnTo>
                    <a:pt x="253111" y="220599"/>
                  </a:lnTo>
                  <a:lnTo>
                    <a:pt x="260604" y="228219"/>
                  </a:lnTo>
                  <a:lnTo>
                    <a:pt x="263398" y="238506"/>
                  </a:lnTo>
                  <a:lnTo>
                    <a:pt x="260604" y="249301"/>
                  </a:lnTo>
                  <a:lnTo>
                    <a:pt x="112268" y="506984"/>
                  </a:lnTo>
                  <a:lnTo>
                    <a:pt x="160909" y="552831"/>
                  </a:lnTo>
                  <a:lnTo>
                    <a:pt x="390271" y="153416"/>
                  </a:lnTo>
                  <a:close/>
                </a:path>
                <a:path w="645159" h="615315">
                  <a:moveTo>
                    <a:pt x="644779" y="584835"/>
                  </a:moveTo>
                  <a:lnTo>
                    <a:pt x="424688" y="220472"/>
                  </a:lnTo>
                  <a:lnTo>
                    <a:pt x="424307" y="221615"/>
                  </a:lnTo>
                  <a:lnTo>
                    <a:pt x="209931" y="586867"/>
                  </a:lnTo>
                  <a:lnTo>
                    <a:pt x="267081" y="615315"/>
                  </a:lnTo>
                  <a:lnTo>
                    <a:pt x="407670" y="377444"/>
                  </a:lnTo>
                  <a:lnTo>
                    <a:pt x="415925" y="369443"/>
                  </a:lnTo>
                  <a:lnTo>
                    <a:pt x="426339" y="366776"/>
                  </a:lnTo>
                  <a:lnTo>
                    <a:pt x="436626" y="369443"/>
                  </a:lnTo>
                  <a:lnTo>
                    <a:pt x="444627" y="377444"/>
                  </a:lnTo>
                  <a:lnTo>
                    <a:pt x="586486" y="615315"/>
                  </a:lnTo>
                  <a:lnTo>
                    <a:pt x="644779" y="584835"/>
                  </a:lnTo>
                  <a:close/>
                </a:path>
              </a:pathLst>
            </a:custGeom>
            <a:solidFill>
              <a:srgbClr val="39A900"/>
            </a:solidFill>
          </p:spPr>
          <p:txBody>
            <a:bodyPr wrap="square" lIns="0" tIns="0" rIns="0" bIns="0" rtlCol="0"/>
            <a:lstStyle/>
            <a:p>
              <a:endParaRPr sz="1200">
                <a:latin typeface="Times New Roman"/>
                <a:cs typeface="Times New Roman"/>
              </a:endParaRPr>
            </a:p>
          </p:txBody>
        </p:sp>
        <p:pic>
          <p:nvPicPr>
            <p:cNvPr id="7" name="object 7"/>
            <p:cNvPicPr/>
            <p:nvPr/>
          </p:nvPicPr>
          <p:blipFill>
            <a:blip r:embed="rId5" cstate="print"/>
            <a:stretch>
              <a:fillRect/>
            </a:stretch>
          </p:blipFill>
          <p:spPr>
            <a:xfrm>
              <a:off x="11463019" y="518668"/>
              <a:ext cx="423545" cy="122174"/>
            </a:xfrm>
            <a:prstGeom prst="rect">
              <a:avLst/>
            </a:prstGeom>
          </p:spPr>
        </p:pic>
        <p:sp>
          <p:nvSpPr>
            <p:cNvPr id="8" name="object 8"/>
            <p:cNvSpPr/>
            <p:nvPr/>
          </p:nvSpPr>
          <p:spPr>
            <a:xfrm>
              <a:off x="11517756" y="671576"/>
              <a:ext cx="390525" cy="399415"/>
            </a:xfrm>
            <a:custGeom>
              <a:avLst/>
              <a:gdLst/>
              <a:ahLst/>
              <a:cxnLst/>
              <a:rect l="l" t="t" r="r" b="b"/>
              <a:pathLst>
                <a:path w="390525" h="399415">
                  <a:moveTo>
                    <a:pt x="390271" y="0"/>
                  </a:moveTo>
                  <a:lnTo>
                    <a:pt x="0" y="0"/>
                  </a:lnTo>
                  <a:lnTo>
                    <a:pt x="228981" y="399414"/>
                  </a:lnTo>
                  <a:lnTo>
                    <a:pt x="277622" y="353568"/>
                  </a:lnTo>
                  <a:lnTo>
                    <a:pt x="129667" y="95885"/>
                  </a:lnTo>
                  <a:lnTo>
                    <a:pt x="126746" y="85089"/>
                  </a:lnTo>
                  <a:lnTo>
                    <a:pt x="129667" y="74802"/>
                  </a:lnTo>
                  <a:lnTo>
                    <a:pt x="137033" y="67183"/>
                  </a:lnTo>
                  <a:lnTo>
                    <a:pt x="147954" y="64135"/>
                  </a:lnTo>
                  <a:lnTo>
                    <a:pt x="390271" y="64135"/>
                  </a:lnTo>
                  <a:lnTo>
                    <a:pt x="390271" y="0"/>
                  </a:lnTo>
                  <a:close/>
                </a:path>
              </a:pathLst>
            </a:custGeom>
            <a:solidFill>
              <a:srgbClr val="39A900"/>
            </a:solidFill>
          </p:spPr>
          <p:txBody>
            <a:bodyPr wrap="square" lIns="0" tIns="0" rIns="0" bIns="0" rtlCol="0"/>
            <a:lstStyle/>
            <a:p>
              <a:endParaRPr sz="1200">
                <a:latin typeface="Times New Roman"/>
                <a:cs typeface="Times New Roman"/>
              </a:endParaRPr>
            </a:p>
          </p:txBody>
        </p:sp>
      </p:grpSp>
      <p:sp>
        <p:nvSpPr>
          <p:cNvPr id="9" name="object 9" descr="$PPTXTitle"/>
          <p:cNvSpPr txBox="1">
            <a:spLocks noGrp="1"/>
          </p:cNvSpPr>
          <p:nvPr>
            <p:ph type="title"/>
          </p:nvPr>
        </p:nvSpPr>
        <p:spPr>
          <a:xfrm>
            <a:off x="633171" y="1300683"/>
            <a:ext cx="5486400" cy="574675"/>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38AA00"/>
                </a:solidFill>
                <a:latin typeface="Times New Roman"/>
                <a:cs typeface="Times New Roman"/>
              </a:rPr>
              <a:t>Introducción</a:t>
            </a:r>
            <a:endParaRPr sz="3600">
              <a:latin typeface="Times New Roman"/>
              <a:cs typeface="Times New Roman"/>
            </a:endParaRPr>
          </a:p>
        </p:txBody>
      </p:sp>
      <p:sp>
        <p:nvSpPr>
          <p:cNvPr id="10" name="object 10"/>
          <p:cNvSpPr txBox="1"/>
          <p:nvPr/>
        </p:nvSpPr>
        <p:spPr>
          <a:xfrm>
            <a:off x="594461" y="2169033"/>
            <a:ext cx="10583545" cy="2601595"/>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a:cs typeface="Times New Roman"/>
              </a:rPr>
              <a:t>El</a:t>
            </a:r>
            <a:r>
              <a:rPr sz="1200" spc="-35" dirty="0">
                <a:latin typeface="Times New Roman"/>
                <a:cs typeface="Times New Roman"/>
              </a:rPr>
              <a:t> </a:t>
            </a:r>
            <a:r>
              <a:rPr sz="1200" dirty="0">
                <a:latin typeface="Times New Roman"/>
                <a:cs typeface="Times New Roman"/>
              </a:rPr>
              <a:t>Autoservicio</a:t>
            </a:r>
            <a:r>
              <a:rPr sz="1200" spc="-35" dirty="0">
                <a:latin typeface="Times New Roman"/>
                <a:cs typeface="Times New Roman"/>
              </a:rPr>
              <a:t> </a:t>
            </a:r>
            <a:r>
              <a:rPr sz="1200" dirty="0">
                <a:latin typeface="Times New Roman"/>
                <a:cs typeface="Times New Roman"/>
              </a:rPr>
              <a:t>Ayuelal</a:t>
            </a:r>
            <a:r>
              <a:rPr sz="1200" spc="-35" dirty="0">
                <a:latin typeface="Times New Roman"/>
                <a:cs typeface="Times New Roman"/>
              </a:rPr>
              <a:t> </a:t>
            </a:r>
            <a:r>
              <a:rPr sz="1200" dirty="0">
                <a:latin typeface="Times New Roman"/>
                <a:cs typeface="Times New Roman"/>
              </a:rPr>
              <a:t>es</a:t>
            </a:r>
            <a:r>
              <a:rPr sz="1200" spc="-40" dirty="0">
                <a:latin typeface="Times New Roman"/>
                <a:cs typeface="Times New Roman"/>
              </a:rPr>
              <a:t> </a:t>
            </a:r>
            <a:r>
              <a:rPr sz="1200" dirty="0">
                <a:latin typeface="Times New Roman"/>
                <a:cs typeface="Times New Roman"/>
              </a:rPr>
              <a:t>una</a:t>
            </a:r>
            <a:r>
              <a:rPr sz="1200" spc="-25" dirty="0">
                <a:latin typeface="Times New Roman"/>
                <a:cs typeface="Times New Roman"/>
              </a:rPr>
              <a:t> </a:t>
            </a:r>
            <a:r>
              <a:rPr sz="1200" dirty="0">
                <a:latin typeface="Times New Roman"/>
                <a:cs typeface="Times New Roman"/>
              </a:rPr>
              <a:t>tienda</a:t>
            </a:r>
            <a:r>
              <a:rPr sz="1200" spc="-15" dirty="0">
                <a:latin typeface="Times New Roman"/>
                <a:cs typeface="Times New Roman"/>
              </a:rPr>
              <a:t> </a:t>
            </a:r>
            <a:r>
              <a:rPr sz="1200" dirty="0">
                <a:latin typeface="Times New Roman"/>
                <a:cs typeface="Times New Roman"/>
              </a:rPr>
              <a:t>ubicada</a:t>
            </a:r>
            <a:r>
              <a:rPr sz="1200" spc="-10" dirty="0">
                <a:latin typeface="Times New Roman"/>
                <a:cs typeface="Times New Roman"/>
              </a:rPr>
              <a:t> </a:t>
            </a:r>
            <a:r>
              <a:rPr sz="1200" dirty="0">
                <a:latin typeface="Times New Roman"/>
                <a:cs typeface="Times New Roman"/>
              </a:rPr>
              <a:t>en</a:t>
            </a:r>
            <a:r>
              <a:rPr sz="1200" spc="-35" dirty="0">
                <a:latin typeface="Times New Roman"/>
                <a:cs typeface="Times New Roman"/>
              </a:rPr>
              <a:t> </a:t>
            </a:r>
            <a:r>
              <a:rPr sz="1200" dirty="0">
                <a:latin typeface="Times New Roman"/>
                <a:cs typeface="Times New Roman"/>
              </a:rPr>
              <a:t>el</a:t>
            </a:r>
            <a:r>
              <a:rPr sz="1200" spc="-20" dirty="0">
                <a:latin typeface="Times New Roman"/>
                <a:cs typeface="Times New Roman"/>
              </a:rPr>
              <a:t> </a:t>
            </a:r>
            <a:r>
              <a:rPr sz="1200" dirty="0">
                <a:latin typeface="Times New Roman"/>
                <a:cs typeface="Times New Roman"/>
              </a:rPr>
              <a:t>barrio</a:t>
            </a:r>
            <a:r>
              <a:rPr sz="1200" spc="-25" dirty="0">
                <a:latin typeface="Times New Roman"/>
                <a:cs typeface="Times New Roman"/>
              </a:rPr>
              <a:t> </a:t>
            </a:r>
            <a:r>
              <a:rPr sz="1200" dirty="0">
                <a:latin typeface="Times New Roman"/>
                <a:cs typeface="Times New Roman"/>
              </a:rPr>
              <a:t>Las</a:t>
            </a:r>
            <a:r>
              <a:rPr sz="1200" spc="-35" dirty="0">
                <a:latin typeface="Times New Roman"/>
                <a:cs typeface="Times New Roman"/>
              </a:rPr>
              <a:t> </a:t>
            </a:r>
            <a:r>
              <a:rPr sz="1200" dirty="0">
                <a:latin typeface="Times New Roman"/>
                <a:cs typeface="Times New Roman"/>
              </a:rPr>
              <a:t>Margaritas</a:t>
            </a:r>
            <a:r>
              <a:rPr sz="1200" spc="-35" dirty="0">
                <a:latin typeface="Times New Roman"/>
                <a:cs typeface="Times New Roman"/>
              </a:rPr>
              <a:t> </a:t>
            </a:r>
            <a:r>
              <a:rPr sz="1200" dirty="0">
                <a:latin typeface="Times New Roman"/>
                <a:cs typeface="Times New Roman"/>
              </a:rPr>
              <a:t>de</a:t>
            </a:r>
            <a:r>
              <a:rPr sz="1200" spc="-30" dirty="0">
                <a:latin typeface="Times New Roman"/>
                <a:cs typeface="Times New Roman"/>
              </a:rPr>
              <a:t> </a:t>
            </a:r>
            <a:r>
              <a:rPr sz="1200" dirty="0">
                <a:latin typeface="Times New Roman"/>
                <a:cs typeface="Times New Roman"/>
              </a:rPr>
              <a:t>Bogotá,</a:t>
            </a:r>
            <a:r>
              <a:rPr sz="1200" spc="-30" dirty="0">
                <a:latin typeface="Times New Roman"/>
                <a:cs typeface="Times New Roman"/>
              </a:rPr>
              <a:t> </a:t>
            </a:r>
            <a:r>
              <a:rPr sz="1200" dirty="0">
                <a:latin typeface="Times New Roman"/>
                <a:cs typeface="Times New Roman"/>
              </a:rPr>
              <a:t>con</a:t>
            </a:r>
            <a:r>
              <a:rPr sz="1200" spc="-25" dirty="0">
                <a:latin typeface="Times New Roman"/>
                <a:cs typeface="Times New Roman"/>
              </a:rPr>
              <a:t> </a:t>
            </a:r>
            <a:r>
              <a:rPr sz="1200" dirty="0">
                <a:latin typeface="Times New Roman"/>
                <a:cs typeface="Times New Roman"/>
              </a:rPr>
              <a:t>cinco</a:t>
            </a:r>
            <a:r>
              <a:rPr sz="1200" spc="-15" dirty="0">
                <a:latin typeface="Times New Roman"/>
                <a:cs typeface="Times New Roman"/>
              </a:rPr>
              <a:t> </a:t>
            </a:r>
            <a:r>
              <a:rPr sz="1200" dirty="0">
                <a:latin typeface="Times New Roman"/>
                <a:cs typeface="Times New Roman"/>
              </a:rPr>
              <a:t>años</a:t>
            </a:r>
            <a:r>
              <a:rPr sz="1200" spc="-30" dirty="0">
                <a:latin typeface="Times New Roman"/>
                <a:cs typeface="Times New Roman"/>
              </a:rPr>
              <a:t> </a:t>
            </a:r>
            <a:r>
              <a:rPr sz="1200" dirty="0">
                <a:latin typeface="Times New Roman"/>
                <a:cs typeface="Times New Roman"/>
              </a:rPr>
              <a:t>de</a:t>
            </a:r>
            <a:r>
              <a:rPr sz="1200" spc="-20" dirty="0">
                <a:latin typeface="Times New Roman"/>
                <a:cs typeface="Times New Roman"/>
              </a:rPr>
              <a:t> </a:t>
            </a:r>
            <a:r>
              <a:rPr sz="1200" spc="-10" dirty="0">
                <a:latin typeface="Times New Roman"/>
                <a:cs typeface="Times New Roman"/>
              </a:rPr>
              <a:t>trayectoria</a:t>
            </a:r>
            <a:endParaRPr sz="1200">
              <a:latin typeface="Times New Roman"/>
              <a:cs typeface="Times New Roman"/>
            </a:endParaRPr>
          </a:p>
          <a:p>
            <a:pPr marL="12700">
              <a:lnSpc>
                <a:spcPct val="100000"/>
              </a:lnSpc>
            </a:pPr>
            <a:r>
              <a:rPr sz="1200" dirty="0">
                <a:latin typeface="Times New Roman"/>
                <a:cs typeface="Times New Roman"/>
              </a:rPr>
              <a:t>ofreciendo</a:t>
            </a:r>
            <a:r>
              <a:rPr sz="1200" spc="-15" dirty="0">
                <a:latin typeface="Times New Roman"/>
                <a:cs typeface="Times New Roman"/>
              </a:rPr>
              <a:t> </a:t>
            </a:r>
            <a:r>
              <a:rPr sz="1200" dirty="0">
                <a:latin typeface="Times New Roman"/>
                <a:cs typeface="Times New Roman"/>
              </a:rPr>
              <a:t>productos</a:t>
            </a:r>
            <a:r>
              <a:rPr sz="1200" spc="-20" dirty="0">
                <a:latin typeface="Times New Roman"/>
                <a:cs typeface="Times New Roman"/>
              </a:rPr>
              <a:t> </a:t>
            </a:r>
            <a:r>
              <a:rPr sz="1200" dirty="0">
                <a:latin typeface="Times New Roman"/>
                <a:cs typeface="Times New Roman"/>
              </a:rPr>
              <a:t>de</a:t>
            </a:r>
            <a:r>
              <a:rPr sz="1200" spc="-15" dirty="0">
                <a:latin typeface="Times New Roman"/>
                <a:cs typeface="Times New Roman"/>
              </a:rPr>
              <a:t> </a:t>
            </a:r>
            <a:r>
              <a:rPr sz="1200" dirty="0">
                <a:latin typeface="Times New Roman"/>
                <a:cs typeface="Times New Roman"/>
              </a:rPr>
              <a:t>canasta</a:t>
            </a:r>
            <a:r>
              <a:rPr sz="1200" spc="-30" dirty="0">
                <a:latin typeface="Times New Roman"/>
                <a:cs typeface="Times New Roman"/>
              </a:rPr>
              <a:t> </a:t>
            </a:r>
            <a:r>
              <a:rPr sz="1200" dirty="0">
                <a:latin typeface="Times New Roman"/>
                <a:cs typeface="Times New Roman"/>
              </a:rPr>
              <a:t>familiar</a:t>
            </a:r>
            <a:r>
              <a:rPr sz="1200" spc="-30" dirty="0">
                <a:latin typeface="Times New Roman"/>
                <a:cs typeface="Times New Roman"/>
              </a:rPr>
              <a:t> </a:t>
            </a:r>
            <a:r>
              <a:rPr sz="1200" dirty="0">
                <a:latin typeface="Times New Roman"/>
                <a:cs typeface="Times New Roman"/>
              </a:rPr>
              <a:t>a</a:t>
            </a:r>
            <a:r>
              <a:rPr sz="1200" spc="-30" dirty="0">
                <a:latin typeface="Times New Roman"/>
                <a:cs typeface="Times New Roman"/>
              </a:rPr>
              <a:t> </a:t>
            </a:r>
            <a:r>
              <a:rPr sz="1200" dirty="0">
                <a:latin typeface="Times New Roman"/>
                <a:cs typeface="Times New Roman"/>
              </a:rPr>
              <a:t>su</a:t>
            </a:r>
            <a:r>
              <a:rPr sz="1200" spc="-25" dirty="0">
                <a:latin typeface="Times New Roman"/>
                <a:cs typeface="Times New Roman"/>
              </a:rPr>
              <a:t> </a:t>
            </a:r>
            <a:r>
              <a:rPr sz="1200" spc="-10" dirty="0">
                <a:latin typeface="Times New Roman"/>
                <a:cs typeface="Times New Roman"/>
              </a:rPr>
              <a:t>comunidad.</a:t>
            </a:r>
            <a:endParaRPr sz="1200">
              <a:latin typeface="Times New Roman"/>
              <a:cs typeface="Times New Roman"/>
            </a:endParaRPr>
          </a:p>
          <a:p>
            <a:pPr>
              <a:lnSpc>
                <a:spcPct val="100000"/>
              </a:lnSpc>
              <a:spcBef>
                <a:spcPts val="969"/>
              </a:spcBef>
            </a:pPr>
            <a:endParaRPr sz="1200">
              <a:latin typeface="Times New Roman"/>
              <a:cs typeface="Times New Roman"/>
            </a:endParaRPr>
          </a:p>
          <a:p>
            <a:pPr marL="12700" marR="273050">
              <a:lnSpc>
                <a:spcPct val="100000"/>
              </a:lnSpc>
            </a:pPr>
            <a:r>
              <a:rPr sz="1200" dirty="0">
                <a:latin typeface="Times New Roman"/>
                <a:cs typeface="Times New Roman"/>
              </a:rPr>
              <a:t>A</a:t>
            </a:r>
            <a:r>
              <a:rPr sz="1200" spc="-35" dirty="0">
                <a:latin typeface="Times New Roman"/>
                <a:cs typeface="Times New Roman"/>
              </a:rPr>
              <a:t> </a:t>
            </a:r>
            <a:r>
              <a:rPr sz="1200" dirty="0">
                <a:latin typeface="Times New Roman"/>
                <a:cs typeface="Times New Roman"/>
              </a:rPr>
              <a:t>medida</a:t>
            </a:r>
            <a:r>
              <a:rPr sz="1200" spc="-20" dirty="0">
                <a:latin typeface="Times New Roman"/>
                <a:cs typeface="Times New Roman"/>
              </a:rPr>
              <a:t> </a:t>
            </a:r>
            <a:r>
              <a:rPr sz="1200" dirty="0">
                <a:latin typeface="Times New Roman"/>
                <a:cs typeface="Times New Roman"/>
              </a:rPr>
              <a:t>que</a:t>
            </a:r>
            <a:r>
              <a:rPr sz="1200" spc="-30" dirty="0">
                <a:latin typeface="Times New Roman"/>
                <a:cs typeface="Times New Roman"/>
              </a:rPr>
              <a:t> </a:t>
            </a:r>
            <a:r>
              <a:rPr sz="1200" dirty="0">
                <a:latin typeface="Times New Roman"/>
                <a:cs typeface="Times New Roman"/>
              </a:rPr>
              <a:t>el</a:t>
            </a:r>
            <a:r>
              <a:rPr sz="1200" spc="-25" dirty="0">
                <a:latin typeface="Times New Roman"/>
                <a:cs typeface="Times New Roman"/>
              </a:rPr>
              <a:t> </a:t>
            </a:r>
            <a:r>
              <a:rPr sz="1200" dirty="0">
                <a:latin typeface="Times New Roman"/>
                <a:cs typeface="Times New Roman"/>
              </a:rPr>
              <a:t>negocio</a:t>
            </a:r>
            <a:r>
              <a:rPr sz="1200" spc="-10" dirty="0">
                <a:latin typeface="Times New Roman"/>
                <a:cs typeface="Times New Roman"/>
              </a:rPr>
              <a:t> </a:t>
            </a:r>
            <a:r>
              <a:rPr sz="1200" dirty="0">
                <a:latin typeface="Times New Roman"/>
                <a:cs typeface="Times New Roman"/>
              </a:rPr>
              <a:t>creció,</a:t>
            </a:r>
            <a:r>
              <a:rPr sz="1200" spc="-20" dirty="0">
                <a:latin typeface="Times New Roman"/>
                <a:cs typeface="Times New Roman"/>
              </a:rPr>
              <a:t> </a:t>
            </a:r>
            <a:r>
              <a:rPr sz="1200" dirty="0">
                <a:latin typeface="Times New Roman"/>
                <a:cs typeface="Times New Roman"/>
              </a:rPr>
              <a:t>gestionar</a:t>
            </a:r>
            <a:r>
              <a:rPr sz="1200" spc="-30" dirty="0">
                <a:latin typeface="Times New Roman"/>
                <a:cs typeface="Times New Roman"/>
              </a:rPr>
              <a:t> </a:t>
            </a:r>
            <a:r>
              <a:rPr sz="1200" dirty="0">
                <a:latin typeface="Times New Roman"/>
                <a:cs typeface="Times New Roman"/>
              </a:rPr>
              <a:t>al</a:t>
            </a:r>
            <a:r>
              <a:rPr sz="1200" spc="-25" dirty="0">
                <a:latin typeface="Times New Roman"/>
                <a:cs typeface="Times New Roman"/>
              </a:rPr>
              <a:t> </a:t>
            </a:r>
            <a:r>
              <a:rPr sz="1200" dirty="0">
                <a:latin typeface="Times New Roman"/>
                <a:cs typeface="Times New Roman"/>
              </a:rPr>
              <a:t>mismo</a:t>
            </a:r>
            <a:r>
              <a:rPr sz="1200" spc="-35" dirty="0">
                <a:latin typeface="Times New Roman"/>
                <a:cs typeface="Times New Roman"/>
              </a:rPr>
              <a:t> </a:t>
            </a:r>
            <a:r>
              <a:rPr sz="1200" dirty="0">
                <a:latin typeface="Times New Roman"/>
                <a:cs typeface="Times New Roman"/>
              </a:rPr>
              <a:t>tiempo</a:t>
            </a:r>
            <a:r>
              <a:rPr sz="1200" spc="-20" dirty="0">
                <a:latin typeface="Times New Roman"/>
                <a:cs typeface="Times New Roman"/>
              </a:rPr>
              <a:t> </a:t>
            </a:r>
            <a:r>
              <a:rPr sz="1200" dirty="0">
                <a:latin typeface="Times New Roman"/>
                <a:cs typeface="Times New Roman"/>
              </a:rPr>
              <a:t>el</a:t>
            </a:r>
            <a:r>
              <a:rPr sz="1200" spc="-25" dirty="0">
                <a:latin typeface="Times New Roman"/>
                <a:cs typeface="Times New Roman"/>
              </a:rPr>
              <a:t> </a:t>
            </a:r>
            <a:r>
              <a:rPr sz="1200" dirty="0">
                <a:latin typeface="Times New Roman"/>
                <a:cs typeface="Times New Roman"/>
              </a:rPr>
              <a:t>inventario,</a:t>
            </a:r>
            <a:r>
              <a:rPr sz="1200" spc="-30" dirty="0">
                <a:latin typeface="Times New Roman"/>
                <a:cs typeface="Times New Roman"/>
              </a:rPr>
              <a:t> </a:t>
            </a:r>
            <a:r>
              <a:rPr sz="1200" dirty="0">
                <a:latin typeface="Times New Roman"/>
                <a:cs typeface="Times New Roman"/>
              </a:rPr>
              <a:t>las</a:t>
            </a:r>
            <a:r>
              <a:rPr sz="1200" spc="-35" dirty="0">
                <a:latin typeface="Times New Roman"/>
                <a:cs typeface="Times New Roman"/>
              </a:rPr>
              <a:t> </a:t>
            </a:r>
            <a:r>
              <a:rPr sz="1200" dirty="0">
                <a:latin typeface="Times New Roman"/>
                <a:cs typeface="Times New Roman"/>
              </a:rPr>
              <a:t>ventas,</a:t>
            </a:r>
            <a:r>
              <a:rPr sz="1200" spc="-35" dirty="0">
                <a:latin typeface="Times New Roman"/>
                <a:cs typeface="Times New Roman"/>
              </a:rPr>
              <a:t> </a:t>
            </a:r>
            <a:r>
              <a:rPr sz="1200" dirty="0">
                <a:latin typeface="Times New Roman"/>
                <a:cs typeface="Times New Roman"/>
              </a:rPr>
              <a:t>los</a:t>
            </a:r>
            <a:r>
              <a:rPr sz="1200" spc="-15" dirty="0">
                <a:latin typeface="Times New Roman"/>
                <a:cs typeface="Times New Roman"/>
              </a:rPr>
              <a:t> </a:t>
            </a:r>
            <a:r>
              <a:rPr sz="1200" dirty="0">
                <a:latin typeface="Times New Roman"/>
                <a:cs typeface="Times New Roman"/>
              </a:rPr>
              <a:t>domicilios</a:t>
            </a:r>
            <a:r>
              <a:rPr sz="1200" spc="-5" dirty="0">
                <a:latin typeface="Times New Roman"/>
                <a:cs typeface="Times New Roman"/>
              </a:rPr>
              <a:t> </a:t>
            </a:r>
            <a:r>
              <a:rPr sz="1200" dirty="0">
                <a:latin typeface="Times New Roman"/>
                <a:cs typeface="Times New Roman"/>
              </a:rPr>
              <a:t>y</a:t>
            </a:r>
            <a:r>
              <a:rPr sz="1200" spc="-30" dirty="0">
                <a:latin typeface="Times New Roman"/>
                <a:cs typeface="Times New Roman"/>
              </a:rPr>
              <a:t> </a:t>
            </a:r>
            <a:r>
              <a:rPr sz="1200" dirty="0">
                <a:latin typeface="Times New Roman"/>
                <a:cs typeface="Times New Roman"/>
              </a:rPr>
              <a:t>la</a:t>
            </a:r>
            <a:r>
              <a:rPr sz="1200" spc="-35" dirty="0">
                <a:latin typeface="Times New Roman"/>
                <a:cs typeface="Times New Roman"/>
              </a:rPr>
              <a:t> </a:t>
            </a:r>
            <a:r>
              <a:rPr sz="1200" dirty="0">
                <a:latin typeface="Times New Roman"/>
                <a:cs typeface="Times New Roman"/>
              </a:rPr>
              <a:t>caja</a:t>
            </a:r>
            <a:r>
              <a:rPr sz="1200" spc="-30" dirty="0">
                <a:latin typeface="Times New Roman"/>
                <a:cs typeface="Times New Roman"/>
              </a:rPr>
              <a:t> </a:t>
            </a:r>
            <a:r>
              <a:rPr sz="1200" spc="-25" dirty="0">
                <a:latin typeface="Times New Roman"/>
                <a:cs typeface="Times New Roman"/>
              </a:rPr>
              <a:t>con </a:t>
            </a:r>
            <a:r>
              <a:rPr sz="1200" dirty="0">
                <a:latin typeface="Times New Roman"/>
                <a:cs typeface="Times New Roman"/>
              </a:rPr>
              <a:t>métodos</a:t>
            </a:r>
            <a:r>
              <a:rPr sz="1200" spc="-40" dirty="0">
                <a:latin typeface="Times New Roman"/>
                <a:cs typeface="Times New Roman"/>
              </a:rPr>
              <a:t> </a:t>
            </a:r>
            <a:r>
              <a:rPr sz="1200" dirty="0">
                <a:latin typeface="Times New Roman"/>
                <a:cs typeface="Times New Roman"/>
              </a:rPr>
              <a:t>manuales</a:t>
            </a:r>
            <a:r>
              <a:rPr sz="1200" spc="-40" dirty="0">
                <a:latin typeface="Times New Roman"/>
                <a:cs typeface="Times New Roman"/>
              </a:rPr>
              <a:t> </a:t>
            </a:r>
            <a:r>
              <a:rPr sz="1200" dirty="0">
                <a:latin typeface="Times New Roman"/>
                <a:cs typeface="Times New Roman"/>
              </a:rPr>
              <a:t>se</a:t>
            </a:r>
            <a:r>
              <a:rPr sz="1200" spc="-45" dirty="0">
                <a:latin typeface="Times New Roman"/>
                <a:cs typeface="Times New Roman"/>
              </a:rPr>
              <a:t> </a:t>
            </a:r>
            <a:r>
              <a:rPr sz="1200" dirty="0">
                <a:latin typeface="Times New Roman"/>
                <a:cs typeface="Times New Roman"/>
              </a:rPr>
              <a:t>convirtió</a:t>
            </a:r>
            <a:r>
              <a:rPr sz="1200" spc="-25" dirty="0">
                <a:latin typeface="Times New Roman"/>
                <a:cs typeface="Times New Roman"/>
              </a:rPr>
              <a:t> </a:t>
            </a:r>
            <a:r>
              <a:rPr sz="1200" dirty="0">
                <a:latin typeface="Times New Roman"/>
                <a:cs typeface="Times New Roman"/>
              </a:rPr>
              <a:t>en</a:t>
            </a:r>
            <a:r>
              <a:rPr sz="1200" spc="-40" dirty="0">
                <a:latin typeface="Times New Roman"/>
                <a:cs typeface="Times New Roman"/>
              </a:rPr>
              <a:t> </a:t>
            </a:r>
            <a:r>
              <a:rPr sz="1200" dirty="0">
                <a:latin typeface="Times New Roman"/>
                <a:cs typeface="Times New Roman"/>
              </a:rPr>
              <a:t>un</a:t>
            </a:r>
            <a:r>
              <a:rPr sz="1200" spc="-30" dirty="0">
                <a:latin typeface="Times New Roman"/>
                <a:cs typeface="Times New Roman"/>
              </a:rPr>
              <a:t> </a:t>
            </a:r>
            <a:r>
              <a:rPr sz="1200" dirty="0">
                <a:latin typeface="Times New Roman"/>
                <a:cs typeface="Times New Roman"/>
              </a:rPr>
              <a:t>reto</a:t>
            </a:r>
            <a:r>
              <a:rPr sz="1200" spc="-40" dirty="0">
                <a:latin typeface="Times New Roman"/>
                <a:cs typeface="Times New Roman"/>
              </a:rPr>
              <a:t> </a:t>
            </a:r>
            <a:r>
              <a:rPr sz="1200" dirty="0">
                <a:latin typeface="Times New Roman"/>
                <a:cs typeface="Times New Roman"/>
              </a:rPr>
              <a:t>que</a:t>
            </a:r>
            <a:r>
              <a:rPr sz="1200" spc="-40" dirty="0">
                <a:latin typeface="Times New Roman"/>
                <a:cs typeface="Times New Roman"/>
              </a:rPr>
              <a:t> </a:t>
            </a:r>
            <a:r>
              <a:rPr sz="1200" dirty="0">
                <a:latin typeface="Times New Roman"/>
                <a:cs typeface="Times New Roman"/>
              </a:rPr>
              <a:t>genera</a:t>
            </a:r>
            <a:r>
              <a:rPr sz="1200" spc="-35" dirty="0">
                <a:latin typeface="Times New Roman"/>
                <a:cs typeface="Times New Roman"/>
              </a:rPr>
              <a:t> </a:t>
            </a:r>
            <a:r>
              <a:rPr sz="1200" dirty="0">
                <a:latin typeface="Times New Roman"/>
                <a:cs typeface="Times New Roman"/>
              </a:rPr>
              <a:t>errores,</a:t>
            </a:r>
            <a:r>
              <a:rPr sz="1200" spc="-45" dirty="0">
                <a:latin typeface="Times New Roman"/>
                <a:cs typeface="Times New Roman"/>
              </a:rPr>
              <a:t> </a:t>
            </a:r>
            <a:r>
              <a:rPr sz="1200" dirty="0">
                <a:latin typeface="Times New Roman"/>
                <a:cs typeface="Times New Roman"/>
              </a:rPr>
              <a:t>pérdidas</a:t>
            </a:r>
            <a:r>
              <a:rPr sz="1200" spc="-30" dirty="0">
                <a:latin typeface="Times New Roman"/>
                <a:cs typeface="Times New Roman"/>
              </a:rPr>
              <a:t> </a:t>
            </a:r>
            <a:r>
              <a:rPr sz="1200" dirty="0">
                <a:latin typeface="Times New Roman"/>
                <a:cs typeface="Times New Roman"/>
              </a:rPr>
              <a:t>y</a:t>
            </a:r>
            <a:r>
              <a:rPr sz="1200" spc="-5" dirty="0">
                <a:latin typeface="Times New Roman"/>
                <a:cs typeface="Times New Roman"/>
              </a:rPr>
              <a:t> </a:t>
            </a:r>
            <a:r>
              <a:rPr sz="1200" spc="-10" dirty="0">
                <a:latin typeface="Times New Roman"/>
                <a:cs typeface="Times New Roman"/>
              </a:rPr>
              <a:t>desorganización.</a:t>
            </a:r>
            <a:endParaRPr sz="1200">
              <a:latin typeface="Times New Roman"/>
              <a:cs typeface="Times New Roman"/>
            </a:endParaRPr>
          </a:p>
          <a:p>
            <a:pPr>
              <a:lnSpc>
                <a:spcPct val="100000"/>
              </a:lnSpc>
              <a:spcBef>
                <a:spcPts val="1960"/>
              </a:spcBef>
            </a:pPr>
            <a:endParaRPr sz="1200">
              <a:latin typeface="Times New Roman"/>
              <a:cs typeface="Times New Roman"/>
            </a:endParaRPr>
          </a:p>
          <a:p>
            <a:pPr marL="12700" marR="107950">
              <a:lnSpc>
                <a:spcPct val="100000"/>
              </a:lnSpc>
            </a:pPr>
            <a:r>
              <a:rPr sz="1200" dirty="0">
                <a:latin typeface="Times New Roman"/>
                <a:cs typeface="Times New Roman"/>
              </a:rPr>
              <a:t>Por</a:t>
            </a:r>
            <a:r>
              <a:rPr sz="1200" spc="-25" dirty="0">
                <a:latin typeface="Times New Roman"/>
                <a:cs typeface="Times New Roman"/>
              </a:rPr>
              <a:t> </a:t>
            </a:r>
            <a:r>
              <a:rPr sz="1200" dirty="0">
                <a:latin typeface="Times New Roman"/>
                <a:cs typeface="Times New Roman"/>
              </a:rPr>
              <a:t>eso</a:t>
            </a:r>
            <a:r>
              <a:rPr sz="1200" spc="-35" dirty="0">
                <a:latin typeface="Times New Roman"/>
                <a:cs typeface="Times New Roman"/>
              </a:rPr>
              <a:t> </a:t>
            </a:r>
            <a:r>
              <a:rPr sz="1200" dirty="0">
                <a:latin typeface="Times New Roman"/>
                <a:cs typeface="Times New Roman"/>
              </a:rPr>
              <a:t>nace</a:t>
            </a:r>
            <a:r>
              <a:rPr sz="1200" spc="-15" dirty="0">
                <a:latin typeface="Times New Roman"/>
                <a:cs typeface="Times New Roman"/>
              </a:rPr>
              <a:t> </a:t>
            </a:r>
            <a:r>
              <a:rPr sz="1200" dirty="0">
                <a:latin typeface="Times New Roman"/>
                <a:cs typeface="Times New Roman"/>
              </a:rPr>
              <a:t>Control</a:t>
            </a:r>
            <a:r>
              <a:rPr sz="1200" spc="-30" dirty="0">
                <a:latin typeface="Times New Roman"/>
                <a:cs typeface="Times New Roman"/>
              </a:rPr>
              <a:t> </a:t>
            </a:r>
            <a:r>
              <a:rPr sz="1200" dirty="0">
                <a:latin typeface="Times New Roman"/>
                <a:cs typeface="Times New Roman"/>
              </a:rPr>
              <a:t>Store:</a:t>
            </a:r>
            <a:r>
              <a:rPr sz="1200" spc="-15" dirty="0">
                <a:latin typeface="Times New Roman"/>
                <a:cs typeface="Times New Roman"/>
              </a:rPr>
              <a:t> </a:t>
            </a:r>
            <a:r>
              <a:rPr sz="1200" dirty="0">
                <a:latin typeface="Times New Roman"/>
                <a:cs typeface="Times New Roman"/>
              </a:rPr>
              <a:t>un</a:t>
            </a:r>
            <a:r>
              <a:rPr sz="1200" spc="-20" dirty="0">
                <a:latin typeface="Times New Roman"/>
                <a:cs typeface="Times New Roman"/>
              </a:rPr>
              <a:t> </a:t>
            </a:r>
            <a:r>
              <a:rPr sz="1200" dirty="0">
                <a:latin typeface="Times New Roman"/>
                <a:cs typeface="Times New Roman"/>
              </a:rPr>
              <a:t>sistema</a:t>
            </a:r>
            <a:r>
              <a:rPr sz="1200" spc="-40" dirty="0">
                <a:latin typeface="Times New Roman"/>
                <a:cs typeface="Times New Roman"/>
              </a:rPr>
              <a:t> </a:t>
            </a:r>
            <a:r>
              <a:rPr sz="1200" dirty="0">
                <a:latin typeface="Times New Roman"/>
                <a:cs typeface="Times New Roman"/>
              </a:rPr>
              <a:t>web</a:t>
            </a:r>
            <a:r>
              <a:rPr sz="1200" spc="-20" dirty="0">
                <a:latin typeface="Times New Roman"/>
                <a:cs typeface="Times New Roman"/>
              </a:rPr>
              <a:t> </a:t>
            </a:r>
            <a:r>
              <a:rPr sz="1200" dirty="0">
                <a:latin typeface="Times New Roman"/>
                <a:cs typeface="Times New Roman"/>
              </a:rPr>
              <a:t>que</a:t>
            </a:r>
            <a:r>
              <a:rPr sz="1200" spc="-25" dirty="0">
                <a:latin typeface="Times New Roman"/>
                <a:cs typeface="Times New Roman"/>
              </a:rPr>
              <a:t> </a:t>
            </a:r>
            <a:r>
              <a:rPr sz="1200" dirty="0">
                <a:latin typeface="Times New Roman"/>
                <a:cs typeface="Times New Roman"/>
              </a:rPr>
              <a:t>centraliza</a:t>
            </a:r>
            <a:r>
              <a:rPr sz="1200" spc="-10" dirty="0">
                <a:latin typeface="Times New Roman"/>
                <a:cs typeface="Times New Roman"/>
              </a:rPr>
              <a:t>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automatiza</a:t>
            </a:r>
            <a:r>
              <a:rPr sz="1200" spc="-35" dirty="0">
                <a:latin typeface="Times New Roman"/>
                <a:cs typeface="Times New Roman"/>
              </a:rPr>
              <a:t> </a:t>
            </a:r>
            <a:r>
              <a:rPr sz="1200" dirty="0">
                <a:latin typeface="Times New Roman"/>
                <a:cs typeface="Times New Roman"/>
              </a:rPr>
              <a:t>estos</a:t>
            </a:r>
            <a:r>
              <a:rPr sz="1200" spc="-30" dirty="0">
                <a:latin typeface="Times New Roman"/>
                <a:cs typeface="Times New Roman"/>
              </a:rPr>
              <a:t> </a:t>
            </a:r>
            <a:r>
              <a:rPr sz="1200" dirty="0">
                <a:latin typeface="Times New Roman"/>
                <a:cs typeface="Times New Roman"/>
              </a:rPr>
              <a:t>procesos,</a:t>
            </a:r>
            <a:r>
              <a:rPr sz="1200" spc="-25" dirty="0">
                <a:latin typeface="Times New Roman"/>
                <a:cs typeface="Times New Roman"/>
              </a:rPr>
              <a:t> </a:t>
            </a:r>
            <a:r>
              <a:rPr sz="1200" dirty="0">
                <a:latin typeface="Times New Roman"/>
                <a:cs typeface="Times New Roman"/>
              </a:rPr>
              <a:t>para</a:t>
            </a:r>
            <a:r>
              <a:rPr sz="1200" spc="-20" dirty="0">
                <a:latin typeface="Times New Roman"/>
                <a:cs typeface="Times New Roman"/>
              </a:rPr>
              <a:t> </a:t>
            </a:r>
            <a:r>
              <a:rPr sz="1200" dirty="0">
                <a:latin typeface="Times New Roman"/>
                <a:cs typeface="Times New Roman"/>
              </a:rPr>
              <a:t>que</a:t>
            </a:r>
            <a:r>
              <a:rPr sz="1200" spc="-30" dirty="0">
                <a:latin typeface="Times New Roman"/>
                <a:cs typeface="Times New Roman"/>
              </a:rPr>
              <a:t> </a:t>
            </a:r>
            <a:r>
              <a:rPr sz="1200" dirty="0">
                <a:latin typeface="Times New Roman"/>
                <a:cs typeface="Times New Roman"/>
              </a:rPr>
              <a:t>el</a:t>
            </a:r>
            <a:r>
              <a:rPr sz="1200" spc="-25" dirty="0">
                <a:latin typeface="Times New Roman"/>
                <a:cs typeface="Times New Roman"/>
              </a:rPr>
              <a:t> </a:t>
            </a:r>
            <a:r>
              <a:rPr sz="1200" spc="-10" dirty="0">
                <a:latin typeface="Times New Roman"/>
                <a:cs typeface="Times New Roman"/>
              </a:rPr>
              <a:t>Autoservicio </a:t>
            </a:r>
            <a:r>
              <a:rPr sz="1200" dirty="0">
                <a:latin typeface="Times New Roman"/>
                <a:cs typeface="Times New Roman"/>
              </a:rPr>
              <a:t>Ayuelal</a:t>
            </a:r>
            <a:r>
              <a:rPr sz="1200" spc="-35" dirty="0">
                <a:latin typeface="Times New Roman"/>
                <a:cs typeface="Times New Roman"/>
              </a:rPr>
              <a:t> </a:t>
            </a:r>
            <a:r>
              <a:rPr sz="1200" dirty="0">
                <a:latin typeface="Times New Roman"/>
                <a:cs typeface="Times New Roman"/>
              </a:rPr>
              <a:t>pueda</a:t>
            </a:r>
            <a:r>
              <a:rPr sz="1200" spc="-20" dirty="0">
                <a:latin typeface="Times New Roman"/>
                <a:cs typeface="Times New Roman"/>
              </a:rPr>
              <a:t> </a:t>
            </a:r>
            <a:r>
              <a:rPr sz="1200" dirty="0">
                <a:latin typeface="Times New Roman"/>
                <a:cs typeface="Times New Roman"/>
              </a:rPr>
              <a:t>enfocarse</a:t>
            </a:r>
            <a:r>
              <a:rPr sz="1200" spc="-25" dirty="0">
                <a:latin typeface="Times New Roman"/>
                <a:cs typeface="Times New Roman"/>
              </a:rPr>
              <a:t> </a:t>
            </a:r>
            <a:r>
              <a:rPr sz="1200" dirty="0">
                <a:latin typeface="Times New Roman"/>
                <a:cs typeface="Times New Roman"/>
              </a:rPr>
              <a:t>en</a:t>
            </a:r>
            <a:r>
              <a:rPr sz="1200" spc="-20" dirty="0">
                <a:latin typeface="Times New Roman"/>
                <a:cs typeface="Times New Roman"/>
              </a:rPr>
              <a:t> </a:t>
            </a:r>
            <a:r>
              <a:rPr sz="1200" dirty="0">
                <a:latin typeface="Times New Roman"/>
                <a:cs typeface="Times New Roman"/>
              </a:rPr>
              <a:t>lo</a:t>
            </a:r>
            <a:r>
              <a:rPr sz="1200" spc="-25" dirty="0">
                <a:latin typeface="Times New Roman"/>
                <a:cs typeface="Times New Roman"/>
              </a:rPr>
              <a:t> </a:t>
            </a:r>
            <a:r>
              <a:rPr sz="1200" dirty="0">
                <a:latin typeface="Times New Roman"/>
                <a:cs typeface="Times New Roman"/>
              </a:rPr>
              <a:t>que</a:t>
            </a:r>
            <a:r>
              <a:rPr sz="1200" spc="-20" dirty="0">
                <a:latin typeface="Times New Roman"/>
                <a:cs typeface="Times New Roman"/>
              </a:rPr>
              <a:t> </a:t>
            </a:r>
            <a:r>
              <a:rPr sz="1200" dirty="0">
                <a:latin typeface="Times New Roman"/>
                <a:cs typeface="Times New Roman"/>
              </a:rPr>
              <a:t>mejor</a:t>
            </a:r>
            <a:r>
              <a:rPr sz="1200" spc="-50" dirty="0">
                <a:latin typeface="Times New Roman"/>
                <a:cs typeface="Times New Roman"/>
              </a:rPr>
              <a:t> </a:t>
            </a:r>
            <a:r>
              <a:rPr sz="1200" dirty="0">
                <a:latin typeface="Times New Roman"/>
                <a:cs typeface="Times New Roman"/>
              </a:rPr>
              <a:t>sabe</a:t>
            </a:r>
            <a:r>
              <a:rPr sz="1200" spc="-30" dirty="0">
                <a:latin typeface="Times New Roman"/>
                <a:cs typeface="Times New Roman"/>
              </a:rPr>
              <a:t> </a:t>
            </a:r>
            <a:r>
              <a:rPr sz="1200" dirty="0">
                <a:latin typeface="Times New Roman"/>
                <a:cs typeface="Times New Roman"/>
              </a:rPr>
              <a:t>hacer,</a:t>
            </a:r>
            <a:r>
              <a:rPr sz="1200" spc="-15" dirty="0">
                <a:latin typeface="Times New Roman"/>
                <a:cs typeface="Times New Roman"/>
              </a:rPr>
              <a:t> </a:t>
            </a:r>
            <a:r>
              <a:rPr sz="1200" dirty="0">
                <a:latin typeface="Times New Roman"/>
                <a:cs typeface="Times New Roman"/>
              </a:rPr>
              <a:t>que</a:t>
            </a:r>
            <a:r>
              <a:rPr sz="1200" spc="-35" dirty="0">
                <a:latin typeface="Times New Roman"/>
                <a:cs typeface="Times New Roman"/>
              </a:rPr>
              <a:t> </a:t>
            </a:r>
            <a:r>
              <a:rPr sz="1200" dirty="0">
                <a:latin typeface="Times New Roman"/>
                <a:cs typeface="Times New Roman"/>
              </a:rPr>
              <a:t>es</a:t>
            </a:r>
            <a:r>
              <a:rPr sz="1200" spc="-35" dirty="0">
                <a:latin typeface="Times New Roman"/>
                <a:cs typeface="Times New Roman"/>
              </a:rPr>
              <a:t> </a:t>
            </a:r>
            <a:r>
              <a:rPr sz="1200" dirty="0">
                <a:latin typeface="Times New Roman"/>
                <a:cs typeface="Times New Roman"/>
              </a:rPr>
              <a:t>atender</a:t>
            </a:r>
            <a:r>
              <a:rPr sz="1200" spc="-20" dirty="0">
                <a:latin typeface="Times New Roman"/>
                <a:cs typeface="Times New Roman"/>
              </a:rPr>
              <a:t> </a:t>
            </a:r>
            <a:r>
              <a:rPr sz="1200" dirty="0">
                <a:latin typeface="Times New Roman"/>
                <a:cs typeface="Times New Roman"/>
              </a:rPr>
              <a:t>bien</a:t>
            </a:r>
            <a:r>
              <a:rPr sz="1200" spc="-25" dirty="0">
                <a:latin typeface="Times New Roman"/>
                <a:cs typeface="Times New Roman"/>
              </a:rPr>
              <a:t> </a:t>
            </a:r>
            <a:r>
              <a:rPr sz="1200" dirty="0">
                <a:latin typeface="Times New Roman"/>
                <a:cs typeface="Times New Roman"/>
              </a:rPr>
              <a:t>a</a:t>
            </a:r>
            <a:r>
              <a:rPr sz="1200" spc="-40" dirty="0">
                <a:latin typeface="Times New Roman"/>
                <a:cs typeface="Times New Roman"/>
              </a:rPr>
              <a:t> </a:t>
            </a:r>
            <a:r>
              <a:rPr sz="1200" dirty="0">
                <a:latin typeface="Times New Roman"/>
                <a:cs typeface="Times New Roman"/>
              </a:rPr>
              <a:t>sus</a:t>
            </a:r>
            <a:r>
              <a:rPr sz="1200" spc="-40" dirty="0">
                <a:latin typeface="Times New Roman"/>
                <a:cs typeface="Times New Roman"/>
              </a:rPr>
              <a:t> </a:t>
            </a:r>
            <a:r>
              <a:rPr sz="1200" spc="-10" dirty="0">
                <a:latin typeface="Times New Roman"/>
                <a:cs typeface="Times New Roman"/>
              </a:rPr>
              <a:t>clientes.</a:t>
            </a:r>
            <a:endParaRPr sz="12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11350752" y="313943"/>
              <a:ext cx="173735" cy="170687"/>
            </a:xfrm>
            <a:prstGeom prst="rect">
              <a:avLst/>
            </a:prstGeom>
          </p:spPr>
        </p:pic>
        <p:pic>
          <p:nvPicPr>
            <p:cNvPr id="5" name="object 5"/>
            <p:cNvPicPr/>
            <p:nvPr/>
          </p:nvPicPr>
          <p:blipFill>
            <a:blip r:embed="rId4" cstate="print"/>
            <a:stretch>
              <a:fillRect/>
            </a:stretch>
          </p:blipFill>
          <p:spPr>
            <a:xfrm>
              <a:off x="11069193" y="512065"/>
              <a:ext cx="162814" cy="119886"/>
            </a:xfrm>
            <a:prstGeom prst="rect">
              <a:avLst/>
            </a:prstGeom>
          </p:spPr>
        </p:pic>
        <p:sp>
          <p:nvSpPr>
            <p:cNvPr id="6" name="object 6"/>
            <p:cNvSpPr/>
            <p:nvPr/>
          </p:nvSpPr>
          <p:spPr>
            <a:xfrm>
              <a:off x="11030712" y="513079"/>
              <a:ext cx="615315" cy="587375"/>
            </a:xfrm>
            <a:custGeom>
              <a:avLst/>
              <a:gdLst/>
              <a:ahLst/>
              <a:cxnLst/>
              <a:rect l="l" t="t" r="r" b="b"/>
              <a:pathLst>
                <a:path w="615315" h="587375">
                  <a:moveTo>
                    <a:pt x="364236" y="91440"/>
                  </a:moveTo>
                  <a:lnTo>
                    <a:pt x="274701" y="91440"/>
                  </a:lnTo>
                  <a:lnTo>
                    <a:pt x="274701" y="68580"/>
                  </a:lnTo>
                  <a:lnTo>
                    <a:pt x="354330" y="68580"/>
                  </a:lnTo>
                  <a:lnTo>
                    <a:pt x="354330" y="44450"/>
                  </a:lnTo>
                  <a:lnTo>
                    <a:pt x="274701" y="44450"/>
                  </a:lnTo>
                  <a:lnTo>
                    <a:pt x="274701" y="26670"/>
                  </a:lnTo>
                  <a:lnTo>
                    <a:pt x="361061" y="26670"/>
                  </a:lnTo>
                  <a:lnTo>
                    <a:pt x="361061" y="0"/>
                  </a:lnTo>
                  <a:lnTo>
                    <a:pt x="222631" y="0"/>
                  </a:lnTo>
                  <a:lnTo>
                    <a:pt x="222631" y="26670"/>
                  </a:lnTo>
                  <a:lnTo>
                    <a:pt x="222631" y="44450"/>
                  </a:lnTo>
                  <a:lnTo>
                    <a:pt x="222631" y="68580"/>
                  </a:lnTo>
                  <a:lnTo>
                    <a:pt x="222631" y="91440"/>
                  </a:lnTo>
                  <a:lnTo>
                    <a:pt x="222631" y="116840"/>
                  </a:lnTo>
                  <a:lnTo>
                    <a:pt x="364236" y="116840"/>
                  </a:lnTo>
                  <a:lnTo>
                    <a:pt x="364236" y="91440"/>
                  </a:lnTo>
                  <a:close/>
                </a:path>
                <a:path w="615315" h="587375">
                  <a:moveTo>
                    <a:pt x="371983" y="146431"/>
                  </a:moveTo>
                  <a:lnTo>
                    <a:pt x="0" y="146431"/>
                  </a:lnTo>
                  <a:lnTo>
                    <a:pt x="0" y="208153"/>
                  </a:lnTo>
                  <a:lnTo>
                    <a:pt x="231013" y="208153"/>
                  </a:lnTo>
                  <a:lnTo>
                    <a:pt x="241427" y="210947"/>
                  </a:lnTo>
                  <a:lnTo>
                    <a:pt x="248412" y="218186"/>
                  </a:lnTo>
                  <a:lnTo>
                    <a:pt x="250952" y="227838"/>
                  </a:lnTo>
                  <a:lnTo>
                    <a:pt x="248158" y="238252"/>
                  </a:lnTo>
                  <a:lnTo>
                    <a:pt x="107188" y="483743"/>
                  </a:lnTo>
                  <a:lnTo>
                    <a:pt x="153416" y="527304"/>
                  </a:lnTo>
                  <a:lnTo>
                    <a:pt x="371983" y="146431"/>
                  </a:lnTo>
                  <a:close/>
                </a:path>
                <a:path w="615315" h="587375">
                  <a:moveTo>
                    <a:pt x="614934" y="558038"/>
                  </a:moveTo>
                  <a:lnTo>
                    <a:pt x="405257" y="210820"/>
                  </a:lnTo>
                  <a:lnTo>
                    <a:pt x="404749" y="210820"/>
                  </a:lnTo>
                  <a:lnTo>
                    <a:pt x="404749" y="211328"/>
                  </a:lnTo>
                  <a:lnTo>
                    <a:pt x="199771" y="559562"/>
                  </a:lnTo>
                  <a:lnTo>
                    <a:pt x="254381" y="586994"/>
                  </a:lnTo>
                  <a:lnTo>
                    <a:pt x="388620" y="360172"/>
                  </a:lnTo>
                  <a:lnTo>
                    <a:pt x="396367" y="352679"/>
                  </a:lnTo>
                  <a:lnTo>
                    <a:pt x="406273" y="350139"/>
                  </a:lnTo>
                  <a:lnTo>
                    <a:pt x="416306" y="352679"/>
                  </a:lnTo>
                  <a:lnTo>
                    <a:pt x="424053" y="360172"/>
                  </a:lnTo>
                  <a:lnTo>
                    <a:pt x="559308" y="586994"/>
                  </a:lnTo>
                  <a:lnTo>
                    <a:pt x="614934" y="558038"/>
                  </a:lnTo>
                  <a:close/>
                </a:path>
              </a:pathLst>
            </a:custGeom>
            <a:solidFill>
              <a:srgbClr val="FFFFFF"/>
            </a:solidFill>
          </p:spPr>
          <p:txBody>
            <a:bodyPr wrap="square" lIns="0" tIns="0" rIns="0" bIns="0" rtlCol="0"/>
            <a:lstStyle/>
            <a:p>
              <a:endParaRPr sz="1200">
                <a:latin typeface="Times New Roman"/>
                <a:cs typeface="Times New Roman"/>
              </a:endParaRPr>
            </a:p>
          </p:txBody>
        </p:sp>
        <p:pic>
          <p:nvPicPr>
            <p:cNvPr id="7" name="object 7"/>
            <p:cNvPicPr/>
            <p:nvPr/>
          </p:nvPicPr>
          <p:blipFill>
            <a:blip r:embed="rId5" cstate="print"/>
            <a:stretch>
              <a:fillRect/>
            </a:stretch>
          </p:blipFill>
          <p:spPr>
            <a:xfrm>
              <a:off x="11416792" y="513587"/>
              <a:ext cx="403605" cy="116332"/>
            </a:xfrm>
            <a:prstGeom prst="rect">
              <a:avLst/>
            </a:prstGeom>
          </p:spPr>
        </p:pic>
        <p:sp>
          <p:nvSpPr>
            <p:cNvPr id="8" name="object 8"/>
            <p:cNvSpPr/>
            <p:nvPr/>
          </p:nvSpPr>
          <p:spPr>
            <a:xfrm>
              <a:off x="11468734" y="659511"/>
              <a:ext cx="372745" cy="381000"/>
            </a:xfrm>
            <a:custGeom>
              <a:avLst/>
              <a:gdLst/>
              <a:ahLst/>
              <a:cxnLst/>
              <a:rect l="l" t="t" r="r" b="b"/>
              <a:pathLst>
                <a:path w="372745" h="381000">
                  <a:moveTo>
                    <a:pt x="372618" y="0"/>
                  </a:moveTo>
                  <a:lnTo>
                    <a:pt x="0" y="0"/>
                  </a:lnTo>
                  <a:lnTo>
                    <a:pt x="218567" y="380873"/>
                  </a:lnTo>
                  <a:lnTo>
                    <a:pt x="264922" y="337312"/>
                  </a:lnTo>
                  <a:lnTo>
                    <a:pt x="123825" y="91821"/>
                  </a:lnTo>
                  <a:lnTo>
                    <a:pt x="121031" y="81406"/>
                  </a:lnTo>
                  <a:lnTo>
                    <a:pt x="123698" y="71754"/>
                  </a:lnTo>
                  <a:lnTo>
                    <a:pt x="130683" y="64515"/>
                  </a:lnTo>
                  <a:lnTo>
                    <a:pt x="141097" y="61722"/>
                  </a:lnTo>
                  <a:lnTo>
                    <a:pt x="372618" y="61722"/>
                  </a:lnTo>
                  <a:lnTo>
                    <a:pt x="372618" y="0"/>
                  </a:lnTo>
                  <a:close/>
                </a:path>
              </a:pathLst>
            </a:custGeom>
            <a:solidFill>
              <a:srgbClr val="FFFFFF"/>
            </a:solidFill>
          </p:spPr>
          <p:txBody>
            <a:bodyPr wrap="square" lIns="0" tIns="0" rIns="0" bIns="0" rtlCol="0"/>
            <a:lstStyle/>
            <a:p>
              <a:endParaRPr sz="1200">
                <a:latin typeface="Times New Roman"/>
                <a:cs typeface="Times New Roman"/>
              </a:endParaRPr>
            </a:p>
          </p:txBody>
        </p:sp>
      </p:grpSp>
      <p:sp>
        <p:nvSpPr>
          <p:cNvPr id="9" name="object 9" descr="$PPTXTitle"/>
          <p:cNvSpPr txBox="1">
            <a:spLocks noGrp="1"/>
          </p:cNvSpPr>
          <p:nvPr>
            <p:ph type="title"/>
          </p:nvPr>
        </p:nvSpPr>
        <p:spPr>
          <a:xfrm>
            <a:off x="1265047" y="1237869"/>
            <a:ext cx="4599940" cy="696595"/>
          </a:xfrm>
          <a:prstGeom prst="rect">
            <a:avLst/>
          </a:prstGeom>
        </p:spPr>
        <p:txBody>
          <a:bodyPr vert="horz" wrap="square" lIns="0" tIns="13335" rIns="0" bIns="0" rtlCol="0">
            <a:spAutoFit/>
          </a:bodyPr>
          <a:lstStyle/>
          <a:p>
            <a:pPr marL="12700">
              <a:lnSpc>
                <a:spcPct val="100000"/>
              </a:lnSpc>
              <a:spcBef>
                <a:spcPts val="105"/>
              </a:spcBef>
            </a:pPr>
            <a:r>
              <a:rPr sz="4400" spc="220" dirty="0">
                <a:latin typeface="Times New Roman"/>
                <a:cs typeface="Times New Roman"/>
              </a:rPr>
              <a:t>CONTROL</a:t>
            </a:r>
            <a:r>
              <a:rPr sz="4400" spc="690" dirty="0">
                <a:latin typeface="Times New Roman"/>
                <a:cs typeface="Times New Roman"/>
              </a:rPr>
              <a:t> </a:t>
            </a:r>
            <a:r>
              <a:rPr sz="4400" spc="200" dirty="0">
                <a:latin typeface="Times New Roman"/>
                <a:cs typeface="Times New Roman"/>
              </a:rPr>
              <a:t>STORE</a:t>
            </a:r>
            <a:endParaRPr sz="4400">
              <a:latin typeface="Times New Roman"/>
              <a:cs typeface="Times New Roman"/>
            </a:endParaRPr>
          </a:p>
        </p:txBody>
      </p:sp>
      <p:sp>
        <p:nvSpPr>
          <p:cNvPr id="10" name="object 10"/>
          <p:cNvSpPr txBox="1"/>
          <p:nvPr/>
        </p:nvSpPr>
        <p:spPr>
          <a:xfrm>
            <a:off x="1271016" y="3243072"/>
            <a:ext cx="2001520" cy="1333500"/>
          </a:xfrm>
          <a:prstGeom prst="rect">
            <a:avLst/>
          </a:prstGeom>
          <a:ln w="9144">
            <a:solidFill>
              <a:srgbClr val="000000"/>
            </a:solidFill>
          </a:ln>
        </p:spPr>
        <p:txBody>
          <a:bodyPr vert="horz" wrap="square" lIns="0" tIns="0" rIns="0" bIns="0" rtlCol="0">
            <a:spAutoFit/>
          </a:bodyPr>
          <a:lstStyle/>
          <a:p>
            <a:pPr>
              <a:lnSpc>
                <a:spcPct val="100000"/>
              </a:lnSpc>
            </a:pPr>
            <a:endParaRPr sz="1200">
              <a:latin typeface="Times New Roman"/>
              <a:cs typeface="Times New Roman"/>
            </a:endParaRPr>
          </a:p>
          <a:p>
            <a:pPr>
              <a:lnSpc>
                <a:spcPct val="100000"/>
              </a:lnSpc>
              <a:spcBef>
                <a:spcPts val="915"/>
              </a:spcBef>
            </a:pPr>
            <a:endParaRPr sz="1200">
              <a:latin typeface="Times New Roman"/>
              <a:cs typeface="Times New Roman"/>
            </a:endParaRPr>
          </a:p>
          <a:p>
            <a:pPr marL="347345">
              <a:lnSpc>
                <a:spcPct val="100000"/>
              </a:lnSpc>
            </a:pPr>
            <a:r>
              <a:rPr sz="1200" dirty="0">
                <a:latin typeface="Times New Roman"/>
                <a:cs typeface="Times New Roman"/>
              </a:rPr>
              <a:t>Logo</a:t>
            </a:r>
            <a:r>
              <a:rPr sz="1200" spc="345" dirty="0">
                <a:latin typeface="Times New Roman"/>
                <a:cs typeface="Times New Roman"/>
              </a:rPr>
              <a:t> </a:t>
            </a:r>
            <a:r>
              <a:rPr sz="1200" spc="-10" dirty="0">
                <a:latin typeface="Times New Roman"/>
                <a:cs typeface="Times New Roman"/>
              </a:rPr>
              <a:t>Sistema</a:t>
            </a:r>
            <a:endParaRPr sz="1200">
              <a:latin typeface="Times New Roman"/>
              <a:cs typeface="Times New Roman"/>
            </a:endParaRPr>
          </a:p>
        </p:txBody>
      </p:sp>
      <p:sp>
        <p:nvSpPr>
          <p:cNvPr id="11" name="object 11"/>
          <p:cNvSpPr txBox="1"/>
          <p:nvPr/>
        </p:nvSpPr>
        <p:spPr>
          <a:xfrm>
            <a:off x="3585083" y="3787582"/>
            <a:ext cx="1296035" cy="228600"/>
          </a:xfrm>
          <a:prstGeom prst="rect">
            <a:avLst/>
          </a:prstGeom>
        </p:spPr>
        <p:txBody>
          <a:bodyPr vert="horz" wrap="square" lIns="0" tIns="0" rIns="0" bIns="0" rtlCol="0">
            <a:spAutoFit/>
          </a:bodyPr>
          <a:lstStyle/>
          <a:p>
            <a:pPr>
              <a:lnSpc>
                <a:spcPts val="1764"/>
              </a:lnSpc>
            </a:pPr>
            <a:r>
              <a:rPr sz="1200" dirty="0">
                <a:latin typeface="Times New Roman"/>
                <a:cs typeface="Times New Roman"/>
              </a:rPr>
              <a:t>Logo</a:t>
            </a:r>
            <a:r>
              <a:rPr sz="1200" spc="335" dirty="0">
                <a:latin typeface="Times New Roman"/>
                <a:cs typeface="Times New Roman"/>
              </a:rPr>
              <a:t> </a:t>
            </a:r>
            <a:r>
              <a:rPr sz="1200" spc="-10" dirty="0">
                <a:latin typeface="Times New Roman"/>
                <a:cs typeface="Times New Roman"/>
              </a:rPr>
              <a:t>Empresa</a:t>
            </a:r>
            <a:endParaRPr sz="1200">
              <a:latin typeface="Times New Roman"/>
              <a:cs typeface="Times New Roman"/>
            </a:endParaRPr>
          </a:p>
        </p:txBody>
      </p:sp>
      <p:pic>
        <p:nvPicPr>
          <p:cNvPr id="12" name="object 12"/>
          <p:cNvPicPr/>
          <p:nvPr/>
        </p:nvPicPr>
        <p:blipFill>
          <a:blip r:embed="rId6" cstate="print"/>
          <a:stretch>
            <a:fillRect/>
          </a:stretch>
        </p:blipFill>
        <p:spPr>
          <a:xfrm>
            <a:off x="3267455" y="3238500"/>
            <a:ext cx="2113788" cy="1342644"/>
          </a:xfrm>
          <a:prstGeom prst="rect">
            <a:avLst/>
          </a:prstGeom>
        </p:spPr>
      </p:pic>
      <p:sp>
        <p:nvSpPr>
          <p:cNvPr id="13" name="object 13"/>
          <p:cNvSpPr txBox="1"/>
          <p:nvPr/>
        </p:nvSpPr>
        <p:spPr>
          <a:xfrm>
            <a:off x="6737731" y="2148840"/>
            <a:ext cx="5257800" cy="2926715"/>
          </a:xfrm>
          <a:prstGeom prst="rect">
            <a:avLst/>
          </a:prstGeom>
        </p:spPr>
        <p:txBody>
          <a:bodyPr vert="horz" wrap="square" lIns="0" tIns="17780" rIns="0" bIns="0" rtlCol="0">
            <a:spAutoFit/>
          </a:bodyPr>
          <a:lstStyle/>
          <a:p>
            <a:pPr marL="12700" marR="1811020" algn="l">
              <a:lnSpc>
                <a:spcPct val="100000"/>
              </a:lnSpc>
              <a:spcBef>
                <a:spcPts val="140"/>
              </a:spcBef>
              <a:spcAft>
                <a:spcPts val="600"/>
              </a:spcAft>
            </a:pPr>
            <a:r>
              <a:rPr sz="2800" b="0" i="0">
                <a:solidFill>
                  <a:srgbClr val="FFFFFF"/>
                </a:solidFill>
                <a:latin typeface="Times New Roman"/>
                <a:cs typeface="Times New Roman"/>
              </a:rPr>
              <a:t>Problema</a:t>
            </a:r>
            <a:endParaRPr sz="3200">
              <a:latin typeface="Times New Roman"/>
              <a:cs typeface="Times New Roman"/>
            </a:endParaRPr>
          </a:p>
          <a:p>
            <a:pPr algn="l">
              <a:lnSpc>
                <a:spcPct val="100000"/>
              </a:lnSpc>
              <a:spcAft>
                <a:spcPts val="600"/>
              </a:spcAft>
            </a:pPr>
            <a:r>
              <a:rPr sz="2800" b="0" i="0">
                <a:solidFill>
                  <a:srgbClr val="FFFFFF"/>
                </a:solidFill>
                <a:latin typeface="Times New Roman"/>
                <a:cs typeface="Times New Roman"/>
              </a:rPr>
              <a:t>Objetivos</a:t>
            </a:r>
          </a:p>
          <a:p>
            <a:pPr algn="l">
              <a:lnSpc>
                <a:spcPct val="100000"/>
              </a:lnSpc>
              <a:spcAft>
                <a:spcPts val="600"/>
              </a:spcAft>
            </a:pPr>
            <a:r>
              <a:rPr sz="2800" b="0" i="0">
                <a:solidFill>
                  <a:srgbClr val="FFFFFF"/>
                </a:solidFill>
                <a:latin typeface="Times New Roman"/>
                <a:cs typeface="Times New Roman"/>
              </a:rPr>
              <a:t>Justificación</a:t>
            </a:r>
          </a:p>
          <a:p>
            <a:pPr algn="l">
              <a:lnSpc>
                <a:spcPct val="100000"/>
              </a:lnSpc>
              <a:spcAft>
                <a:spcPts val="600"/>
              </a:spcAft>
            </a:pPr>
            <a:r>
              <a:rPr sz="2800" b="0" i="0">
                <a:solidFill>
                  <a:srgbClr val="FFFFFF"/>
                </a:solidFill>
                <a:latin typeface="Times New Roman"/>
                <a:cs typeface="Times New Roman"/>
              </a:rPr>
              <a:t>Alcance</a:t>
            </a:r>
          </a:p>
          <a:p>
            <a:pPr algn="l">
              <a:lnSpc>
                <a:spcPct val="100000"/>
              </a:lnSpc>
              <a:spcAft>
                <a:spcPts val="600"/>
              </a:spcAft>
            </a:pPr>
            <a:r>
              <a:rPr sz="2800" b="0" i="0">
                <a:solidFill>
                  <a:srgbClr val="FFFFFF"/>
                </a:solidFill>
                <a:latin typeface="Times New Roman"/>
                <a:cs typeface="Times New Roman"/>
              </a:rPr>
              <a:t>Delimitación</a:t>
            </a:r>
          </a:p>
          <a:p>
            <a:pPr algn="l">
              <a:lnSpc>
                <a:spcPct val="100000"/>
              </a:lnSpc>
              <a:spcAft>
                <a:spcPts val="600"/>
              </a:spcAft>
            </a:pPr>
            <a:r>
              <a:rPr sz="2800" b="0" i="0">
                <a:solidFill>
                  <a:srgbClr val="FFFFFF"/>
                </a:solidFill>
                <a:latin typeface="Times New Roman"/>
                <a:cs typeface="Times New Roman"/>
              </a:rPr>
              <a:t>Entregables</a:t>
            </a:r>
          </a:p>
        </p:txBody>
      </p:sp>
      <p:pic>
        <p:nvPicPr>
          <p:cNvPr id="14" name="object 14"/>
          <p:cNvPicPr/>
          <p:nvPr/>
        </p:nvPicPr>
        <p:blipFill>
          <a:blip r:embed="rId7" cstate="print"/>
          <a:stretch>
            <a:fillRect/>
          </a:stretch>
        </p:blipFill>
        <p:spPr>
          <a:xfrm>
            <a:off x="1271016" y="3235960"/>
            <a:ext cx="2057400" cy="133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7855" rIns="0" bIns="0" rtlCol="0">
            <a:spAutoFit/>
          </a:bodyPr>
          <a:lstStyle/>
          <a:p>
            <a:pPr marL="120650">
              <a:lnSpc>
                <a:spcPct val="100000"/>
              </a:lnSpc>
              <a:spcBef>
                <a:spcPts val="100"/>
              </a:spcBef>
            </a:pPr>
            <a:r>
              <a:rPr sz="4400" spc="125" dirty="0">
                <a:latin typeface="Times New Roman"/>
                <a:cs typeface="Times New Roman"/>
              </a:rPr>
              <a:t>Problema</a:t>
            </a:r>
            <a:endParaRPr sz="4400">
              <a:latin typeface="Times New Roman"/>
              <a:cs typeface="Times New Roman"/>
            </a:endParaRPr>
          </a:p>
        </p:txBody>
      </p:sp>
      <p:sp>
        <p:nvSpPr>
          <p:cNvPr id="3" name="object 3"/>
          <p:cNvSpPr txBox="1"/>
          <p:nvPr/>
        </p:nvSpPr>
        <p:spPr>
          <a:xfrm>
            <a:off x="8700516" y="509016"/>
            <a:ext cx="1077595" cy="544195"/>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896347" y="460705"/>
            <a:ext cx="806450" cy="522605"/>
          </a:xfrm>
          <a:prstGeom prst="rect">
            <a:avLst/>
          </a:prstGeom>
        </p:spPr>
        <p:txBody>
          <a:bodyPr vert="horz" wrap="square" lIns="0" tIns="12700" rIns="0" bIns="0" rtlCol="0">
            <a:spAutoFit/>
          </a:bodyPr>
          <a:lstStyle/>
          <a:p>
            <a:pPr marL="12700" marR="5080" indent="190500">
              <a:lnSpc>
                <a:spcPct val="105200"/>
              </a:lnSpc>
              <a:spcBef>
                <a:spcPts val="100"/>
              </a:spcBef>
            </a:pPr>
            <a:r>
              <a:rPr sz="1200" spc="-20" dirty="0">
                <a:solidFill>
                  <a:srgbClr val="FFFFFF"/>
                </a:solidFill>
                <a:latin typeface="Times New Roman"/>
                <a:cs typeface="Times New Roman"/>
              </a:rPr>
              <a:t>Logo </a:t>
            </a:r>
            <a:r>
              <a:rPr sz="1200" spc="-10" dirty="0">
                <a:solidFill>
                  <a:srgbClr val="FFFFFF"/>
                </a:solidFill>
                <a:latin typeface="Times New Roman"/>
                <a:cs typeface="Times New Roman"/>
              </a:rPr>
              <a:t>Empresa</a:t>
            </a:r>
            <a:endParaRPr sz="1200">
              <a:latin typeface="Times New Roman"/>
              <a:cs typeface="Times New Roman"/>
            </a:endParaRPr>
          </a:p>
        </p:txBody>
      </p:sp>
      <p:sp>
        <p:nvSpPr>
          <p:cNvPr id="5" name="object 5"/>
          <p:cNvSpPr txBox="1"/>
          <p:nvPr/>
        </p:nvSpPr>
        <p:spPr>
          <a:xfrm>
            <a:off x="288747" y="2617089"/>
            <a:ext cx="10884535" cy="3900000"/>
          </a:xfrm>
          <a:prstGeom prst="rect">
            <a:avLst/>
          </a:prstGeom>
        </p:spPr>
        <p:txBody>
          <a:bodyPr vert="horz" wrap="square" lIns="0" tIns="12700" rIns="0" bIns="0" rtlCol="0">
            <a:spAutoFit/>
          </a:bodyPr>
          <a:lstStyle/>
          <a:p>
            <a:pPr marL="12700" marR="5080">
              <a:lnSpc>
                <a:spcPct val="100000"/>
              </a:lnSpc>
              <a:spcBef>
                <a:spcPts val="100"/>
              </a:spcBef>
              <a:spcAft>
                <a:spcPts val="600"/>
              </a:spcAft>
            </a:pPr>
            <a:r>
              <a:rPr sz="1200" b="1">
                <a:latin typeface="Times New Roman"/>
                <a:cs typeface="Times New Roman"/>
              </a:rPr>
              <a:t>Descripción de la empresa y los procesos</a:t>
            </a:r>
            <a:endParaRPr sz="1200">
              <a:latin typeface="Times New Roman"/>
              <a:cs typeface="Times New Roman"/>
            </a:endParaRPr>
          </a:p>
          <a:p>
            <a:pPr>
              <a:spcAft>
                <a:spcPts val="600"/>
              </a:spcAft>
            </a:pPr>
            <a:r>
              <a:rPr sz="1200" b="0">
                <a:latin typeface="Times New Roman"/>
                <a:cs typeface="Times New Roman"/>
              </a:rPr>
              <a:t>El Autoservicio Ayuelal es una tienda ubicada en el barrio Las Margaritas de Bogotá, con cinco años de trayectoria ofreciendo productos de canasta familiar a su comunidad. Internamente maneja los procesos de inventario, ventas, caja y domicilios.</a:t>
            </a:r>
          </a:p>
          <a:p>
            <a:pPr>
              <a:spcAft>
                <a:spcPts val="600"/>
              </a:spcAft>
            </a:pPr>
            <a:r>
              <a:rPr sz="1200" b="1">
                <a:latin typeface="Times New Roman"/>
                <a:cs typeface="Times New Roman"/>
              </a:rPr>
              <a:t>Descripción de los procesos y cómo se obtuvo la información</a:t>
            </a:r>
          </a:p>
          <a:p>
            <a:pPr>
              <a:spcAft>
                <a:spcPts val="600"/>
              </a:spcAft>
            </a:pPr>
            <a:r>
              <a:rPr sz="1200" b="0">
                <a:latin typeface="Times New Roman"/>
                <a:cs typeface="Times New Roman"/>
              </a:rPr>
              <a:t>Estos procesos se gestionan de forma manual, mediante cuadernos, hojas de Excel y coordinación de domicilios por WhatsApp. Para conocerlos a fondo se aplicaron una entrevista semiestructurada al dueño y al domiciliario, una encuesta a empleados y a 32 clientes, revisión documental de los registros del negocio y benchmarking de sistemas POS existentes en el mercado.</a:t>
            </a:r>
          </a:p>
          <a:p>
            <a:pPr>
              <a:spcAft>
                <a:spcPts val="600"/>
              </a:spcAft>
            </a:pPr>
            <a:r>
              <a:rPr sz="1200" b="1">
                <a:latin typeface="Times New Roman"/>
                <a:cs typeface="Times New Roman"/>
              </a:rPr>
              <a:t>Análisis de los hallazgos</a:t>
            </a:r>
          </a:p>
          <a:p>
            <a:pPr>
              <a:spcAft>
                <a:spcPts val="600"/>
              </a:spcAft>
            </a:pPr>
            <a:r>
              <a:rPr sz="1200" b="0">
                <a:latin typeface="Times New Roman"/>
                <a:cs typeface="Times New Roman"/>
              </a:rPr>
              <a:t>El Autoservicio Ayuelal presenta fallas en el control de inventario gestionado de forma visual y manual, sin alertas de stock ni de vencimientos, lo que genera procesos lentos y propensos a errores. Adicionalmente, se presentan descuadres frecuentes de caja por la falta de un control integrado de ingresos y egresos, y los domicilios se coordinan sin trazabilidad ni un formato estándar. Esta situación genera desorganización operativa que afecta directamente la eficiencia del negocio y la experiencia del cliente.</a:t>
            </a: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9773411" y="486155"/>
              <a:ext cx="1304544" cy="589788"/>
            </a:xfrm>
            <a:prstGeom prst="rect">
              <a:avLst/>
            </a:prstGeom>
          </p:spPr>
        </p:pic>
        <p:pic>
          <p:nvPicPr>
            <p:cNvPr id="8" name="object 8"/>
            <p:cNvPicPr/>
            <p:nvPr/>
          </p:nvPicPr>
          <p:blipFill>
            <a:blip r:embed="rId3" cstate="print"/>
            <a:stretch>
              <a:fillRect/>
            </a:stretch>
          </p:blipFill>
          <p:spPr>
            <a:xfrm>
              <a:off x="8695943" y="457200"/>
              <a:ext cx="1077468" cy="647700"/>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5"/>
            <a:ext cx="12192000" cy="6751320"/>
            <a:chOff x="0" y="15"/>
            <a:chExt cx="12192000" cy="6751320"/>
          </a:xfrm>
        </p:grpSpPr>
        <p:pic>
          <p:nvPicPr>
            <p:cNvPr id="3" name="object 3"/>
            <p:cNvPicPr/>
            <p:nvPr/>
          </p:nvPicPr>
          <p:blipFill>
            <a:blip r:embed="rId2" cstate="print"/>
            <a:stretch>
              <a:fillRect/>
            </a:stretch>
          </p:blipFill>
          <p:spPr>
            <a:xfrm>
              <a:off x="0" y="15"/>
              <a:ext cx="12191999" cy="6751066"/>
            </a:xfrm>
            <a:prstGeom prst="rect">
              <a:avLst/>
            </a:prstGeom>
          </p:spPr>
        </p:pic>
        <p:pic>
          <p:nvPicPr>
            <p:cNvPr id="4" name="object 4"/>
            <p:cNvPicPr/>
            <p:nvPr/>
          </p:nvPicPr>
          <p:blipFill>
            <a:blip r:embed="rId3" cstate="print"/>
            <a:stretch>
              <a:fillRect/>
            </a:stretch>
          </p:blipFill>
          <p:spPr>
            <a:xfrm>
              <a:off x="11393424" y="197866"/>
              <a:ext cx="182879" cy="182879"/>
            </a:xfrm>
            <a:prstGeom prst="rect">
              <a:avLst/>
            </a:prstGeom>
          </p:spPr>
        </p:pic>
        <p:pic>
          <p:nvPicPr>
            <p:cNvPr id="5" name="object 5"/>
            <p:cNvPicPr/>
            <p:nvPr/>
          </p:nvPicPr>
          <p:blipFill>
            <a:blip r:embed="rId4" cstate="print"/>
            <a:stretch>
              <a:fillRect/>
            </a:stretch>
          </p:blipFill>
          <p:spPr>
            <a:xfrm>
              <a:off x="11098656" y="409703"/>
              <a:ext cx="170688" cy="126236"/>
            </a:xfrm>
            <a:prstGeom prst="rect">
              <a:avLst/>
            </a:prstGeom>
          </p:spPr>
        </p:pic>
        <p:sp>
          <p:nvSpPr>
            <p:cNvPr id="6" name="object 6"/>
            <p:cNvSpPr/>
            <p:nvPr/>
          </p:nvSpPr>
          <p:spPr>
            <a:xfrm>
              <a:off x="11058144" y="411479"/>
              <a:ext cx="645160" cy="615315"/>
            </a:xfrm>
            <a:custGeom>
              <a:avLst/>
              <a:gdLst/>
              <a:ahLst/>
              <a:cxnLst/>
              <a:rect l="l" t="t" r="r" b="b"/>
              <a:pathLst>
                <a:path w="645159" h="615315">
                  <a:moveTo>
                    <a:pt x="382143" y="96520"/>
                  </a:moveTo>
                  <a:lnTo>
                    <a:pt x="288163" y="96520"/>
                  </a:lnTo>
                  <a:lnTo>
                    <a:pt x="288163" y="72390"/>
                  </a:lnTo>
                  <a:lnTo>
                    <a:pt x="371602" y="72390"/>
                  </a:lnTo>
                  <a:lnTo>
                    <a:pt x="371602" y="46990"/>
                  </a:lnTo>
                  <a:lnTo>
                    <a:pt x="288163" y="46990"/>
                  </a:lnTo>
                  <a:lnTo>
                    <a:pt x="288163" y="26670"/>
                  </a:lnTo>
                  <a:lnTo>
                    <a:pt x="378587" y="26670"/>
                  </a:lnTo>
                  <a:lnTo>
                    <a:pt x="378587" y="0"/>
                  </a:lnTo>
                  <a:lnTo>
                    <a:pt x="233426" y="0"/>
                  </a:lnTo>
                  <a:lnTo>
                    <a:pt x="233426" y="26670"/>
                  </a:lnTo>
                  <a:lnTo>
                    <a:pt x="233426" y="46990"/>
                  </a:lnTo>
                  <a:lnTo>
                    <a:pt x="233426" y="72390"/>
                  </a:lnTo>
                  <a:lnTo>
                    <a:pt x="233426" y="96520"/>
                  </a:lnTo>
                  <a:lnTo>
                    <a:pt x="233426" y="123190"/>
                  </a:lnTo>
                  <a:lnTo>
                    <a:pt x="382143" y="123190"/>
                  </a:lnTo>
                  <a:lnTo>
                    <a:pt x="382143" y="96520"/>
                  </a:lnTo>
                  <a:close/>
                </a:path>
                <a:path w="645159" h="615315">
                  <a:moveTo>
                    <a:pt x="390271" y="153162"/>
                  </a:moveTo>
                  <a:lnTo>
                    <a:pt x="0" y="153162"/>
                  </a:lnTo>
                  <a:lnTo>
                    <a:pt x="0" y="217297"/>
                  </a:lnTo>
                  <a:lnTo>
                    <a:pt x="242316" y="217297"/>
                  </a:lnTo>
                  <a:lnTo>
                    <a:pt x="253111" y="220345"/>
                  </a:lnTo>
                  <a:lnTo>
                    <a:pt x="260604" y="227965"/>
                  </a:lnTo>
                  <a:lnTo>
                    <a:pt x="263398" y="238252"/>
                  </a:lnTo>
                  <a:lnTo>
                    <a:pt x="260604" y="249047"/>
                  </a:lnTo>
                  <a:lnTo>
                    <a:pt x="112268" y="506730"/>
                  </a:lnTo>
                  <a:lnTo>
                    <a:pt x="160909" y="552577"/>
                  </a:lnTo>
                  <a:lnTo>
                    <a:pt x="390271" y="153162"/>
                  </a:lnTo>
                  <a:close/>
                </a:path>
                <a:path w="645159" h="615315">
                  <a:moveTo>
                    <a:pt x="644779" y="584581"/>
                  </a:moveTo>
                  <a:lnTo>
                    <a:pt x="424688" y="220218"/>
                  </a:lnTo>
                  <a:lnTo>
                    <a:pt x="424307" y="221361"/>
                  </a:lnTo>
                  <a:lnTo>
                    <a:pt x="209931" y="586613"/>
                  </a:lnTo>
                  <a:lnTo>
                    <a:pt x="267081" y="615061"/>
                  </a:lnTo>
                  <a:lnTo>
                    <a:pt x="407670" y="377190"/>
                  </a:lnTo>
                  <a:lnTo>
                    <a:pt x="415925" y="369189"/>
                  </a:lnTo>
                  <a:lnTo>
                    <a:pt x="426339" y="366522"/>
                  </a:lnTo>
                  <a:lnTo>
                    <a:pt x="436626" y="369189"/>
                  </a:lnTo>
                  <a:lnTo>
                    <a:pt x="444627" y="377190"/>
                  </a:lnTo>
                  <a:lnTo>
                    <a:pt x="586486" y="615061"/>
                  </a:lnTo>
                  <a:lnTo>
                    <a:pt x="644779" y="584581"/>
                  </a:lnTo>
                  <a:close/>
                </a:path>
              </a:pathLst>
            </a:custGeom>
            <a:solidFill>
              <a:srgbClr val="39A900"/>
            </a:solidFill>
          </p:spPr>
          <p:txBody>
            <a:bodyPr wrap="square" lIns="0" tIns="0" rIns="0" bIns="0" rtlCol="0"/>
            <a:lstStyle/>
            <a:p>
              <a:endParaRPr sz="1200">
                <a:latin typeface="Times New Roman"/>
                <a:cs typeface="Times New Roman"/>
              </a:endParaRPr>
            </a:p>
          </p:txBody>
        </p:sp>
        <p:pic>
          <p:nvPicPr>
            <p:cNvPr id="7" name="object 7"/>
            <p:cNvPicPr/>
            <p:nvPr/>
          </p:nvPicPr>
          <p:blipFill>
            <a:blip r:embed="rId5" cstate="print"/>
            <a:stretch>
              <a:fillRect/>
            </a:stretch>
          </p:blipFill>
          <p:spPr>
            <a:xfrm>
              <a:off x="11463019" y="411734"/>
              <a:ext cx="423545" cy="122174"/>
            </a:xfrm>
            <a:prstGeom prst="rect">
              <a:avLst/>
            </a:prstGeom>
          </p:spPr>
        </p:pic>
        <p:sp>
          <p:nvSpPr>
            <p:cNvPr id="8" name="object 8"/>
            <p:cNvSpPr/>
            <p:nvPr/>
          </p:nvSpPr>
          <p:spPr>
            <a:xfrm>
              <a:off x="11517756" y="564642"/>
              <a:ext cx="390525" cy="399415"/>
            </a:xfrm>
            <a:custGeom>
              <a:avLst/>
              <a:gdLst/>
              <a:ahLst/>
              <a:cxnLst/>
              <a:rect l="l" t="t" r="r" b="b"/>
              <a:pathLst>
                <a:path w="390525" h="399415">
                  <a:moveTo>
                    <a:pt x="390271" y="0"/>
                  </a:moveTo>
                  <a:lnTo>
                    <a:pt x="0" y="0"/>
                  </a:lnTo>
                  <a:lnTo>
                    <a:pt x="228981" y="399415"/>
                  </a:lnTo>
                  <a:lnTo>
                    <a:pt x="277622" y="353568"/>
                  </a:lnTo>
                  <a:lnTo>
                    <a:pt x="129667" y="95885"/>
                  </a:lnTo>
                  <a:lnTo>
                    <a:pt x="126746" y="85090"/>
                  </a:lnTo>
                  <a:lnTo>
                    <a:pt x="129667" y="74803"/>
                  </a:lnTo>
                  <a:lnTo>
                    <a:pt x="137033" y="67183"/>
                  </a:lnTo>
                  <a:lnTo>
                    <a:pt x="147954" y="64135"/>
                  </a:lnTo>
                  <a:lnTo>
                    <a:pt x="390271" y="64135"/>
                  </a:lnTo>
                  <a:lnTo>
                    <a:pt x="390271" y="0"/>
                  </a:lnTo>
                  <a:close/>
                </a:path>
              </a:pathLst>
            </a:custGeom>
            <a:solidFill>
              <a:srgbClr val="39A900"/>
            </a:solidFill>
          </p:spPr>
          <p:txBody>
            <a:bodyPr wrap="square" lIns="0" tIns="0" rIns="0" bIns="0" rtlCol="0"/>
            <a:lstStyle/>
            <a:p>
              <a:endParaRPr sz="1200">
                <a:latin typeface="Times New Roman"/>
                <a:cs typeface="Times New Roman"/>
              </a:endParaRPr>
            </a:p>
          </p:txBody>
        </p:sp>
        <p:sp>
          <p:nvSpPr>
            <p:cNvPr id="9" name="object 9"/>
            <p:cNvSpPr/>
            <p:nvPr/>
          </p:nvSpPr>
          <p:spPr>
            <a:xfrm>
              <a:off x="490727" y="818134"/>
              <a:ext cx="3525520" cy="352425"/>
            </a:xfrm>
            <a:custGeom>
              <a:avLst/>
              <a:gdLst/>
              <a:ahLst/>
              <a:cxnLst/>
              <a:rect l="l" t="t" r="r" b="b"/>
              <a:pathLst>
                <a:path w="3525520" h="352425">
                  <a:moveTo>
                    <a:pt x="3525012" y="0"/>
                  </a:moveTo>
                  <a:lnTo>
                    <a:pt x="0" y="0"/>
                  </a:lnTo>
                  <a:lnTo>
                    <a:pt x="0" y="352044"/>
                  </a:lnTo>
                  <a:lnTo>
                    <a:pt x="3525012" y="352044"/>
                  </a:lnTo>
                  <a:lnTo>
                    <a:pt x="3525012" y="0"/>
                  </a:lnTo>
                  <a:close/>
                </a:path>
              </a:pathLst>
            </a:custGeom>
            <a:solidFill>
              <a:srgbClr val="D9D9D9"/>
            </a:solidFill>
          </p:spPr>
          <p:txBody>
            <a:bodyPr wrap="square" lIns="0" tIns="0" rIns="0" bIns="0" rtlCol="0"/>
            <a:lstStyle/>
            <a:p>
              <a:endParaRPr sz="1200">
                <a:latin typeface="Times New Roman"/>
                <a:cs typeface="Times New Roman"/>
              </a:endParaRPr>
            </a:p>
          </p:txBody>
        </p:sp>
      </p:grpSp>
      <p:sp>
        <p:nvSpPr>
          <p:cNvPr id="10" name="object 10" descr="$PPTXTitle"/>
          <p:cNvSpPr txBox="1">
            <a:spLocks noGrp="1"/>
          </p:cNvSpPr>
          <p:nvPr>
            <p:ph type="title"/>
          </p:nvPr>
        </p:nvSpPr>
        <p:spPr>
          <a:prstGeom prst="rect">
            <a:avLst/>
          </a:prstGeom>
        </p:spPr>
        <p:txBody>
          <a:bodyPr vert="horz" wrap="square" lIns="0" tIns="578358" rIns="0" bIns="0" rtlCol="0">
            <a:spAutoFit/>
          </a:bodyPr>
          <a:lstStyle/>
          <a:p>
            <a:pPr marL="459105">
              <a:lnSpc>
                <a:spcPct val="100000"/>
              </a:lnSpc>
              <a:spcBef>
                <a:spcPts val="105"/>
              </a:spcBef>
            </a:pPr>
            <a:r>
              <a:rPr spc="-10" dirty="0">
                <a:solidFill>
                  <a:srgbClr val="38AA00"/>
                </a:solidFill>
                <a:latin typeface="Times New Roman"/>
                <a:cs typeface="Times New Roman"/>
              </a:rPr>
              <a:t>Objetivo</a:t>
            </a:r>
            <a:r>
              <a:rPr spc="-180" dirty="0">
                <a:solidFill>
                  <a:srgbClr val="38AA00"/>
                </a:solidFill>
                <a:latin typeface="Times New Roman"/>
                <a:cs typeface="Times New Roman"/>
              </a:rPr>
              <a:t> </a:t>
            </a:r>
            <a:r>
              <a:rPr spc="-10" dirty="0">
                <a:solidFill>
                  <a:srgbClr val="38AA00"/>
                </a:solidFill>
                <a:latin typeface="Times New Roman"/>
                <a:cs typeface="Times New Roman"/>
              </a:rPr>
              <a:t>General</a:t>
            </a:r>
          </a:p>
        </p:txBody>
      </p:sp>
      <p:sp>
        <p:nvSpPr>
          <p:cNvPr id="11" name="object 11"/>
          <p:cNvSpPr txBox="1"/>
          <p:nvPr/>
        </p:nvSpPr>
        <p:spPr>
          <a:xfrm>
            <a:off x="474065" y="1431163"/>
            <a:ext cx="4325620" cy="1122680"/>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Times New Roman"/>
                <a:cs typeface="Times New Roman"/>
              </a:rPr>
              <a:t>Desarrollar</a:t>
            </a:r>
            <a:r>
              <a:rPr sz="1200" spc="-40" dirty="0">
                <a:latin typeface="Times New Roman"/>
                <a:cs typeface="Times New Roman"/>
              </a:rPr>
              <a:t> </a:t>
            </a:r>
            <a:r>
              <a:rPr sz="1200" dirty="0">
                <a:latin typeface="Times New Roman"/>
                <a:cs typeface="Times New Roman"/>
              </a:rPr>
              <a:t>el</a:t>
            </a:r>
            <a:r>
              <a:rPr sz="1200" spc="-30" dirty="0">
                <a:latin typeface="Times New Roman"/>
                <a:cs typeface="Times New Roman"/>
              </a:rPr>
              <a:t> </a:t>
            </a:r>
            <a:r>
              <a:rPr sz="1200" dirty="0">
                <a:latin typeface="Times New Roman"/>
                <a:cs typeface="Times New Roman"/>
              </a:rPr>
              <a:t>sistema</a:t>
            </a:r>
            <a:r>
              <a:rPr sz="1200" spc="-40" dirty="0">
                <a:latin typeface="Times New Roman"/>
                <a:cs typeface="Times New Roman"/>
              </a:rPr>
              <a:t> </a:t>
            </a:r>
            <a:r>
              <a:rPr sz="1200" dirty="0">
                <a:latin typeface="Times New Roman"/>
                <a:cs typeface="Times New Roman"/>
              </a:rPr>
              <a:t>de</a:t>
            </a:r>
            <a:r>
              <a:rPr sz="1200" spc="-20" dirty="0">
                <a:latin typeface="Times New Roman"/>
                <a:cs typeface="Times New Roman"/>
              </a:rPr>
              <a:t> </a:t>
            </a:r>
            <a:r>
              <a:rPr sz="1200" dirty="0">
                <a:latin typeface="Times New Roman"/>
                <a:cs typeface="Times New Roman"/>
              </a:rPr>
              <a:t>información</a:t>
            </a:r>
            <a:r>
              <a:rPr sz="1200" spc="-10" dirty="0">
                <a:latin typeface="Times New Roman"/>
                <a:cs typeface="Times New Roman"/>
              </a:rPr>
              <a:t> </a:t>
            </a:r>
            <a:r>
              <a:rPr sz="1200" spc="-25" dirty="0">
                <a:latin typeface="Times New Roman"/>
                <a:cs typeface="Times New Roman"/>
              </a:rPr>
              <a:t>web </a:t>
            </a:r>
            <a:r>
              <a:rPr sz="1200" spc="-10" dirty="0">
                <a:latin typeface="Times New Roman"/>
                <a:cs typeface="Times New Roman"/>
              </a:rPr>
              <a:t>denominado</a:t>
            </a:r>
            <a:r>
              <a:rPr sz="1200" spc="-20" dirty="0">
                <a:latin typeface="Times New Roman"/>
                <a:cs typeface="Times New Roman"/>
              </a:rPr>
              <a:t> </a:t>
            </a:r>
            <a:r>
              <a:rPr sz="1200" dirty="0">
                <a:latin typeface="Times New Roman"/>
                <a:cs typeface="Times New Roman"/>
              </a:rPr>
              <a:t>Control</a:t>
            </a:r>
            <a:r>
              <a:rPr sz="1200" spc="-15" dirty="0">
                <a:latin typeface="Times New Roman"/>
                <a:cs typeface="Times New Roman"/>
              </a:rPr>
              <a:t> </a:t>
            </a:r>
            <a:r>
              <a:rPr sz="1200" dirty="0">
                <a:latin typeface="Times New Roman"/>
                <a:cs typeface="Times New Roman"/>
              </a:rPr>
              <a:t>Store</a:t>
            </a:r>
            <a:r>
              <a:rPr sz="1200" spc="-30" dirty="0">
                <a:latin typeface="Times New Roman"/>
                <a:cs typeface="Times New Roman"/>
              </a:rPr>
              <a:t> </a:t>
            </a:r>
            <a:r>
              <a:rPr sz="1200" dirty="0">
                <a:latin typeface="Times New Roman"/>
                <a:cs typeface="Times New Roman"/>
              </a:rPr>
              <a:t>para</a:t>
            </a:r>
            <a:r>
              <a:rPr sz="1200" spc="-15" dirty="0">
                <a:latin typeface="Times New Roman"/>
                <a:cs typeface="Times New Roman"/>
              </a:rPr>
              <a:t> </a:t>
            </a:r>
            <a:r>
              <a:rPr sz="1200" dirty="0">
                <a:latin typeface="Times New Roman"/>
                <a:cs typeface="Times New Roman"/>
              </a:rPr>
              <a:t>apoyar</a:t>
            </a:r>
            <a:r>
              <a:rPr sz="1200" spc="-30" dirty="0">
                <a:latin typeface="Times New Roman"/>
                <a:cs typeface="Times New Roman"/>
              </a:rPr>
              <a:t> </a:t>
            </a:r>
            <a:r>
              <a:rPr sz="1200" spc="-25" dirty="0">
                <a:latin typeface="Times New Roman"/>
                <a:cs typeface="Times New Roman"/>
              </a:rPr>
              <a:t>los </a:t>
            </a:r>
            <a:r>
              <a:rPr sz="1200" dirty="0">
                <a:latin typeface="Times New Roman"/>
                <a:cs typeface="Times New Roman"/>
              </a:rPr>
              <a:t>procesos</a:t>
            </a:r>
            <a:r>
              <a:rPr sz="1200" spc="-55" dirty="0">
                <a:latin typeface="Times New Roman"/>
                <a:cs typeface="Times New Roman"/>
              </a:rPr>
              <a:t> </a:t>
            </a:r>
            <a:r>
              <a:rPr sz="1200" dirty="0">
                <a:latin typeface="Times New Roman"/>
                <a:cs typeface="Times New Roman"/>
              </a:rPr>
              <a:t>internos</a:t>
            </a:r>
            <a:r>
              <a:rPr sz="1200" spc="-40" dirty="0">
                <a:latin typeface="Times New Roman"/>
                <a:cs typeface="Times New Roman"/>
              </a:rPr>
              <a:t> </a:t>
            </a:r>
            <a:r>
              <a:rPr sz="1200" dirty="0">
                <a:latin typeface="Times New Roman"/>
                <a:cs typeface="Times New Roman"/>
              </a:rPr>
              <a:t>de</a:t>
            </a:r>
            <a:r>
              <a:rPr sz="1200" spc="-45" dirty="0">
                <a:latin typeface="Times New Roman"/>
                <a:cs typeface="Times New Roman"/>
              </a:rPr>
              <a:t> </a:t>
            </a:r>
            <a:r>
              <a:rPr sz="1200" dirty="0">
                <a:latin typeface="Times New Roman"/>
                <a:cs typeface="Times New Roman"/>
              </a:rPr>
              <a:t>inventario,</a:t>
            </a:r>
            <a:r>
              <a:rPr sz="1200" spc="-35" dirty="0">
                <a:latin typeface="Times New Roman"/>
                <a:cs typeface="Times New Roman"/>
              </a:rPr>
              <a:t> </a:t>
            </a:r>
            <a:r>
              <a:rPr sz="1200" dirty="0">
                <a:latin typeface="Times New Roman"/>
                <a:cs typeface="Times New Roman"/>
              </a:rPr>
              <a:t>ventas,</a:t>
            </a:r>
            <a:r>
              <a:rPr sz="1200" spc="-55" dirty="0">
                <a:latin typeface="Times New Roman"/>
                <a:cs typeface="Times New Roman"/>
              </a:rPr>
              <a:t> </a:t>
            </a:r>
            <a:r>
              <a:rPr sz="1200" dirty="0">
                <a:latin typeface="Times New Roman"/>
                <a:cs typeface="Times New Roman"/>
              </a:rPr>
              <a:t>caja</a:t>
            </a:r>
            <a:r>
              <a:rPr sz="1200" spc="-50" dirty="0">
                <a:latin typeface="Times New Roman"/>
                <a:cs typeface="Times New Roman"/>
              </a:rPr>
              <a:t> y </a:t>
            </a:r>
            <a:r>
              <a:rPr sz="1200" dirty="0">
                <a:latin typeface="Times New Roman"/>
                <a:cs typeface="Times New Roman"/>
              </a:rPr>
              <a:t>domicilios</a:t>
            </a:r>
            <a:r>
              <a:rPr sz="1200" spc="-20" dirty="0">
                <a:latin typeface="Times New Roman"/>
                <a:cs typeface="Times New Roman"/>
              </a:rPr>
              <a:t> </a:t>
            </a:r>
            <a:r>
              <a:rPr sz="1200" dirty="0">
                <a:latin typeface="Times New Roman"/>
                <a:cs typeface="Times New Roman"/>
              </a:rPr>
              <a:t>del</a:t>
            </a:r>
            <a:r>
              <a:rPr sz="1200" spc="-35" dirty="0">
                <a:latin typeface="Times New Roman"/>
                <a:cs typeface="Times New Roman"/>
              </a:rPr>
              <a:t> </a:t>
            </a:r>
            <a:r>
              <a:rPr sz="1200" dirty="0">
                <a:latin typeface="Times New Roman"/>
                <a:cs typeface="Times New Roman"/>
              </a:rPr>
              <a:t>Autoservicio</a:t>
            </a:r>
            <a:r>
              <a:rPr sz="1200" spc="-35" dirty="0">
                <a:latin typeface="Times New Roman"/>
                <a:cs typeface="Times New Roman"/>
              </a:rPr>
              <a:t> </a:t>
            </a:r>
            <a:r>
              <a:rPr sz="1200" spc="-10" dirty="0">
                <a:latin typeface="Times New Roman"/>
                <a:cs typeface="Times New Roman"/>
              </a:rPr>
              <a:t>Ayuelal.</a:t>
            </a:r>
            <a:endParaRPr sz="1200">
              <a:latin typeface="Times New Roman"/>
              <a:cs typeface="Times New Roman"/>
            </a:endParaRPr>
          </a:p>
        </p:txBody>
      </p:sp>
      <p:sp>
        <p:nvSpPr>
          <p:cNvPr id="12" name="object 12"/>
          <p:cNvSpPr/>
          <p:nvPr/>
        </p:nvSpPr>
        <p:spPr>
          <a:xfrm>
            <a:off x="292608" y="2965704"/>
            <a:ext cx="4163695" cy="342900"/>
          </a:xfrm>
          <a:custGeom>
            <a:avLst/>
            <a:gdLst/>
            <a:ahLst/>
            <a:cxnLst/>
            <a:rect l="l" t="t" r="r" b="b"/>
            <a:pathLst>
              <a:path w="4163695" h="342900">
                <a:moveTo>
                  <a:pt x="4163567" y="0"/>
                </a:moveTo>
                <a:lnTo>
                  <a:pt x="0" y="0"/>
                </a:lnTo>
                <a:lnTo>
                  <a:pt x="0" y="342900"/>
                </a:lnTo>
                <a:lnTo>
                  <a:pt x="4163567" y="342900"/>
                </a:lnTo>
                <a:lnTo>
                  <a:pt x="4163567" y="0"/>
                </a:lnTo>
                <a:close/>
              </a:path>
            </a:pathLst>
          </a:custGeom>
          <a:solidFill>
            <a:srgbClr val="D9D9D9"/>
          </a:solidFill>
        </p:spPr>
        <p:txBody>
          <a:bodyPr wrap="square" lIns="0" tIns="0" rIns="0" bIns="0" rtlCol="0"/>
          <a:lstStyle/>
          <a:p>
            <a:endParaRPr sz="1200">
              <a:latin typeface="Times New Roman"/>
              <a:cs typeface="Times New Roman"/>
            </a:endParaRPr>
          </a:p>
        </p:txBody>
      </p:sp>
      <p:sp>
        <p:nvSpPr>
          <p:cNvPr id="13" name="object 13"/>
          <p:cNvSpPr txBox="1"/>
          <p:nvPr/>
        </p:nvSpPr>
        <p:spPr>
          <a:xfrm>
            <a:off x="294233" y="2835656"/>
            <a:ext cx="4572000" cy="513715"/>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38AA00"/>
                </a:solidFill>
                <a:latin typeface="Times New Roman"/>
                <a:cs typeface="Times New Roman"/>
              </a:rPr>
              <a:t>Objetivos Específicos</a:t>
            </a:r>
            <a:r>
              <a:rPr sz="3200" spc="-229" dirty="0">
                <a:solidFill>
                  <a:srgbClr val="38AA00"/>
                </a:solidFill>
                <a:latin typeface="Times New Roman"/>
                <a:cs typeface="Times New Roman"/>
              </a:rPr>
              <a:t/>
            </a:r>
            <a:r>
              <a:rPr sz="3200" spc="-10" dirty="0">
                <a:solidFill>
                  <a:srgbClr val="38AA00"/>
                </a:solidFill>
                <a:latin typeface="Times New Roman"/>
                <a:cs typeface="Times New Roman"/>
              </a:rPr>
              <a:t/>
            </a:r>
            <a:endParaRPr sz="3200">
              <a:latin typeface="Times New Roman"/>
              <a:cs typeface="Times New Roman"/>
            </a:endParaRPr>
          </a:p>
        </p:txBody>
      </p:sp>
      <p:pic>
        <p:nvPicPr>
          <p:cNvPr id="15" name="object 15"/>
          <p:cNvPicPr/>
          <p:nvPr/>
        </p:nvPicPr>
        <p:blipFill>
          <a:blip r:embed="rId6" cstate="print"/>
          <a:stretch>
            <a:fillRect/>
          </a:stretch>
        </p:blipFill>
        <p:spPr>
          <a:xfrm>
            <a:off x="8211819" y="197865"/>
            <a:ext cx="2642489" cy="972692"/>
          </a:xfrm>
          <a:prstGeom prst="rect">
            <a:avLst/>
          </a:prstGeom>
        </p:spPr>
      </p:pic>
      <p:sp>
        <p:nvSpPr>
          <p:cNvPr id="16" name="Rounded Rectangle 15"/>
          <p:cNvSpPr/>
          <p:nvPr/>
        </p:nvSpPr>
        <p:spPr>
          <a:xfrm>
            <a:off x="411480" y="3657600"/>
            <a:ext cx="2130552" cy="15087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76072" y="3447288"/>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1</a:t>
            </a:r>
          </a:p>
        </p:txBody>
      </p:sp>
      <p:sp>
        <p:nvSpPr>
          <p:cNvPr id="18" name="TextBox 17"/>
          <p:cNvSpPr txBox="1"/>
          <p:nvPr/>
        </p:nvSpPr>
        <p:spPr>
          <a:xfrm>
            <a:off x="1069848" y="3675887"/>
            <a:ext cx="135331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Usuarios</a:t>
            </a:r>
          </a:p>
        </p:txBody>
      </p:sp>
      <p:sp>
        <p:nvSpPr>
          <p:cNvPr id="19" name="TextBox 18"/>
          <p:cNvSpPr txBox="1"/>
          <p:nvPr/>
        </p:nvSpPr>
        <p:spPr>
          <a:xfrm>
            <a:off x="576072" y="4069080"/>
            <a:ext cx="1801368" cy="10058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Desarrollar el módulo de usuarios para controlar el acceso y la administración del sistema.</a:t>
            </a:r>
          </a:p>
        </p:txBody>
      </p:sp>
      <p:sp>
        <p:nvSpPr>
          <p:cNvPr id="20" name="Rounded Rectangle 19"/>
          <p:cNvSpPr/>
          <p:nvPr/>
        </p:nvSpPr>
        <p:spPr>
          <a:xfrm>
            <a:off x="2697480" y="3657600"/>
            <a:ext cx="2130552" cy="15087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2862072" y="3447288"/>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2</a:t>
            </a:r>
          </a:p>
        </p:txBody>
      </p:sp>
      <p:sp>
        <p:nvSpPr>
          <p:cNvPr id="22" name="TextBox 21"/>
          <p:cNvSpPr txBox="1"/>
          <p:nvPr/>
        </p:nvSpPr>
        <p:spPr>
          <a:xfrm>
            <a:off x="3355848" y="3675887"/>
            <a:ext cx="135331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Inventario</a:t>
            </a:r>
          </a:p>
        </p:txBody>
      </p:sp>
      <p:sp>
        <p:nvSpPr>
          <p:cNvPr id="23" name="TextBox 22"/>
          <p:cNvSpPr txBox="1"/>
          <p:nvPr/>
        </p:nvSpPr>
        <p:spPr>
          <a:xfrm>
            <a:off x="2862072" y="4069080"/>
            <a:ext cx="1801368" cy="10058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Desarrollar el módulo de inventario para gestionar productos, cantidades y vencimientos.</a:t>
            </a:r>
          </a:p>
        </p:txBody>
      </p:sp>
      <p:sp>
        <p:nvSpPr>
          <p:cNvPr id="24" name="Rounded Rectangle 23"/>
          <p:cNvSpPr/>
          <p:nvPr/>
        </p:nvSpPr>
        <p:spPr>
          <a:xfrm>
            <a:off x="4983480" y="3657600"/>
            <a:ext cx="2130552" cy="15087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148072" y="3447288"/>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3</a:t>
            </a:r>
          </a:p>
        </p:txBody>
      </p:sp>
      <p:sp>
        <p:nvSpPr>
          <p:cNvPr id="26" name="TextBox 25"/>
          <p:cNvSpPr txBox="1"/>
          <p:nvPr/>
        </p:nvSpPr>
        <p:spPr>
          <a:xfrm>
            <a:off x="5641848" y="3675887"/>
            <a:ext cx="135331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Ventas</a:t>
            </a:r>
          </a:p>
        </p:txBody>
      </p:sp>
      <p:sp>
        <p:nvSpPr>
          <p:cNvPr id="27" name="TextBox 26"/>
          <p:cNvSpPr txBox="1"/>
          <p:nvPr/>
        </p:nvSpPr>
        <p:spPr>
          <a:xfrm>
            <a:off x="5148072" y="4069080"/>
            <a:ext cx="1801368" cy="10058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Desarrollar el módulo de ventas para registrar transacciones de forma automática y reducir errores.</a:t>
            </a:r>
          </a:p>
        </p:txBody>
      </p:sp>
      <p:sp>
        <p:nvSpPr>
          <p:cNvPr id="28" name="Rounded Rectangle 27"/>
          <p:cNvSpPr/>
          <p:nvPr/>
        </p:nvSpPr>
        <p:spPr>
          <a:xfrm>
            <a:off x="7269480" y="3657600"/>
            <a:ext cx="2130552" cy="15087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34072" y="3447288"/>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4</a:t>
            </a:r>
          </a:p>
        </p:txBody>
      </p:sp>
      <p:sp>
        <p:nvSpPr>
          <p:cNvPr id="30" name="TextBox 29"/>
          <p:cNvSpPr txBox="1"/>
          <p:nvPr/>
        </p:nvSpPr>
        <p:spPr>
          <a:xfrm>
            <a:off x="7927848" y="3675887"/>
            <a:ext cx="135331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Caja</a:t>
            </a:r>
          </a:p>
        </p:txBody>
      </p:sp>
      <p:sp>
        <p:nvSpPr>
          <p:cNvPr id="31" name="TextBox 30"/>
          <p:cNvSpPr txBox="1"/>
          <p:nvPr/>
        </p:nvSpPr>
        <p:spPr>
          <a:xfrm>
            <a:off x="7434072" y="4069080"/>
            <a:ext cx="1801368" cy="10058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Desarrollar el módulo de caja para controlar el dinero y analizar ingresos y egresos.</a:t>
            </a:r>
          </a:p>
        </p:txBody>
      </p:sp>
      <p:sp>
        <p:nvSpPr>
          <p:cNvPr id="32" name="Rounded Rectangle 31"/>
          <p:cNvSpPr/>
          <p:nvPr/>
        </p:nvSpPr>
        <p:spPr>
          <a:xfrm>
            <a:off x="9555480" y="3657600"/>
            <a:ext cx="2130552" cy="15087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720072" y="3447288"/>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5</a:t>
            </a:r>
          </a:p>
        </p:txBody>
      </p:sp>
      <p:sp>
        <p:nvSpPr>
          <p:cNvPr id="34" name="TextBox 33"/>
          <p:cNvSpPr txBox="1"/>
          <p:nvPr/>
        </p:nvSpPr>
        <p:spPr>
          <a:xfrm>
            <a:off x="10213848" y="3675887"/>
            <a:ext cx="135331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Domicilios</a:t>
            </a:r>
          </a:p>
        </p:txBody>
      </p:sp>
      <p:sp>
        <p:nvSpPr>
          <p:cNvPr id="35" name="TextBox 34"/>
          <p:cNvSpPr txBox="1"/>
          <p:nvPr/>
        </p:nvSpPr>
        <p:spPr>
          <a:xfrm>
            <a:off x="9720072" y="4069080"/>
            <a:ext cx="1801368" cy="10058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Desarrollar el módulo de domicilios para registrar, controlar y generar reportes de pedidos.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4400" spc="135" dirty="0">
                <a:latin typeface="Times New Roman"/>
                <a:cs typeface="Times New Roman"/>
              </a:rPr>
              <a:t>Justificación</a:t>
            </a:r>
            <a:endParaRPr sz="4400">
              <a:latin typeface="Times New Roman"/>
              <a:cs typeface="Times New Roman"/>
            </a:endParaRPr>
          </a:p>
        </p:txBody>
      </p:sp>
      <p:sp>
        <p:nvSpPr>
          <p:cNvPr id="3" name="object 3"/>
          <p:cNvSpPr txBox="1"/>
          <p:nvPr/>
        </p:nvSpPr>
        <p:spPr>
          <a:xfrm>
            <a:off x="8700516" y="509016"/>
            <a:ext cx="1077595" cy="544195"/>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896347" y="460705"/>
            <a:ext cx="806450" cy="522605"/>
          </a:xfrm>
          <a:prstGeom prst="rect">
            <a:avLst/>
          </a:prstGeom>
        </p:spPr>
        <p:txBody>
          <a:bodyPr vert="horz" wrap="square" lIns="0" tIns="12700" rIns="0" bIns="0" rtlCol="0">
            <a:spAutoFit/>
          </a:bodyPr>
          <a:lstStyle/>
          <a:p>
            <a:pPr marL="12700" marR="5080" indent="190500">
              <a:lnSpc>
                <a:spcPct val="105200"/>
              </a:lnSpc>
              <a:spcBef>
                <a:spcPts val="100"/>
              </a:spcBef>
            </a:pPr>
            <a:r>
              <a:rPr sz="1200" spc="-20" dirty="0">
                <a:solidFill>
                  <a:srgbClr val="FFFFFF"/>
                </a:solidFill>
                <a:latin typeface="Times New Roman"/>
                <a:cs typeface="Times New Roman"/>
              </a:rPr>
              <a:t>Logo </a:t>
            </a:r>
            <a:r>
              <a:rPr sz="1200" spc="-10" dirty="0">
                <a:solidFill>
                  <a:srgbClr val="FFFFFF"/>
                </a:solidFill>
                <a:latin typeface="Times New Roman"/>
                <a:cs typeface="Times New Roman"/>
              </a:rPr>
              <a:t>Empresa</a:t>
            </a:r>
            <a:endParaRPr sz="1200">
              <a:latin typeface="Times New Roman"/>
              <a:cs typeface="Times New Roman"/>
            </a:endParaRPr>
          </a:p>
        </p:txBody>
      </p:sp>
      <p:sp>
        <p:nvSpPr>
          <p:cNvPr id="5" name="object 5"/>
          <p:cNvSpPr txBox="1"/>
          <p:nvPr/>
        </p:nvSpPr>
        <p:spPr>
          <a:xfrm>
            <a:off x="457200" y="1645920"/>
            <a:ext cx="11274552" cy="966931"/>
          </a:xfrm>
          <a:prstGeom prst="rect">
            <a:avLst/>
          </a:prstGeom>
        </p:spPr>
        <p:txBody>
          <a:bodyPr vert="horz" wrap="square" lIns="0" tIns="12700" rIns="0" bIns="0" rtlCol="0">
            <a:spAutoFit/>
          </a:bodyPr>
          <a:lstStyle/>
          <a:p>
            <a:pPr algn="just">
              <a:lnSpc>
                <a:spcPct val="100000"/>
              </a:lnSpc>
              <a:spcAft>
                <a:spcPts val="800"/>
              </a:spcAft>
            </a:pPr>
            <a:r>
              <a:rPr sz="1200" b="0" i="0">
                <a:solidFill>
                  <a:srgbClr val="222222"/>
                </a:solidFill>
                <a:latin typeface="Times New Roman"/>
                <a:cs typeface="Times New Roman"/>
              </a:rPr>
              <a:t>Control Store busca mejorar la gestión del Autoservicio Ayuelal mediante la automatización de sus principales procesos, reduciendo errores, desorganización y pérdida de información. El sistema beneficiará principalmente al administrador y a los empleados, y de manera indirecta a los clientes. La siguiente matriz resume el aporte de cada módulo.</a:t>
            </a:r>
            <a:endParaRPr lang="es-CO" sz="1200" spc="-10" dirty="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9773411" y="486155"/>
              <a:ext cx="1304544" cy="589788"/>
            </a:xfrm>
            <a:prstGeom prst="rect">
              <a:avLst/>
            </a:prstGeom>
          </p:spPr>
        </p:pic>
        <p:pic>
          <p:nvPicPr>
            <p:cNvPr id="8" name="object 8"/>
            <p:cNvPicPr/>
            <p:nvPr/>
          </p:nvPicPr>
          <p:blipFill>
            <a:blip r:embed="rId3" cstate="print"/>
            <a:stretch>
              <a:fillRect/>
            </a:stretch>
          </p:blipFill>
          <p:spPr>
            <a:xfrm>
              <a:off x="8695943" y="457200"/>
              <a:ext cx="1077468" cy="647700"/>
            </a:xfrm>
            <a:prstGeom prst="rect">
              <a:avLst/>
            </a:prstGeom>
          </p:spPr>
        </p:pic>
      </p:grpSp>
      <p:graphicFrame>
        <p:nvGraphicFramePr>
          <p:cNvPr id="9" name="Table 8"/>
          <p:cNvGraphicFramePr>
            <a:graphicFrameLocks noGrp="1"/>
          </p:cNvGraphicFramePr>
          <p:nvPr/>
        </p:nvGraphicFramePr>
        <p:xfrm>
          <a:off x="457200" y="2514600"/>
          <a:ext cx="11274552" cy="3401568"/>
        </p:xfrm>
        <a:graphic>
          <a:graphicData uri="http://schemas.openxmlformats.org/drawingml/2006/table">
            <a:tbl>
              <a:tblPr firstRow="1" bandRow="0">
                <a:tableStyleId>{5C22544A-7EE6-4342-B048-85BDC9FD1C3A}</a:tableStyleId>
              </a:tblPr>
              <a:tblGrid>
                <a:gridCol w="1920240"/>
                <a:gridCol w="3246120"/>
                <a:gridCol w="3246120"/>
                <a:gridCol w="2862072"/>
              </a:tblGrid>
              <a:tr h="566928">
                <a:tc>
                  <a:txBody>
                    <a:bodyPr/>
                    <a:lstStyle/>
                    <a:p>
                      <a:pPr algn="l">
                        <a:lnSpc>
                          <a:spcPct val="100000"/>
                        </a:lnSpc>
                        <a:spcAft>
                          <a:spcPts val="0"/>
                        </a:spcAft>
                      </a:pPr>
                      <a:r>
                        <a:rPr sz="1200" b="1" i="0">
                          <a:solidFill>
                            <a:srgbClr val="FFFFFF"/>
                          </a:solidFill>
                          <a:latin typeface="Times New Roman"/>
                          <a:cs typeface="Times New Roman"/>
                        </a:rPr>
                        <a:t>Módulo</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Objetivo</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Beneficio</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Beneficiarios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r>
              <a:tr h="566928">
                <a:tc>
                  <a:txBody>
                    <a:bodyPr/>
                    <a:lstStyle/>
                    <a:p>
                      <a:pPr algn="l">
                        <a:lnSpc>
                          <a:spcPct val="100000"/>
                        </a:lnSpc>
                        <a:spcAft>
                          <a:spcPts val="0"/>
                        </a:spcAft>
                      </a:pPr>
                      <a:r>
                        <a:rPr sz="1200" b="1" i="0">
                          <a:solidFill>
                            <a:srgbClr val="2A7A00"/>
                          </a:solidFill>
                          <a:latin typeface="Times New Roman"/>
                          <a:cs typeface="Times New Roman"/>
                        </a:rPr>
                        <a:t>Usuarios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Controlar el acceso y los permisos.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Mayor seguridad y organización.</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Administrador y empleados.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566928">
                <a:tc>
                  <a:txBody>
                    <a:bodyPr/>
                    <a:lstStyle/>
                    <a:p>
                      <a:pPr algn="l">
                        <a:lnSpc>
                          <a:spcPct val="100000"/>
                        </a:lnSpc>
                        <a:spcAft>
                          <a:spcPts val="0"/>
                        </a:spcAft>
                      </a:pPr>
                      <a:r>
                        <a:rPr sz="1200" b="1" i="0">
                          <a:solidFill>
                            <a:srgbClr val="2A7A00"/>
                          </a:solidFill>
                          <a:latin typeface="Times New Roman"/>
                          <a:cs typeface="Times New Roman"/>
                        </a:rPr>
                        <a:t>Inventario</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Gestionar productos, existencias y vencimientos.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Mejor control del stock y reducción de errores.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Administrador, empleados y clientes.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r h="566928">
                <a:tc>
                  <a:txBody>
                    <a:bodyPr/>
                    <a:lstStyle/>
                    <a:p>
                      <a:pPr algn="l">
                        <a:lnSpc>
                          <a:spcPct val="100000"/>
                        </a:lnSpc>
                        <a:spcAft>
                          <a:spcPts val="0"/>
                        </a:spcAft>
                      </a:pPr>
                      <a:r>
                        <a:rPr sz="1200" b="1" i="0">
                          <a:solidFill>
                            <a:srgbClr val="2A7A00"/>
                          </a:solidFill>
                          <a:latin typeface="Times New Roman"/>
                          <a:cs typeface="Times New Roman"/>
                        </a:rPr>
                        <a:t>Ventas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Registrar las ventas de forma automática.</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Agiliza la atención y reduce errores.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Empleados, administrador y clientes.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566928">
                <a:tc>
                  <a:txBody>
                    <a:bodyPr/>
                    <a:lstStyle/>
                    <a:p>
                      <a:pPr algn="l">
                        <a:lnSpc>
                          <a:spcPct val="100000"/>
                        </a:lnSpc>
                        <a:spcAft>
                          <a:spcPts val="0"/>
                        </a:spcAft>
                      </a:pPr>
                      <a:r>
                        <a:rPr sz="1200" b="1" i="0">
                          <a:solidFill>
                            <a:srgbClr val="2A7A00"/>
                          </a:solidFill>
                          <a:latin typeface="Times New Roman"/>
                          <a:cs typeface="Times New Roman"/>
                        </a:rPr>
                        <a:t>Caja</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Controlar ingresos y egresos.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Reduce descuadres y mejora el control del dinero.</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Administrador y empleados.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r h="566928">
                <a:tc>
                  <a:txBody>
                    <a:bodyPr/>
                    <a:lstStyle/>
                    <a:p>
                      <a:pPr algn="l">
                        <a:lnSpc>
                          <a:spcPct val="100000"/>
                        </a:lnSpc>
                        <a:spcAft>
                          <a:spcPts val="0"/>
                        </a:spcAft>
                      </a:pPr>
                      <a:r>
                        <a:rPr sz="1200" b="1" i="0">
                          <a:solidFill>
                            <a:srgbClr val="2A7A00"/>
                          </a:solidFill>
                          <a:latin typeface="Times New Roman"/>
                          <a:cs typeface="Times New Roman"/>
                        </a:rPr>
                        <a:t>Domicilios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Registrar y controlar los pedidos.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Mayor organización y trazabilidad.</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Administrador, empleados, domiciliario y clientes.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6F3AD-03C5-93A0-D042-3E3513B1CBD9}"/>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EEE62853-D9ED-9D69-56CA-A76412E2BC15}"/>
              </a:ext>
            </a:extLst>
          </p:cNvPr>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4400" spc="135" dirty="0">
                <a:latin typeface="Times New Roman"/>
                <a:cs typeface="Times New Roman"/>
              </a:rPr>
              <a:t>Justificación</a:t>
            </a:r>
            <a:endParaRPr sz="4400">
              <a:latin typeface="Times New Roman"/>
              <a:cs typeface="Times New Roman"/>
            </a:endParaRPr>
          </a:p>
        </p:txBody>
      </p:sp>
      <p:sp>
        <p:nvSpPr>
          <p:cNvPr id="3" name="object 3">
            <a:extLst>
              <a:ext uri="{FF2B5EF4-FFF2-40B4-BE49-F238E27FC236}">
                <a16:creationId xmlns:a16="http://schemas.microsoft.com/office/drawing/2014/main" id="{48878D4D-8D24-446C-34A4-F6EB9180D0A4}"/>
              </a:ext>
            </a:extLst>
          </p:cNvPr>
          <p:cNvSpPr txBox="1"/>
          <p:nvPr/>
        </p:nvSpPr>
        <p:spPr>
          <a:xfrm>
            <a:off x="8700516" y="509016"/>
            <a:ext cx="1077595" cy="544195"/>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a:extLst>
              <a:ext uri="{FF2B5EF4-FFF2-40B4-BE49-F238E27FC236}">
                <a16:creationId xmlns:a16="http://schemas.microsoft.com/office/drawing/2014/main" id="{1178C3A2-2E3B-A059-B16F-376D4EB98DE5}"/>
              </a:ext>
            </a:extLst>
          </p:cNvPr>
          <p:cNvSpPr txBox="1"/>
          <p:nvPr/>
        </p:nvSpPr>
        <p:spPr>
          <a:xfrm>
            <a:off x="9896347" y="460705"/>
            <a:ext cx="806450" cy="522605"/>
          </a:xfrm>
          <a:prstGeom prst="rect">
            <a:avLst/>
          </a:prstGeom>
        </p:spPr>
        <p:txBody>
          <a:bodyPr vert="horz" wrap="square" lIns="0" tIns="12700" rIns="0" bIns="0" rtlCol="0">
            <a:spAutoFit/>
          </a:bodyPr>
          <a:lstStyle/>
          <a:p>
            <a:pPr marL="12700" marR="5080" indent="190500">
              <a:lnSpc>
                <a:spcPct val="105200"/>
              </a:lnSpc>
              <a:spcBef>
                <a:spcPts val="100"/>
              </a:spcBef>
            </a:pPr>
            <a:r>
              <a:rPr sz="1200" spc="-20" dirty="0">
                <a:solidFill>
                  <a:srgbClr val="FFFFFF"/>
                </a:solidFill>
                <a:latin typeface="Times New Roman"/>
                <a:cs typeface="Times New Roman"/>
              </a:rPr>
              <a:t>Logo </a:t>
            </a:r>
            <a:r>
              <a:rPr sz="1200" spc="-10" dirty="0">
                <a:solidFill>
                  <a:srgbClr val="FFFFFF"/>
                </a:solidFill>
                <a:latin typeface="Times New Roman"/>
                <a:cs typeface="Times New Roman"/>
              </a:rPr>
              <a:t>Empresa</a:t>
            </a:r>
            <a:endParaRPr sz="1200">
              <a:latin typeface="Times New Roman"/>
              <a:cs typeface="Times New Roman"/>
            </a:endParaRPr>
          </a:p>
        </p:txBody>
      </p:sp>
      <p:sp>
        <p:nvSpPr>
          <p:cNvPr id="5" name="object 5">
            <a:extLst>
              <a:ext uri="{FF2B5EF4-FFF2-40B4-BE49-F238E27FC236}">
                <a16:creationId xmlns:a16="http://schemas.microsoft.com/office/drawing/2014/main" id="{1115F0E3-EC5E-CDA6-06A1-4EBF4AB470CA}"/>
              </a:ext>
            </a:extLst>
          </p:cNvPr>
          <p:cNvSpPr txBox="1"/>
          <p:nvPr/>
        </p:nvSpPr>
        <p:spPr>
          <a:xfrm>
            <a:off x="193039" y="2404109"/>
            <a:ext cx="10992485" cy="2634054"/>
          </a:xfrm>
          <a:prstGeom prst="rect">
            <a:avLst/>
          </a:prstGeom>
        </p:spPr>
        <p:txBody>
          <a:bodyPr vert="horz" wrap="square" lIns="0" tIns="12700" rIns="0" bIns="0" rtlCol="0">
            <a:spAutoFit/>
          </a:bodyPr>
          <a:lstStyle/>
          <a:p>
            <a:pPr marL="12700" marR="5080">
              <a:lnSpc>
                <a:spcPct val="100000"/>
              </a:lnSpc>
              <a:spcBef>
                <a:spcPts val="100"/>
              </a:spcBef>
            </a:pPr>
            <a:r>
              <a:rPr lang="es-MX" sz="1200" dirty="0">
                <a:solidFill>
                  <a:srgbClr val="222222"/>
                </a:solidFill>
                <a:latin typeface="Times New Roman"/>
                <a:cs typeface="Times New Roman"/>
              </a:rPr>
              <a:t>Para</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identificar</a:t>
            </a:r>
            <a:r>
              <a:rPr lang="es-MX" sz="1200" spc="-10" dirty="0">
                <a:solidFill>
                  <a:srgbClr val="222222"/>
                </a:solidFill>
                <a:latin typeface="Times New Roman"/>
                <a:cs typeface="Times New Roman"/>
              </a:rPr>
              <a:t> </a:t>
            </a:r>
            <a:r>
              <a:rPr lang="es-MX" sz="1200" dirty="0">
                <a:solidFill>
                  <a:srgbClr val="222222"/>
                </a:solidFill>
                <a:latin typeface="Times New Roman"/>
                <a:cs typeface="Times New Roman"/>
              </a:rPr>
              <a:t>las</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necesidades</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del</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sistema</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se</a:t>
            </a:r>
            <a:r>
              <a:rPr lang="es-MX" sz="1200" spc="-40" dirty="0">
                <a:solidFill>
                  <a:srgbClr val="222222"/>
                </a:solidFill>
                <a:latin typeface="Times New Roman"/>
                <a:cs typeface="Times New Roman"/>
              </a:rPr>
              <a:t> </a:t>
            </a:r>
            <a:r>
              <a:rPr lang="es-MX" sz="1200" dirty="0">
                <a:solidFill>
                  <a:srgbClr val="222222"/>
                </a:solidFill>
                <a:latin typeface="Times New Roman"/>
                <a:cs typeface="Times New Roman"/>
              </a:rPr>
              <a:t>aplicaron</a:t>
            </a:r>
            <a:r>
              <a:rPr lang="es-MX" sz="1200" spc="-5" dirty="0">
                <a:solidFill>
                  <a:srgbClr val="222222"/>
                </a:solidFill>
                <a:latin typeface="Times New Roman"/>
                <a:cs typeface="Times New Roman"/>
              </a:rPr>
              <a:t> </a:t>
            </a:r>
            <a:r>
              <a:rPr lang="es-MX" sz="1200" dirty="0">
                <a:solidFill>
                  <a:srgbClr val="222222"/>
                </a:solidFill>
                <a:latin typeface="Times New Roman"/>
                <a:cs typeface="Times New Roman"/>
              </a:rPr>
              <a:t>diversas</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técnicas:</a:t>
            </a:r>
            <a:r>
              <a:rPr lang="es-MX" sz="1200" spc="-10" dirty="0">
                <a:solidFill>
                  <a:srgbClr val="222222"/>
                </a:solidFill>
                <a:latin typeface="Times New Roman"/>
                <a:cs typeface="Times New Roman"/>
              </a:rPr>
              <a:t> </a:t>
            </a:r>
            <a:r>
              <a:rPr lang="es-MX" sz="1200" dirty="0">
                <a:solidFill>
                  <a:srgbClr val="222222"/>
                </a:solidFill>
                <a:latin typeface="Times New Roman"/>
                <a:cs typeface="Times New Roman"/>
              </a:rPr>
              <a:t>entrevista</a:t>
            </a:r>
            <a:r>
              <a:rPr lang="es-MX" sz="1200" spc="-40" dirty="0">
                <a:solidFill>
                  <a:srgbClr val="222222"/>
                </a:solidFill>
                <a:latin typeface="Times New Roman"/>
                <a:cs typeface="Times New Roman"/>
              </a:rPr>
              <a:t> </a:t>
            </a:r>
            <a:r>
              <a:rPr lang="es-MX" sz="1200" dirty="0">
                <a:solidFill>
                  <a:srgbClr val="222222"/>
                </a:solidFill>
                <a:latin typeface="Times New Roman"/>
                <a:cs typeface="Times New Roman"/>
              </a:rPr>
              <a:t>semiestructurada</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al</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dueño</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30" dirty="0">
                <a:solidFill>
                  <a:srgbClr val="222222"/>
                </a:solidFill>
                <a:latin typeface="Times New Roman"/>
                <a:cs typeface="Times New Roman"/>
              </a:rPr>
              <a:t> </a:t>
            </a:r>
            <a:r>
              <a:rPr lang="es-MX" sz="1200" spc="-25" dirty="0">
                <a:solidFill>
                  <a:srgbClr val="222222"/>
                </a:solidFill>
                <a:latin typeface="Times New Roman"/>
                <a:cs typeface="Times New Roman"/>
              </a:rPr>
              <a:t>al </a:t>
            </a:r>
            <a:r>
              <a:rPr lang="es-MX" sz="1200" dirty="0">
                <a:solidFill>
                  <a:srgbClr val="222222"/>
                </a:solidFill>
                <a:latin typeface="Times New Roman"/>
                <a:cs typeface="Times New Roman"/>
              </a:rPr>
              <a:t>domiciliario, encuesta</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a</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empleados</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a</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32</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clientes,</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revisión</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documental</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registros</a:t>
            </a:r>
            <a:r>
              <a:rPr lang="es-MX" sz="1200" spc="-45" dirty="0">
                <a:solidFill>
                  <a:srgbClr val="222222"/>
                </a:solidFill>
                <a:latin typeface="Times New Roman"/>
                <a:cs typeface="Times New Roman"/>
              </a:rPr>
              <a:t> </a:t>
            </a:r>
            <a:r>
              <a:rPr lang="es-MX" sz="1200" dirty="0">
                <a:solidFill>
                  <a:srgbClr val="222222"/>
                </a:solidFill>
                <a:latin typeface="Times New Roman"/>
                <a:cs typeface="Times New Roman"/>
              </a:rPr>
              <a:t>del</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negocio</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benchmarking</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20" dirty="0">
                <a:solidFill>
                  <a:srgbClr val="222222"/>
                </a:solidFill>
                <a:latin typeface="Times New Roman"/>
                <a:cs typeface="Times New Roman"/>
              </a:rPr>
              <a:t> </a:t>
            </a:r>
            <a:r>
              <a:rPr lang="es-MX" sz="1200" spc="-10" dirty="0">
                <a:solidFill>
                  <a:srgbClr val="222222"/>
                </a:solidFill>
                <a:latin typeface="Times New Roman"/>
                <a:cs typeface="Times New Roman"/>
              </a:rPr>
              <a:t>sistemas </a:t>
            </a:r>
            <a:r>
              <a:rPr lang="es-MX" sz="1200" dirty="0">
                <a:solidFill>
                  <a:srgbClr val="222222"/>
                </a:solidFill>
                <a:latin typeface="Times New Roman"/>
                <a:cs typeface="Times New Roman"/>
              </a:rPr>
              <a:t>POS</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existentes</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en</a:t>
            </a:r>
            <a:r>
              <a:rPr lang="es-MX" sz="1200" spc="-5" dirty="0">
                <a:solidFill>
                  <a:srgbClr val="222222"/>
                </a:solidFill>
                <a:latin typeface="Times New Roman"/>
                <a:cs typeface="Times New Roman"/>
              </a:rPr>
              <a:t> </a:t>
            </a:r>
            <a:r>
              <a:rPr lang="es-MX" sz="1200" dirty="0">
                <a:solidFill>
                  <a:srgbClr val="222222"/>
                </a:solidFill>
                <a:latin typeface="Times New Roman"/>
                <a:cs typeface="Times New Roman"/>
              </a:rPr>
              <a:t>el</a:t>
            </a:r>
            <a:r>
              <a:rPr lang="es-MX" sz="1200" spc="-15" dirty="0">
                <a:solidFill>
                  <a:srgbClr val="222222"/>
                </a:solidFill>
                <a:latin typeface="Times New Roman"/>
                <a:cs typeface="Times New Roman"/>
              </a:rPr>
              <a:t> </a:t>
            </a:r>
            <a:r>
              <a:rPr lang="es-MX" sz="1200" spc="-10" dirty="0">
                <a:solidFill>
                  <a:srgbClr val="222222"/>
                </a:solidFill>
                <a:latin typeface="Times New Roman"/>
                <a:cs typeface="Times New Roman"/>
              </a:rPr>
              <a:t>mercado.</a:t>
            </a:r>
            <a:endParaRPr lang="es-MX" sz="1200" dirty="0">
              <a:solidFill>
                <a:srgbClr val="FF0000"/>
              </a:solidFill>
              <a:latin typeface="Times New Roman"/>
              <a:cs typeface="Times New Roman"/>
            </a:endParaRPr>
          </a:p>
          <a:p>
            <a:pPr>
              <a:lnSpc>
                <a:spcPct val="100000"/>
              </a:lnSpc>
              <a:spcBef>
                <a:spcPts val="969"/>
              </a:spcBef>
            </a:pPr>
            <a:endParaRPr lang="es-MX" sz="1200" dirty="0">
              <a:solidFill>
                <a:srgbClr val="FF0000"/>
              </a:solidFill>
              <a:latin typeface="Times New Roman"/>
              <a:cs typeface="Times New Roman"/>
            </a:endParaRPr>
          </a:p>
          <a:p>
            <a:pPr marL="12700" marR="147955" algn="just">
              <a:lnSpc>
                <a:spcPct val="100000"/>
              </a:lnSpc>
            </a:pPr>
            <a:r>
              <a:rPr lang="es-MX" sz="1200" dirty="0">
                <a:solidFill>
                  <a:srgbClr val="222222"/>
                </a:solidFill>
                <a:latin typeface="Times New Roman"/>
                <a:cs typeface="Times New Roman"/>
              </a:rPr>
              <a:t>A</a:t>
            </a:r>
            <a:r>
              <a:rPr lang="es-MX" sz="1200" spc="-45" dirty="0">
                <a:solidFill>
                  <a:srgbClr val="222222"/>
                </a:solidFill>
                <a:latin typeface="Times New Roman"/>
                <a:cs typeface="Times New Roman"/>
              </a:rPr>
              <a:t> </a:t>
            </a:r>
            <a:r>
              <a:rPr lang="es-MX" sz="1200" dirty="0">
                <a:solidFill>
                  <a:srgbClr val="222222"/>
                </a:solidFill>
                <a:latin typeface="Times New Roman"/>
                <a:cs typeface="Times New Roman"/>
              </a:rPr>
              <a:t>partir</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del</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análisis</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se</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identificaron</a:t>
            </a:r>
            <a:r>
              <a:rPr lang="es-MX" sz="1200" spc="-5" dirty="0">
                <a:solidFill>
                  <a:srgbClr val="222222"/>
                </a:solidFill>
                <a:latin typeface="Times New Roman"/>
                <a:cs typeface="Times New Roman"/>
              </a:rPr>
              <a:t> </a:t>
            </a:r>
            <a:r>
              <a:rPr lang="es-MX" sz="1200" dirty="0">
                <a:solidFill>
                  <a:srgbClr val="222222"/>
                </a:solidFill>
                <a:latin typeface="Times New Roman"/>
                <a:cs typeface="Times New Roman"/>
              </a:rPr>
              <a:t>las</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siguientes</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necesidades:</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mejorar</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el</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control</a:t>
            </a:r>
            <a:r>
              <a:rPr lang="es-MX" sz="1200" spc="-10"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inventario</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en</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tiempo</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real,</a:t>
            </a:r>
            <a:r>
              <a:rPr lang="es-MX" sz="1200" spc="-25" dirty="0">
                <a:solidFill>
                  <a:srgbClr val="222222"/>
                </a:solidFill>
                <a:latin typeface="Times New Roman"/>
                <a:cs typeface="Times New Roman"/>
              </a:rPr>
              <a:t> </a:t>
            </a:r>
            <a:r>
              <a:rPr lang="es-MX" sz="1200" spc="-10" dirty="0">
                <a:solidFill>
                  <a:srgbClr val="222222"/>
                </a:solidFill>
                <a:latin typeface="Times New Roman"/>
                <a:cs typeface="Times New Roman"/>
              </a:rPr>
              <a:t>optimizar</a:t>
            </a:r>
            <a:r>
              <a:rPr lang="es-MX" sz="1200" spc="-95" dirty="0">
                <a:solidFill>
                  <a:srgbClr val="222222"/>
                </a:solidFill>
                <a:latin typeface="Times New Roman"/>
                <a:cs typeface="Times New Roman"/>
              </a:rPr>
              <a:t> </a:t>
            </a:r>
            <a:r>
              <a:rPr lang="es-MX" sz="1200" spc="-25" dirty="0">
                <a:solidFill>
                  <a:srgbClr val="222222"/>
                </a:solidFill>
                <a:latin typeface="Times New Roman"/>
                <a:cs typeface="Times New Roman"/>
              </a:rPr>
              <a:t>el </a:t>
            </a:r>
            <a:r>
              <a:rPr lang="es-MX" sz="1200" dirty="0">
                <a:solidFill>
                  <a:srgbClr val="222222"/>
                </a:solidFill>
                <a:latin typeface="Times New Roman"/>
                <a:cs typeface="Times New Roman"/>
              </a:rPr>
              <a:t>registro</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ventas</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forma</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automatizada</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precisa,</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organizar</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hacer</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seguimiento</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a</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los</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domicilios,</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centralizar</a:t>
            </a:r>
            <a:r>
              <a:rPr lang="es-MX" sz="1200" spc="-5" dirty="0">
                <a:solidFill>
                  <a:srgbClr val="222222"/>
                </a:solidFill>
                <a:latin typeface="Times New Roman"/>
                <a:cs typeface="Times New Roman"/>
              </a:rPr>
              <a:t> </a:t>
            </a:r>
            <a:r>
              <a:rPr lang="es-MX" sz="1200" dirty="0">
                <a:solidFill>
                  <a:srgbClr val="222222"/>
                </a:solidFill>
                <a:latin typeface="Times New Roman"/>
                <a:cs typeface="Times New Roman"/>
              </a:rPr>
              <a:t>el</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control</a:t>
            </a:r>
            <a:r>
              <a:rPr lang="es-MX" sz="1200" spc="-10" dirty="0">
                <a:solidFill>
                  <a:srgbClr val="222222"/>
                </a:solidFill>
                <a:latin typeface="Times New Roman"/>
                <a:cs typeface="Times New Roman"/>
              </a:rPr>
              <a:t> </a:t>
            </a:r>
            <a:r>
              <a:rPr lang="es-MX" sz="1200" spc="-25" dirty="0">
                <a:solidFill>
                  <a:srgbClr val="222222"/>
                </a:solidFill>
                <a:latin typeface="Times New Roman"/>
                <a:cs typeface="Times New Roman"/>
              </a:rPr>
              <a:t>de </a:t>
            </a:r>
            <a:r>
              <a:rPr lang="es-MX" sz="1200" dirty="0">
                <a:solidFill>
                  <a:srgbClr val="222222"/>
                </a:solidFill>
                <a:latin typeface="Times New Roman"/>
                <a:cs typeface="Times New Roman"/>
              </a:rPr>
              <a:t>caja</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con</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seguimiento</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ingresos</a:t>
            </a:r>
            <a:r>
              <a:rPr lang="es-MX" sz="1200" spc="-20"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egresos,</a:t>
            </a:r>
            <a:r>
              <a:rPr lang="es-MX" sz="1200" spc="-35" dirty="0">
                <a:solidFill>
                  <a:srgbClr val="222222"/>
                </a:solidFill>
                <a:latin typeface="Times New Roman"/>
                <a:cs typeface="Times New Roman"/>
              </a:rPr>
              <a:t> </a:t>
            </a:r>
            <a:r>
              <a:rPr lang="es-MX" sz="1200" dirty="0">
                <a:solidFill>
                  <a:srgbClr val="222222"/>
                </a:solidFill>
                <a:latin typeface="Times New Roman"/>
                <a:cs typeface="Times New Roman"/>
              </a:rPr>
              <a:t>y</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generar</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reportes</a:t>
            </a:r>
            <a:r>
              <a:rPr lang="es-MX" sz="1200" spc="-10" dirty="0">
                <a:solidFill>
                  <a:srgbClr val="222222"/>
                </a:solidFill>
                <a:latin typeface="Times New Roman"/>
                <a:cs typeface="Times New Roman"/>
              </a:rPr>
              <a:t> </a:t>
            </a:r>
            <a:r>
              <a:rPr lang="es-MX" sz="1200" dirty="0">
                <a:solidFill>
                  <a:srgbClr val="222222"/>
                </a:solidFill>
                <a:latin typeface="Times New Roman"/>
                <a:cs typeface="Times New Roman"/>
              </a:rPr>
              <a:t>que</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apoyen</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la</a:t>
            </a:r>
            <a:r>
              <a:rPr lang="es-MX" sz="1200" spc="-30" dirty="0">
                <a:solidFill>
                  <a:srgbClr val="222222"/>
                </a:solidFill>
                <a:latin typeface="Times New Roman"/>
                <a:cs typeface="Times New Roman"/>
              </a:rPr>
              <a:t> </a:t>
            </a:r>
            <a:r>
              <a:rPr lang="es-MX" sz="1200" dirty="0">
                <a:solidFill>
                  <a:srgbClr val="222222"/>
                </a:solidFill>
                <a:latin typeface="Times New Roman"/>
                <a:cs typeface="Times New Roman"/>
              </a:rPr>
              <a:t>toma</a:t>
            </a:r>
            <a:r>
              <a:rPr lang="es-MX" sz="1200" spc="-10" dirty="0">
                <a:solidFill>
                  <a:srgbClr val="222222"/>
                </a:solidFill>
                <a:latin typeface="Times New Roman"/>
                <a:cs typeface="Times New Roman"/>
              </a:rPr>
              <a:t> </a:t>
            </a:r>
            <a:r>
              <a:rPr lang="es-MX" sz="1200" dirty="0">
                <a:solidFill>
                  <a:srgbClr val="222222"/>
                </a:solidFill>
                <a:latin typeface="Times New Roman"/>
                <a:cs typeface="Times New Roman"/>
              </a:rPr>
              <a:t>de</a:t>
            </a:r>
            <a:r>
              <a:rPr lang="es-MX" sz="1200" spc="-25" dirty="0">
                <a:solidFill>
                  <a:srgbClr val="222222"/>
                </a:solidFill>
                <a:latin typeface="Times New Roman"/>
                <a:cs typeface="Times New Roman"/>
              </a:rPr>
              <a:t> </a:t>
            </a:r>
            <a:r>
              <a:rPr lang="es-MX" sz="1200" dirty="0">
                <a:solidFill>
                  <a:srgbClr val="222222"/>
                </a:solidFill>
                <a:latin typeface="Times New Roman"/>
                <a:cs typeface="Times New Roman"/>
              </a:rPr>
              <a:t>decisiones</a:t>
            </a:r>
            <a:r>
              <a:rPr lang="es-MX" sz="1200" spc="-15" dirty="0">
                <a:solidFill>
                  <a:srgbClr val="222222"/>
                </a:solidFill>
                <a:latin typeface="Times New Roman"/>
                <a:cs typeface="Times New Roman"/>
              </a:rPr>
              <a:t> </a:t>
            </a:r>
            <a:r>
              <a:rPr lang="es-MX" sz="1200" dirty="0">
                <a:solidFill>
                  <a:srgbClr val="222222"/>
                </a:solidFill>
                <a:latin typeface="Times New Roman"/>
                <a:cs typeface="Times New Roman"/>
              </a:rPr>
              <a:t>del</a:t>
            </a:r>
            <a:r>
              <a:rPr lang="es-MX" sz="1200" spc="-20" dirty="0">
                <a:solidFill>
                  <a:srgbClr val="222222"/>
                </a:solidFill>
                <a:latin typeface="Times New Roman"/>
                <a:cs typeface="Times New Roman"/>
              </a:rPr>
              <a:t> </a:t>
            </a:r>
            <a:r>
              <a:rPr lang="es-MX" sz="1200" spc="-10" dirty="0">
                <a:solidFill>
                  <a:srgbClr val="222222"/>
                </a:solidFill>
                <a:latin typeface="Times New Roman"/>
                <a:cs typeface="Times New Roman"/>
              </a:rPr>
              <a:t>administrador</a:t>
            </a:r>
            <a:r>
              <a:rPr lang="es-MX" sz="1200" spc="-10" dirty="0">
                <a:solidFill>
                  <a:srgbClr val="222222"/>
                </a:solidFill>
                <a:latin typeface="Times New Roman"/>
                <a:cs typeface="Times New Roman"/>
              </a:rPr>
              <a:t>.</a:t>
            </a:r>
            <a:endParaRPr lang="es-MX" sz="1200" dirty="0">
              <a:latin typeface="Times New Roman"/>
              <a:cs typeface="Times New Roman"/>
            </a:endParaRPr>
          </a:p>
          <a:p>
            <a:pPr marL="12700" marR="5080">
              <a:lnSpc>
                <a:spcPct val="100000"/>
              </a:lnSpc>
            </a:pPr>
            <a:endParaRPr sz="1200" dirty="0">
              <a:latin typeface="Times New Roman"/>
              <a:cs typeface="Times New Roman"/>
            </a:endParaRPr>
          </a:p>
        </p:txBody>
      </p:sp>
      <p:grpSp>
        <p:nvGrpSpPr>
          <p:cNvPr id="6" name="object 6">
            <a:extLst>
              <a:ext uri="{FF2B5EF4-FFF2-40B4-BE49-F238E27FC236}">
                <a16:creationId xmlns:a16="http://schemas.microsoft.com/office/drawing/2014/main" id="{731FC9CE-8853-0CE3-F1F5-4FE211225FDF}"/>
              </a:ext>
            </a:extLst>
          </p:cNvPr>
          <p:cNvGrpSpPr/>
          <p:nvPr/>
        </p:nvGrpSpPr>
        <p:grpSpPr>
          <a:xfrm>
            <a:off x="8695943" y="457200"/>
            <a:ext cx="2382520" cy="647700"/>
            <a:chOff x="8695943" y="457200"/>
            <a:chExt cx="2382520" cy="647700"/>
          </a:xfrm>
        </p:grpSpPr>
        <p:pic>
          <p:nvPicPr>
            <p:cNvPr id="7" name="object 7">
              <a:extLst>
                <a:ext uri="{FF2B5EF4-FFF2-40B4-BE49-F238E27FC236}">
                  <a16:creationId xmlns:a16="http://schemas.microsoft.com/office/drawing/2014/main" id="{3167ABA1-9618-9D15-9243-6F518DED5A30}"/>
                </a:ext>
              </a:extLst>
            </p:cNvPr>
            <p:cNvPicPr/>
            <p:nvPr/>
          </p:nvPicPr>
          <p:blipFill>
            <a:blip r:embed="rId2" cstate="print"/>
            <a:stretch>
              <a:fillRect/>
            </a:stretch>
          </p:blipFill>
          <p:spPr>
            <a:xfrm>
              <a:off x="9773411" y="486155"/>
              <a:ext cx="1304544" cy="589788"/>
            </a:xfrm>
            <a:prstGeom prst="rect">
              <a:avLst/>
            </a:prstGeom>
          </p:spPr>
        </p:pic>
        <p:pic>
          <p:nvPicPr>
            <p:cNvPr id="8" name="object 8">
              <a:extLst>
                <a:ext uri="{FF2B5EF4-FFF2-40B4-BE49-F238E27FC236}">
                  <a16:creationId xmlns:a16="http://schemas.microsoft.com/office/drawing/2014/main" id="{F2BC8F0D-3413-00D6-CACB-386878238203}"/>
                </a:ext>
              </a:extLst>
            </p:cNvPr>
            <p:cNvPicPr/>
            <p:nvPr/>
          </p:nvPicPr>
          <p:blipFill>
            <a:blip r:embed="rId3" cstate="print"/>
            <a:stretch>
              <a:fillRect/>
            </a:stretch>
          </p:blipFill>
          <p:spPr>
            <a:xfrm>
              <a:off x="8695943" y="457200"/>
              <a:ext cx="1077468" cy="647700"/>
            </a:xfrm>
            <a:prstGeom prst="rect">
              <a:avLst/>
            </a:prstGeom>
          </p:spPr>
        </p:pic>
      </p:grpSp>
    </p:spTree>
    <p:extLst>
      <p:ext uri="{BB962C8B-B14F-4D97-AF65-F5344CB8AC3E}">
        <p14:creationId xmlns:p14="http://schemas.microsoft.com/office/powerpoint/2010/main" val="676197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4400" spc="120" dirty="0">
                <a:latin typeface="Times New Roman"/>
                <a:cs typeface="Times New Roman"/>
              </a:rPr>
              <a:t>Alcance</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sp>
        <p:nvSpPr>
          <p:cNvPr id="5" name="object 5"/>
          <p:cNvSpPr txBox="1"/>
          <p:nvPr/>
        </p:nvSpPr>
        <p:spPr>
          <a:xfrm>
            <a:off x="191515" y="2508250"/>
            <a:ext cx="11068685" cy="2348865"/>
          </a:xfrm>
          <a:prstGeom prst="rect">
            <a:avLst/>
          </a:prstGeom>
        </p:spPr>
        <p:txBody>
          <a:bodyPr vert="horz" wrap="square" lIns="0" tIns="12700" rIns="0" bIns="0" rtlCol="0">
            <a:spAutoFit/>
          </a:bodyPr>
          <a:lstStyle/>
          <a:p>
            <a:pPr marL="12700" marR="584200">
              <a:lnSpc>
                <a:spcPct val="100000"/>
              </a:lnSpc>
              <a:spcBef>
                <a:spcPts val="100"/>
              </a:spcBef>
            </a:pPr>
            <a:r>
              <a:rPr sz="1200" dirty="0">
                <a:latin typeface="Times New Roman"/>
                <a:cs typeface="Times New Roman"/>
              </a:rPr>
              <a:t>El</a:t>
            </a:r>
            <a:r>
              <a:rPr sz="1200" spc="-20" dirty="0">
                <a:latin typeface="Times New Roman"/>
                <a:cs typeface="Times New Roman"/>
              </a:rPr>
              <a:t> </a:t>
            </a:r>
            <a:r>
              <a:rPr sz="1200" dirty="0">
                <a:latin typeface="Times New Roman"/>
                <a:cs typeface="Times New Roman"/>
              </a:rPr>
              <a:t>sistema</a:t>
            </a:r>
            <a:r>
              <a:rPr sz="1200" spc="-30" dirty="0">
                <a:latin typeface="Times New Roman"/>
                <a:cs typeface="Times New Roman"/>
              </a:rPr>
              <a:t> </a:t>
            </a:r>
            <a:r>
              <a:rPr sz="1200" dirty="0">
                <a:latin typeface="Times New Roman"/>
                <a:cs typeface="Times New Roman"/>
              </a:rPr>
              <a:t>Control</a:t>
            </a:r>
            <a:r>
              <a:rPr sz="1200" spc="-20" dirty="0">
                <a:latin typeface="Times New Roman"/>
                <a:cs typeface="Times New Roman"/>
              </a:rPr>
              <a:t> </a:t>
            </a:r>
            <a:r>
              <a:rPr sz="1200" dirty="0">
                <a:latin typeface="Times New Roman"/>
                <a:cs typeface="Times New Roman"/>
              </a:rPr>
              <a:t>Store</a:t>
            </a:r>
            <a:r>
              <a:rPr sz="1200" spc="-10" dirty="0">
                <a:latin typeface="Times New Roman"/>
                <a:cs typeface="Times New Roman"/>
              </a:rPr>
              <a:t> </a:t>
            </a:r>
            <a:r>
              <a:rPr sz="1200" dirty="0">
                <a:latin typeface="Times New Roman"/>
                <a:cs typeface="Times New Roman"/>
              </a:rPr>
              <a:t>permitirá</a:t>
            </a:r>
            <a:r>
              <a:rPr sz="1200" spc="-15" dirty="0">
                <a:latin typeface="Times New Roman"/>
                <a:cs typeface="Times New Roman"/>
              </a:rPr>
              <a:t> </a:t>
            </a:r>
            <a:r>
              <a:rPr sz="1200" dirty="0">
                <a:latin typeface="Times New Roman"/>
                <a:cs typeface="Times New Roman"/>
              </a:rPr>
              <a:t>gestionar</a:t>
            </a:r>
            <a:r>
              <a:rPr sz="1200" spc="-20" dirty="0">
                <a:latin typeface="Times New Roman"/>
                <a:cs typeface="Times New Roman"/>
              </a:rPr>
              <a:t> </a:t>
            </a:r>
            <a:r>
              <a:rPr sz="1200" dirty="0">
                <a:latin typeface="Times New Roman"/>
                <a:cs typeface="Times New Roman"/>
              </a:rPr>
              <a:t>los</a:t>
            </a:r>
            <a:r>
              <a:rPr sz="1200" spc="-25" dirty="0">
                <a:latin typeface="Times New Roman"/>
                <a:cs typeface="Times New Roman"/>
              </a:rPr>
              <a:t> </a:t>
            </a:r>
            <a:r>
              <a:rPr sz="1200" dirty="0">
                <a:latin typeface="Times New Roman"/>
                <a:cs typeface="Times New Roman"/>
              </a:rPr>
              <a:t>procesos</a:t>
            </a:r>
            <a:r>
              <a:rPr sz="1200" spc="-15" dirty="0">
                <a:latin typeface="Times New Roman"/>
                <a:cs typeface="Times New Roman"/>
              </a:rPr>
              <a:t> </a:t>
            </a:r>
            <a:r>
              <a:rPr sz="1200" dirty="0">
                <a:latin typeface="Times New Roman"/>
                <a:cs typeface="Times New Roman"/>
              </a:rPr>
              <a:t>de</a:t>
            </a:r>
            <a:r>
              <a:rPr sz="1200" spc="-10" dirty="0">
                <a:latin typeface="Times New Roman"/>
                <a:cs typeface="Times New Roman"/>
              </a:rPr>
              <a:t> </a:t>
            </a:r>
            <a:r>
              <a:rPr sz="1200" dirty="0">
                <a:latin typeface="Times New Roman"/>
                <a:cs typeface="Times New Roman"/>
              </a:rPr>
              <a:t>inventario,</a:t>
            </a:r>
            <a:r>
              <a:rPr sz="1200" spc="-10" dirty="0">
                <a:latin typeface="Times New Roman"/>
                <a:cs typeface="Times New Roman"/>
              </a:rPr>
              <a:t> </a:t>
            </a:r>
            <a:r>
              <a:rPr sz="1200" dirty="0">
                <a:latin typeface="Times New Roman"/>
                <a:cs typeface="Times New Roman"/>
              </a:rPr>
              <a:t>ventas,</a:t>
            </a:r>
            <a:r>
              <a:rPr sz="1200" spc="-30" dirty="0">
                <a:latin typeface="Times New Roman"/>
                <a:cs typeface="Times New Roman"/>
              </a:rPr>
              <a:t> </a:t>
            </a:r>
            <a:r>
              <a:rPr sz="1200" dirty="0">
                <a:latin typeface="Times New Roman"/>
                <a:cs typeface="Times New Roman"/>
              </a:rPr>
              <a:t>domicilios</a:t>
            </a:r>
            <a:r>
              <a:rPr sz="1200" spc="10" dirty="0">
                <a:latin typeface="Times New Roman"/>
                <a:cs typeface="Times New Roman"/>
              </a:rPr>
              <a:t> </a:t>
            </a:r>
            <a:r>
              <a:rPr sz="1200" dirty="0">
                <a:latin typeface="Times New Roman"/>
                <a:cs typeface="Times New Roman"/>
              </a:rPr>
              <a:t>y</a:t>
            </a:r>
            <a:r>
              <a:rPr sz="1200" spc="-25" dirty="0">
                <a:latin typeface="Times New Roman"/>
                <a:cs typeface="Times New Roman"/>
              </a:rPr>
              <a:t> </a:t>
            </a:r>
            <a:r>
              <a:rPr sz="1200" dirty="0">
                <a:latin typeface="Times New Roman"/>
                <a:cs typeface="Times New Roman"/>
              </a:rPr>
              <a:t>caja</a:t>
            </a:r>
            <a:r>
              <a:rPr sz="1200" spc="-25" dirty="0">
                <a:latin typeface="Times New Roman"/>
                <a:cs typeface="Times New Roman"/>
              </a:rPr>
              <a:t> </a:t>
            </a:r>
            <a:r>
              <a:rPr sz="1200" dirty="0">
                <a:latin typeface="Times New Roman"/>
                <a:cs typeface="Times New Roman"/>
              </a:rPr>
              <a:t>del</a:t>
            </a:r>
            <a:r>
              <a:rPr sz="1200" spc="-15" dirty="0">
                <a:latin typeface="Times New Roman"/>
                <a:cs typeface="Times New Roman"/>
              </a:rPr>
              <a:t> </a:t>
            </a:r>
            <a:r>
              <a:rPr sz="1200" spc="-10" dirty="0">
                <a:latin typeface="Times New Roman"/>
                <a:cs typeface="Times New Roman"/>
              </a:rPr>
              <a:t>Autoservicio </a:t>
            </a:r>
            <a:r>
              <a:rPr sz="1200" dirty="0">
                <a:latin typeface="Times New Roman"/>
                <a:cs typeface="Times New Roman"/>
              </a:rPr>
              <a:t>Ayuelal.</a:t>
            </a:r>
            <a:r>
              <a:rPr sz="1200" spc="-35" dirty="0">
                <a:latin typeface="Times New Roman"/>
                <a:cs typeface="Times New Roman"/>
              </a:rPr>
              <a:t> </a:t>
            </a:r>
            <a:r>
              <a:rPr sz="1200" dirty="0">
                <a:latin typeface="Times New Roman"/>
                <a:cs typeface="Times New Roman"/>
              </a:rPr>
              <a:t>Incluirá</a:t>
            </a:r>
            <a:r>
              <a:rPr sz="1200" spc="-20" dirty="0">
                <a:latin typeface="Times New Roman"/>
                <a:cs typeface="Times New Roman"/>
              </a:rPr>
              <a:t> </a:t>
            </a:r>
            <a:r>
              <a:rPr sz="1200" dirty="0">
                <a:latin typeface="Times New Roman"/>
                <a:cs typeface="Times New Roman"/>
              </a:rPr>
              <a:t>el</a:t>
            </a:r>
            <a:r>
              <a:rPr sz="1200" spc="-20" dirty="0">
                <a:latin typeface="Times New Roman"/>
                <a:cs typeface="Times New Roman"/>
              </a:rPr>
              <a:t> </a:t>
            </a:r>
            <a:r>
              <a:rPr sz="1200" dirty="0">
                <a:latin typeface="Times New Roman"/>
                <a:cs typeface="Times New Roman"/>
              </a:rPr>
              <a:t>registro</a:t>
            </a:r>
            <a:r>
              <a:rPr sz="1200" spc="-30" dirty="0">
                <a:latin typeface="Times New Roman"/>
                <a:cs typeface="Times New Roman"/>
              </a:rPr>
              <a:t> </a:t>
            </a:r>
            <a:r>
              <a:rPr sz="1200" dirty="0">
                <a:latin typeface="Times New Roman"/>
                <a:cs typeface="Times New Roman"/>
              </a:rPr>
              <a:t>de</a:t>
            </a:r>
            <a:r>
              <a:rPr sz="1200" spc="-15" dirty="0">
                <a:latin typeface="Times New Roman"/>
                <a:cs typeface="Times New Roman"/>
              </a:rPr>
              <a:t> </a:t>
            </a:r>
            <a:r>
              <a:rPr sz="1200" dirty="0">
                <a:latin typeface="Times New Roman"/>
                <a:cs typeface="Times New Roman"/>
              </a:rPr>
              <a:t>productos,</a:t>
            </a:r>
            <a:r>
              <a:rPr sz="1200" spc="-5" dirty="0">
                <a:latin typeface="Times New Roman"/>
                <a:cs typeface="Times New Roman"/>
              </a:rPr>
              <a:t> </a:t>
            </a:r>
            <a:r>
              <a:rPr sz="1200" dirty="0">
                <a:latin typeface="Times New Roman"/>
                <a:cs typeface="Times New Roman"/>
              </a:rPr>
              <a:t>control</a:t>
            </a:r>
            <a:r>
              <a:rPr sz="1200" spc="-30" dirty="0">
                <a:latin typeface="Times New Roman"/>
                <a:cs typeface="Times New Roman"/>
              </a:rPr>
              <a:t> </a:t>
            </a:r>
            <a:r>
              <a:rPr sz="1200" dirty="0">
                <a:latin typeface="Times New Roman"/>
                <a:cs typeface="Times New Roman"/>
              </a:rPr>
              <a:t>de</a:t>
            </a:r>
            <a:r>
              <a:rPr sz="1200" spc="-10" dirty="0">
                <a:latin typeface="Times New Roman"/>
                <a:cs typeface="Times New Roman"/>
              </a:rPr>
              <a:t> </a:t>
            </a:r>
            <a:r>
              <a:rPr sz="1200" dirty="0">
                <a:latin typeface="Times New Roman"/>
                <a:cs typeface="Times New Roman"/>
              </a:rPr>
              <a:t>existencias,</a:t>
            </a:r>
            <a:r>
              <a:rPr sz="1200" spc="-40" dirty="0">
                <a:latin typeface="Times New Roman"/>
                <a:cs typeface="Times New Roman"/>
              </a:rPr>
              <a:t> </a:t>
            </a:r>
            <a:r>
              <a:rPr sz="1200" dirty="0">
                <a:latin typeface="Times New Roman"/>
                <a:cs typeface="Times New Roman"/>
              </a:rPr>
              <a:t>manejo</a:t>
            </a:r>
            <a:r>
              <a:rPr sz="1200" spc="-30" dirty="0">
                <a:latin typeface="Times New Roman"/>
                <a:cs typeface="Times New Roman"/>
              </a:rPr>
              <a:t> </a:t>
            </a:r>
            <a:r>
              <a:rPr sz="1200" dirty="0">
                <a:latin typeface="Times New Roman"/>
                <a:cs typeface="Times New Roman"/>
              </a:rPr>
              <a:t>de</a:t>
            </a:r>
            <a:r>
              <a:rPr sz="1200" spc="-15" dirty="0">
                <a:latin typeface="Times New Roman"/>
                <a:cs typeface="Times New Roman"/>
              </a:rPr>
              <a:t> </a:t>
            </a:r>
            <a:r>
              <a:rPr sz="1200" dirty="0">
                <a:latin typeface="Times New Roman"/>
                <a:cs typeface="Times New Roman"/>
              </a:rPr>
              <a:t>ingresos</a:t>
            </a:r>
            <a:r>
              <a:rPr sz="1200" spc="-35" dirty="0">
                <a:latin typeface="Times New Roman"/>
                <a:cs typeface="Times New Roman"/>
              </a:rPr>
              <a:t> </a:t>
            </a:r>
            <a:r>
              <a:rPr sz="1200" dirty="0">
                <a:latin typeface="Times New Roman"/>
                <a:cs typeface="Times New Roman"/>
              </a:rPr>
              <a:t>y</a:t>
            </a:r>
            <a:r>
              <a:rPr sz="1200" spc="-25" dirty="0">
                <a:latin typeface="Times New Roman"/>
                <a:cs typeface="Times New Roman"/>
              </a:rPr>
              <a:t> </a:t>
            </a:r>
            <a:r>
              <a:rPr sz="1200" dirty="0">
                <a:latin typeface="Times New Roman"/>
                <a:cs typeface="Times New Roman"/>
              </a:rPr>
              <a:t>egresos,</a:t>
            </a:r>
            <a:r>
              <a:rPr sz="1200" spc="-40" dirty="0">
                <a:latin typeface="Times New Roman"/>
                <a:cs typeface="Times New Roman"/>
              </a:rPr>
              <a:t> </a:t>
            </a:r>
            <a:r>
              <a:rPr sz="1200" dirty="0">
                <a:latin typeface="Times New Roman"/>
                <a:cs typeface="Times New Roman"/>
              </a:rPr>
              <a:t>y</a:t>
            </a:r>
            <a:r>
              <a:rPr sz="1200" spc="-25" dirty="0">
                <a:latin typeface="Times New Roman"/>
                <a:cs typeface="Times New Roman"/>
              </a:rPr>
              <a:t> </a:t>
            </a:r>
            <a:r>
              <a:rPr sz="1200" dirty="0">
                <a:latin typeface="Times New Roman"/>
                <a:cs typeface="Times New Roman"/>
              </a:rPr>
              <a:t>generación</a:t>
            </a:r>
            <a:r>
              <a:rPr sz="1200" spc="-10" dirty="0">
                <a:latin typeface="Times New Roman"/>
                <a:cs typeface="Times New Roman"/>
              </a:rPr>
              <a:t> </a:t>
            </a:r>
            <a:r>
              <a:rPr sz="1200" spc="-25" dirty="0">
                <a:latin typeface="Times New Roman"/>
                <a:cs typeface="Times New Roman"/>
              </a:rPr>
              <a:t>de </a:t>
            </a:r>
            <a:r>
              <a:rPr sz="1200" dirty="0">
                <a:latin typeface="Times New Roman"/>
                <a:cs typeface="Times New Roman"/>
              </a:rPr>
              <a:t>reportes</a:t>
            </a:r>
            <a:r>
              <a:rPr sz="1200" spc="-30" dirty="0">
                <a:latin typeface="Times New Roman"/>
                <a:cs typeface="Times New Roman"/>
              </a:rPr>
              <a:t> </a:t>
            </a:r>
            <a:r>
              <a:rPr sz="1200" dirty="0">
                <a:latin typeface="Times New Roman"/>
                <a:cs typeface="Times New Roman"/>
              </a:rPr>
              <a:t>con</a:t>
            </a:r>
            <a:r>
              <a:rPr sz="1200" spc="-25" dirty="0">
                <a:latin typeface="Times New Roman"/>
                <a:cs typeface="Times New Roman"/>
              </a:rPr>
              <a:t> </a:t>
            </a:r>
            <a:r>
              <a:rPr sz="1200" dirty="0">
                <a:latin typeface="Times New Roman"/>
                <a:cs typeface="Times New Roman"/>
              </a:rPr>
              <a:t>acceso</a:t>
            </a:r>
            <a:r>
              <a:rPr sz="1200" spc="-25" dirty="0">
                <a:latin typeface="Times New Roman"/>
                <a:cs typeface="Times New Roman"/>
              </a:rPr>
              <a:t> </a:t>
            </a:r>
            <a:r>
              <a:rPr sz="1200" dirty="0">
                <a:latin typeface="Times New Roman"/>
                <a:cs typeface="Times New Roman"/>
              </a:rPr>
              <a:t>a</a:t>
            </a:r>
            <a:r>
              <a:rPr sz="1200" spc="-20" dirty="0">
                <a:latin typeface="Times New Roman"/>
                <a:cs typeface="Times New Roman"/>
              </a:rPr>
              <a:t> </a:t>
            </a:r>
            <a:r>
              <a:rPr sz="1200" dirty="0">
                <a:latin typeface="Times New Roman"/>
                <a:cs typeface="Times New Roman"/>
              </a:rPr>
              <a:t>datos</a:t>
            </a:r>
            <a:r>
              <a:rPr sz="1200" spc="-45" dirty="0">
                <a:latin typeface="Times New Roman"/>
                <a:cs typeface="Times New Roman"/>
              </a:rPr>
              <a:t> </a:t>
            </a:r>
            <a:r>
              <a:rPr sz="1200" dirty="0">
                <a:latin typeface="Times New Roman"/>
                <a:cs typeface="Times New Roman"/>
              </a:rPr>
              <a:t>en</a:t>
            </a:r>
            <a:r>
              <a:rPr sz="1200" spc="-25" dirty="0">
                <a:latin typeface="Times New Roman"/>
                <a:cs typeface="Times New Roman"/>
              </a:rPr>
              <a:t> </a:t>
            </a:r>
            <a:r>
              <a:rPr sz="1200" dirty="0">
                <a:latin typeface="Times New Roman"/>
                <a:cs typeface="Times New Roman"/>
              </a:rPr>
              <a:t>tiempo</a:t>
            </a:r>
            <a:r>
              <a:rPr sz="1200" spc="-25" dirty="0">
                <a:latin typeface="Times New Roman"/>
                <a:cs typeface="Times New Roman"/>
              </a:rPr>
              <a:t> </a:t>
            </a:r>
            <a:r>
              <a:rPr sz="1200" spc="-10" dirty="0">
                <a:latin typeface="Times New Roman"/>
                <a:cs typeface="Times New Roman"/>
              </a:rPr>
              <a:t>real.</a:t>
            </a:r>
            <a:endParaRPr sz="1200">
              <a:latin typeface="Times New Roman"/>
              <a:cs typeface="Times New Roman"/>
            </a:endParaRPr>
          </a:p>
          <a:p>
            <a:pPr>
              <a:lnSpc>
                <a:spcPct val="100000"/>
              </a:lnSpc>
              <a:spcBef>
                <a:spcPts val="969"/>
              </a:spcBef>
            </a:pPr>
            <a:endParaRPr sz="1200">
              <a:latin typeface="Times New Roman"/>
              <a:cs typeface="Times New Roman"/>
            </a:endParaRPr>
          </a:p>
          <a:p>
            <a:pPr marL="12700" marR="5080">
              <a:lnSpc>
                <a:spcPct val="100000"/>
              </a:lnSpc>
            </a:pPr>
            <a:r>
              <a:rPr sz="1200" dirty="0">
                <a:latin typeface="Times New Roman"/>
                <a:cs typeface="Times New Roman"/>
              </a:rPr>
              <a:t>El</a:t>
            </a:r>
            <a:r>
              <a:rPr sz="1200" spc="-25" dirty="0">
                <a:latin typeface="Times New Roman"/>
                <a:cs typeface="Times New Roman"/>
              </a:rPr>
              <a:t> </a:t>
            </a:r>
            <a:r>
              <a:rPr sz="1200" dirty="0">
                <a:latin typeface="Times New Roman"/>
                <a:cs typeface="Times New Roman"/>
              </a:rPr>
              <a:t>sistema</a:t>
            </a:r>
            <a:r>
              <a:rPr sz="1200" spc="-35" dirty="0">
                <a:latin typeface="Times New Roman"/>
                <a:cs typeface="Times New Roman"/>
              </a:rPr>
              <a:t> </a:t>
            </a:r>
            <a:r>
              <a:rPr sz="1200" dirty="0">
                <a:latin typeface="Times New Roman"/>
                <a:cs typeface="Times New Roman"/>
              </a:rPr>
              <a:t>no</a:t>
            </a:r>
            <a:r>
              <a:rPr sz="1200" spc="-35" dirty="0">
                <a:latin typeface="Times New Roman"/>
                <a:cs typeface="Times New Roman"/>
              </a:rPr>
              <a:t> </a:t>
            </a:r>
            <a:r>
              <a:rPr sz="1200" dirty="0">
                <a:latin typeface="Times New Roman"/>
                <a:cs typeface="Times New Roman"/>
              </a:rPr>
              <a:t>reemplazará</a:t>
            </a:r>
            <a:r>
              <a:rPr sz="1200" spc="-20" dirty="0">
                <a:latin typeface="Times New Roman"/>
                <a:cs typeface="Times New Roman"/>
              </a:rPr>
              <a:t> </a:t>
            </a:r>
            <a:r>
              <a:rPr sz="1200" dirty="0">
                <a:latin typeface="Times New Roman"/>
                <a:cs typeface="Times New Roman"/>
              </a:rPr>
              <a:t>la</a:t>
            </a:r>
            <a:r>
              <a:rPr sz="1200" spc="-15" dirty="0">
                <a:latin typeface="Times New Roman"/>
                <a:cs typeface="Times New Roman"/>
              </a:rPr>
              <a:t> </a:t>
            </a:r>
            <a:r>
              <a:rPr sz="1200" dirty="0">
                <a:latin typeface="Times New Roman"/>
                <a:cs typeface="Times New Roman"/>
              </a:rPr>
              <a:t>toma</a:t>
            </a:r>
            <a:r>
              <a:rPr sz="1200" spc="-30" dirty="0">
                <a:latin typeface="Times New Roman"/>
                <a:cs typeface="Times New Roman"/>
              </a:rPr>
              <a:t> </a:t>
            </a:r>
            <a:r>
              <a:rPr sz="1200" dirty="0">
                <a:latin typeface="Times New Roman"/>
                <a:cs typeface="Times New Roman"/>
              </a:rPr>
              <a:t>de</a:t>
            </a:r>
            <a:r>
              <a:rPr sz="1200" spc="-15" dirty="0">
                <a:latin typeface="Times New Roman"/>
                <a:cs typeface="Times New Roman"/>
              </a:rPr>
              <a:t> </a:t>
            </a:r>
            <a:r>
              <a:rPr sz="1200" dirty="0">
                <a:latin typeface="Times New Roman"/>
                <a:cs typeface="Times New Roman"/>
              </a:rPr>
              <a:t>decisiones</a:t>
            </a:r>
            <a:r>
              <a:rPr sz="1200" spc="-15" dirty="0">
                <a:latin typeface="Times New Roman"/>
                <a:cs typeface="Times New Roman"/>
              </a:rPr>
              <a:t> </a:t>
            </a:r>
            <a:r>
              <a:rPr sz="1200" dirty="0">
                <a:latin typeface="Times New Roman"/>
                <a:cs typeface="Times New Roman"/>
              </a:rPr>
              <a:t>del</a:t>
            </a:r>
            <a:r>
              <a:rPr sz="1200" spc="-30" dirty="0">
                <a:latin typeface="Times New Roman"/>
                <a:cs typeface="Times New Roman"/>
              </a:rPr>
              <a:t> </a:t>
            </a:r>
            <a:r>
              <a:rPr sz="1200" dirty="0">
                <a:latin typeface="Times New Roman"/>
                <a:cs typeface="Times New Roman"/>
              </a:rPr>
              <a:t>usuario</a:t>
            </a:r>
            <a:r>
              <a:rPr sz="1200" spc="-25" dirty="0">
                <a:latin typeface="Times New Roman"/>
                <a:cs typeface="Times New Roman"/>
              </a:rPr>
              <a:t> </a:t>
            </a:r>
            <a:r>
              <a:rPr sz="1200" dirty="0">
                <a:latin typeface="Times New Roman"/>
                <a:cs typeface="Times New Roman"/>
              </a:rPr>
              <a:t>ni</a:t>
            </a:r>
            <a:r>
              <a:rPr sz="1200" spc="-25" dirty="0">
                <a:latin typeface="Times New Roman"/>
                <a:cs typeface="Times New Roman"/>
              </a:rPr>
              <a:t> </a:t>
            </a:r>
            <a:r>
              <a:rPr sz="1200" dirty="0">
                <a:latin typeface="Times New Roman"/>
                <a:cs typeface="Times New Roman"/>
              </a:rPr>
              <a:t>funcionará</a:t>
            </a:r>
            <a:r>
              <a:rPr sz="1200" spc="-5" dirty="0">
                <a:latin typeface="Times New Roman"/>
                <a:cs typeface="Times New Roman"/>
              </a:rPr>
              <a:t> </a:t>
            </a:r>
            <a:r>
              <a:rPr sz="1200" dirty="0">
                <a:latin typeface="Times New Roman"/>
                <a:cs typeface="Times New Roman"/>
              </a:rPr>
              <a:t>de</a:t>
            </a:r>
            <a:r>
              <a:rPr sz="1200" spc="-30" dirty="0">
                <a:latin typeface="Times New Roman"/>
                <a:cs typeface="Times New Roman"/>
              </a:rPr>
              <a:t> </a:t>
            </a:r>
            <a:r>
              <a:rPr sz="1200" dirty="0">
                <a:latin typeface="Times New Roman"/>
                <a:cs typeface="Times New Roman"/>
              </a:rPr>
              <a:t>manera</a:t>
            </a:r>
            <a:r>
              <a:rPr sz="1200" spc="-35" dirty="0">
                <a:latin typeface="Times New Roman"/>
                <a:cs typeface="Times New Roman"/>
              </a:rPr>
              <a:t> </a:t>
            </a:r>
            <a:r>
              <a:rPr sz="1200" dirty="0">
                <a:latin typeface="Times New Roman"/>
                <a:cs typeface="Times New Roman"/>
              </a:rPr>
              <a:t>autónoma;</a:t>
            </a:r>
            <a:r>
              <a:rPr sz="1200" spc="-20" dirty="0">
                <a:latin typeface="Times New Roman"/>
                <a:cs typeface="Times New Roman"/>
              </a:rPr>
              <a:t> </a:t>
            </a:r>
            <a:r>
              <a:rPr sz="1200" dirty="0">
                <a:latin typeface="Times New Roman"/>
                <a:cs typeface="Times New Roman"/>
              </a:rPr>
              <a:t>su</a:t>
            </a:r>
            <a:r>
              <a:rPr sz="1200" spc="-30" dirty="0">
                <a:latin typeface="Times New Roman"/>
                <a:cs typeface="Times New Roman"/>
              </a:rPr>
              <a:t> </a:t>
            </a:r>
            <a:r>
              <a:rPr sz="1200" dirty="0">
                <a:latin typeface="Times New Roman"/>
                <a:cs typeface="Times New Roman"/>
              </a:rPr>
              <a:t>objetivo</a:t>
            </a:r>
            <a:r>
              <a:rPr sz="1200" spc="-15" dirty="0">
                <a:latin typeface="Times New Roman"/>
                <a:cs typeface="Times New Roman"/>
              </a:rPr>
              <a:t> </a:t>
            </a:r>
            <a:r>
              <a:rPr sz="1200" dirty="0">
                <a:latin typeface="Times New Roman"/>
                <a:cs typeface="Times New Roman"/>
              </a:rPr>
              <a:t>es</a:t>
            </a:r>
            <a:r>
              <a:rPr sz="1200" spc="-35" dirty="0">
                <a:latin typeface="Times New Roman"/>
                <a:cs typeface="Times New Roman"/>
              </a:rPr>
              <a:t> </a:t>
            </a:r>
            <a:r>
              <a:rPr sz="1200" spc="-10" dirty="0">
                <a:latin typeface="Times New Roman"/>
                <a:cs typeface="Times New Roman"/>
              </a:rPr>
              <a:t>apoyar </a:t>
            </a:r>
            <a:r>
              <a:rPr sz="1200" dirty="0">
                <a:latin typeface="Times New Roman"/>
                <a:cs typeface="Times New Roman"/>
              </a:rPr>
              <a:t>la</a:t>
            </a:r>
            <a:r>
              <a:rPr sz="1200" spc="-20" dirty="0">
                <a:latin typeface="Times New Roman"/>
                <a:cs typeface="Times New Roman"/>
              </a:rPr>
              <a:t> </a:t>
            </a:r>
            <a:r>
              <a:rPr sz="1200" dirty="0">
                <a:latin typeface="Times New Roman"/>
                <a:cs typeface="Times New Roman"/>
              </a:rPr>
              <a:t>gestión</a:t>
            </a:r>
            <a:r>
              <a:rPr sz="1200" spc="-25" dirty="0">
                <a:latin typeface="Times New Roman"/>
                <a:cs typeface="Times New Roman"/>
              </a:rPr>
              <a:t> </a:t>
            </a:r>
            <a:r>
              <a:rPr sz="1200" dirty="0">
                <a:latin typeface="Times New Roman"/>
                <a:cs typeface="Times New Roman"/>
              </a:rPr>
              <a:t>del</a:t>
            </a:r>
            <a:r>
              <a:rPr sz="1200" spc="-25" dirty="0">
                <a:latin typeface="Times New Roman"/>
                <a:cs typeface="Times New Roman"/>
              </a:rPr>
              <a:t> </a:t>
            </a:r>
            <a:r>
              <a:rPr sz="1200" dirty="0">
                <a:latin typeface="Times New Roman"/>
                <a:cs typeface="Times New Roman"/>
              </a:rPr>
              <a:t>negocio.</a:t>
            </a:r>
            <a:r>
              <a:rPr sz="1200" spc="-15" dirty="0">
                <a:latin typeface="Times New Roman"/>
                <a:cs typeface="Times New Roman"/>
              </a:rPr>
              <a:t> </a:t>
            </a:r>
            <a:r>
              <a:rPr sz="1200" dirty="0">
                <a:latin typeface="Times New Roman"/>
                <a:cs typeface="Times New Roman"/>
              </a:rPr>
              <a:t>Se</a:t>
            </a:r>
            <a:r>
              <a:rPr sz="1200" spc="-25" dirty="0">
                <a:latin typeface="Times New Roman"/>
                <a:cs typeface="Times New Roman"/>
              </a:rPr>
              <a:t> </a:t>
            </a:r>
            <a:r>
              <a:rPr sz="1200" dirty="0">
                <a:latin typeface="Times New Roman"/>
                <a:cs typeface="Times New Roman"/>
              </a:rPr>
              <a:t>desarrollará</a:t>
            </a:r>
            <a:r>
              <a:rPr sz="1200" spc="-15" dirty="0">
                <a:latin typeface="Times New Roman"/>
                <a:cs typeface="Times New Roman"/>
              </a:rPr>
              <a:t> </a:t>
            </a:r>
            <a:r>
              <a:rPr sz="1200" dirty="0">
                <a:latin typeface="Times New Roman"/>
                <a:cs typeface="Times New Roman"/>
              </a:rPr>
              <a:t>bajo</a:t>
            </a:r>
            <a:r>
              <a:rPr sz="1200" spc="-35" dirty="0">
                <a:latin typeface="Times New Roman"/>
                <a:cs typeface="Times New Roman"/>
              </a:rPr>
              <a:t> </a:t>
            </a:r>
            <a:r>
              <a:rPr sz="1200" dirty="0">
                <a:latin typeface="Times New Roman"/>
                <a:cs typeface="Times New Roman"/>
              </a:rPr>
              <a:t>una</a:t>
            </a:r>
            <a:r>
              <a:rPr sz="1200" spc="-30" dirty="0">
                <a:latin typeface="Times New Roman"/>
                <a:cs typeface="Times New Roman"/>
              </a:rPr>
              <a:t> </a:t>
            </a:r>
            <a:r>
              <a:rPr sz="1200" dirty="0">
                <a:latin typeface="Times New Roman"/>
                <a:cs typeface="Times New Roman"/>
              </a:rPr>
              <a:t>arquitectura</a:t>
            </a:r>
            <a:r>
              <a:rPr sz="1200" spc="-5" dirty="0">
                <a:latin typeface="Times New Roman"/>
                <a:cs typeface="Times New Roman"/>
              </a:rPr>
              <a:t> </a:t>
            </a:r>
            <a:r>
              <a:rPr sz="1200" dirty="0">
                <a:latin typeface="Times New Roman"/>
                <a:cs typeface="Times New Roman"/>
              </a:rPr>
              <a:t>web</a:t>
            </a:r>
            <a:r>
              <a:rPr sz="1200" spc="-20" dirty="0">
                <a:latin typeface="Times New Roman"/>
                <a:cs typeface="Times New Roman"/>
              </a:rPr>
              <a:t> </a:t>
            </a:r>
            <a:r>
              <a:rPr sz="1200" spc="-25" dirty="0">
                <a:latin typeface="Times New Roman"/>
                <a:cs typeface="Times New Roman"/>
              </a:rPr>
              <a:t>cliente-</a:t>
            </a:r>
            <a:r>
              <a:rPr sz="1200" dirty="0">
                <a:latin typeface="Times New Roman"/>
                <a:cs typeface="Times New Roman"/>
              </a:rPr>
              <a:t>servidor</a:t>
            </a:r>
            <a:r>
              <a:rPr sz="1200" spc="-25" dirty="0">
                <a:latin typeface="Times New Roman"/>
                <a:cs typeface="Times New Roman"/>
              </a:rPr>
              <a:t> </a:t>
            </a:r>
            <a:r>
              <a:rPr sz="1200" dirty="0">
                <a:latin typeface="Times New Roman"/>
                <a:cs typeface="Times New Roman"/>
              </a:rPr>
              <a:t>con</a:t>
            </a:r>
            <a:r>
              <a:rPr sz="1200" spc="-10" dirty="0">
                <a:latin typeface="Times New Roman"/>
                <a:cs typeface="Times New Roman"/>
              </a:rPr>
              <a:t> </a:t>
            </a:r>
            <a:r>
              <a:rPr sz="1200" dirty="0">
                <a:latin typeface="Times New Roman"/>
                <a:cs typeface="Times New Roman"/>
              </a:rPr>
              <a:t>un</a:t>
            </a:r>
            <a:r>
              <a:rPr sz="1200" spc="-30" dirty="0">
                <a:latin typeface="Times New Roman"/>
                <a:cs typeface="Times New Roman"/>
              </a:rPr>
              <a:t> </a:t>
            </a:r>
            <a:r>
              <a:rPr sz="1200" dirty="0">
                <a:latin typeface="Times New Roman"/>
                <a:cs typeface="Times New Roman"/>
              </a:rPr>
              <a:t>Back-End</a:t>
            </a:r>
            <a:r>
              <a:rPr sz="1200" spc="-35" dirty="0">
                <a:latin typeface="Times New Roman"/>
                <a:cs typeface="Times New Roman"/>
              </a:rPr>
              <a:t> </a:t>
            </a:r>
            <a:r>
              <a:rPr sz="1200" dirty="0">
                <a:latin typeface="Times New Roman"/>
                <a:cs typeface="Times New Roman"/>
              </a:rPr>
              <a:t>para</a:t>
            </a:r>
            <a:r>
              <a:rPr sz="1200" spc="-20" dirty="0">
                <a:latin typeface="Times New Roman"/>
                <a:cs typeface="Times New Roman"/>
              </a:rPr>
              <a:t> </a:t>
            </a:r>
            <a:r>
              <a:rPr sz="1200" dirty="0">
                <a:latin typeface="Times New Roman"/>
                <a:cs typeface="Times New Roman"/>
              </a:rPr>
              <a:t>la</a:t>
            </a:r>
            <a:r>
              <a:rPr sz="1200" spc="-35" dirty="0">
                <a:latin typeface="Times New Roman"/>
                <a:cs typeface="Times New Roman"/>
              </a:rPr>
              <a:t> </a:t>
            </a:r>
            <a:r>
              <a:rPr sz="1200" dirty="0">
                <a:latin typeface="Times New Roman"/>
                <a:cs typeface="Times New Roman"/>
              </a:rPr>
              <a:t>lógica</a:t>
            </a:r>
            <a:r>
              <a:rPr sz="1200" spc="-5" dirty="0">
                <a:latin typeface="Times New Roman"/>
                <a:cs typeface="Times New Roman"/>
              </a:rPr>
              <a:t> </a:t>
            </a:r>
            <a:r>
              <a:rPr sz="1200" spc="-50" dirty="0">
                <a:latin typeface="Times New Roman"/>
                <a:cs typeface="Times New Roman"/>
              </a:rPr>
              <a:t>y </a:t>
            </a:r>
            <a:r>
              <a:rPr sz="1200" dirty="0">
                <a:latin typeface="Times New Roman"/>
                <a:cs typeface="Times New Roman"/>
              </a:rPr>
              <a:t>manejo</a:t>
            </a:r>
            <a:r>
              <a:rPr sz="1200" spc="-35" dirty="0">
                <a:latin typeface="Times New Roman"/>
                <a:cs typeface="Times New Roman"/>
              </a:rPr>
              <a:t> </a:t>
            </a:r>
            <a:r>
              <a:rPr sz="1200" dirty="0">
                <a:latin typeface="Times New Roman"/>
                <a:cs typeface="Times New Roman"/>
              </a:rPr>
              <a:t>de</a:t>
            </a:r>
            <a:r>
              <a:rPr sz="1200" spc="-30" dirty="0">
                <a:latin typeface="Times New Roman"/>
                <a:cs typeface="Times New Roman"/>
              </a:rPr>
              <a:t> </a:t>
            </a:r>
            <a:r>
              <a:rPr sz="1200" dirty="0">
                <a:latin typeface="Times New Roman"/>
                <a:cs typeface="Times New Roman"/>
              </a:rPr>
              <a:t>datos,</a:t>
            </a:r>
            <a:r>
              <a:rPr sz="1200" spc="-20" dirty="0">
                <a:latin typeface="Times New Roman"/>
                <a:cs typeface="Times New Roman"/>
              </a:rPr>
              <a:t> </a:t>
            </a:r>
            <a:r>
              <a:rPr sz="1200" dirty="0">
                <a:latin typeface="Times New Roman"/>
                <a:cs typeface="Times New Roman"/>
              </a:rPr>
              <a:t>un</a:t>
            </a:r>
            <a:r>
              <a:rPr sz="1200" spc="-30" dirty="0">
                <a:latin typeface="Times New Roman"/>
                <a:cs typeface="Times New Roman"/>
              </a:rPr>
              <a:t> </a:t>
            </a:r>
            <a:r>
              <a:rPr sz="1200" spc="-20" dirty="0">
                <a:latin typeface="Times New Roman"/>
                <a:cs typeface="Times New Roman"/>
              </a:rPr>
              <a:t>Front-</a:t>
            </a:r>
            <a:r>
              <a:rPr sz="1200" dirty="0">
                <a:latin typeface="Times New Roman"/>
                <a:cs typeface="Times New Roman"/>
              </a:rPr>
              <a:t>End</a:t>
            </a:r>
            <a:r>
              <a:rPr sz="1200" spc="-20" dirty="0">
                <a:latin typeface="Times New Roman"/>
                <a:cs typeface="Times New Roman"/>
              </a:rPr>
              <a:t> </a:t>
            </a:r>
            <a:r>
              <a:rPr sz="1200" dirty="0">
                <a:latin typeface="Times New Roman"/>
                <a:cs typeface="Times New Roman"/>
              </a:rPr>
              <a:t>para</a:t>
            </a:r>
            <a:r>
              <a:rPr sz="1200" spc="-35" dirty="0">
                <a:latin typeface="Times New Roman"/>
                <a:cs typeface="Times New Roman"/>
              </a:rPr>
              <a:t> </a:t>
            </a:r>
            <a:r>
              <a:rPr sz="1200" dirty="0">
                <a:latin typeface="Times New Roman"/>
                <a:cs typeface="Times New Roman"/>
              </a:rPr>
              <a:t>la</a:t>
            </a:r>
            <a:r>
              <a:rPr sz="1200" spc="-15" dirty="0">
                <a:latin typeface="Times New Roman"/>
                <a:cs typeface="Times New Roman"/>
              </a:rPr>
              <a:t> </a:t>
            </a:r>
            <a:r>
              <a:rPr sz="1200" dirty="0">
                <a:latin typeface="Times New Roman"/>
                <a:cs typeface="Times New Roman"/>
              </a:rPr>
              <a:t>interacción con</a:t>
            </a:r>
            <a:r>
              <a:rPr sz="1200" spc="-15" dirty="0">
                <a:latin typeface="Times New Roman"/>
                <a:cs typeface="Times New Roman"/>
              </a:rPr>
              <a:t> </a:t>
            </a:r>
            <a:r>
              <a:rPr sz="1200" dirty="0">
                <a:latin typeface="Times New Roman"/>
                <a:cs typeface="Times New Roman"/>
              </a:rPr>
              <a:t>el</a:t>
            </a:r>
            <a:r>
              <a:rPr sz="1200" spc="-25" dirty="0">
                <a:latin typeface="Times New Roman"/>
                <a:cs typeface="Times New Roman"/>
              </a:rPr>
              <a:t> </a:t>
            </a:r>
            <a:r>
              <a:rPr sz="1200" dirty="0">
                <a:latin typeface="Times New Roman"/>
                <a:cs typeface="Times New Roman"/>
              </a:rPr>
              <a:t>usuario,</a:t>
            </a:r>
            <a:r>
              <a:rPr sz="1200" spc="-25" dirty="0">
                <a:latin typeface="Times New Roman"/>
                <a:cs typeface="Times New Roman"/>
              </a:rPr>
              <a:t> </a:t>
            </a:r>
            <a:r>
              <a:rPr sz="1200" dirty="0">
                <a:latin typeface="Times New Roman"/>
                <a:cs typeface="Times New Roman"/>
              </a:rPr>
              <a:t>una</a:t>
            </a:r>
            <a:r>
              <a:rPr sz="1200" spc="-30" dirty="0">
                <a:latin typeface="Times New Roman"/>
                <a:cs typeface="Times New Roman"/>
              </a:rPr>
              <a:t> </a:t>
            </a:r>
            <a:r>
              <a:rPr sz="1200" dirty="0">
                <a:latin typeface="Times New Roman"/>
                <a:cs typeface="Times New Roman"/>
              </a:rPr>
              <a:t>base</a:t>
            </a:r>
            <a:r>
              <a:rPr sz="1200" spc="-30" dirty="0">
                <a:latin typeface="Times New Roman"/>
                <a:cs typeface="Times New Roman"/>
              </a:rPr>
              <a:t> </a:t>
            </a:r>
            <a:r>
              <a:rPr sz="1200" dirty="0">
                <a:latin typeface="Times New Roman"/>
                <a:cs typeface="Times New Roman"/>
              </a:rPr>
              <a:t>de</a:t>
            </a:r>
            <a:r>
              <a:rPr sz="1200" spc="-15" dirty="0">
                <a:latin typeface="Times New Roman"/>
                <a:cs typeface="Times New Roman"/>
              </a:rPr>
              <a:t> </a:t>
            </a:r>
            <a:r>
              <a:rPr sz="1200" dirty="0">
                <a:latin typeface="Times New Roman"/>
                <a:cs typeface="Times New Roman"/>
              </a:rPr>
              <a:t>datos</a:t>
            </a:r>
            <a:r>
              <a:rPr sz="1200" spc="-30" dirty="0">
                <a:latin typeface="Times New Roman"/>
                <a:cs typeface="Times New Roman"/>
              </a:rPr>
              <a:t> </a:t>
            </a:r>
            <a:r>
              <a:rPr sz="1200" dirty="0">
                <a:latin typeface="Times New Roman"/>
                <a:cs typeface="Times New Roman"/>
              </a:rPr>
              <a:t>relacional,</a:t>
            </a:r>
            <a:r>
              <a:rPr sz="1200" spc="-15" dirty="0">
                <a:latin typeface="Times New Roman"/>
                <a:cs typeface="Times New Roman"/>
              </a:rPr>
              <a:t> </a:t>
            </a:r>
            <a:r>
              <a:rPr sz="1200" dirty="0">
                <a:latin typeface="Times New Roman"/>
                <a:cs typeface="Times New Roman"/>
              </a:rPr>
              <a:t>y</a:t>
            </a:r>
            <a:r>
              <a:rPr sz="1200" spc="-25" dirty="0">
                <a:latin typeface="Times New Roman"/>
                <a:cs typeface="Times New Roman"/>
              </a:rPr>
              <a:t> </a:t>
            </a:r>
            <a:r>
              <a:rPr sz="1200" dirty="0">
                <a:latin typeface="Times New Roman"/>
                <a:cs typeface="Times New Roman"/>
              </a:rPr>
              <a:t>el</a:t>
            </a:r>
            <a:r>
              <a:rPr sz="1200" spc="-20" dirty="0">
                <a:latin typeface="Times New Roman"/>
                <a:cs typeface="Times New Roman"/>
              </a:rPr>
              <a:t> </a:t>
            </a:r>
            <a:r>
              <a:rPr sz="1200" dirty="0">
                <a:latin typeface="Times New Roman"/>
                <a:cs typeface="Times New Roman"/>
              </a:rPr>
              <a:t>uso</a:t>
            </a:r>
            <a:r>
              <a:rPr sz="1200" spc="-35" dirty="0">
                <a:latin typeface="Times New Roman"/>
                <a:cs typeface="Times New Roman"/>
              </a:rPr>
              <a:t> </a:t>
            </a:r>
            <a:r>
              <a:rPr sz="1200" dirty="0">
                <a:latin typeface="Times New Roman"/>
                <a:cs typeface="Times New Roman"/>
              </a:rPr>
              <a:t>de</a:t>
            </a:r>
            <a:r>
              <a:rPr sz="1200" spc="-10" dirty="0">
                <a:latin typeface="Times New Roman"/>
                <a:cs typeface="Times New Roman"/>
              </a:rPr>
              <a:t> frameworks </a:t>
            </a:r>
            <a:r>
              <a:rPr sz="1200" dirty="0">
                <a:latin typeface="Times New Roman"/>
                <a:cs typeface="Times New Roman"/>
              </a:rPr>
              <a:t>y</a:t>
            </a:r>
            <a:r>
              <a:rPr sz="1200" spc="-20" dirty="0">
                <a:latin typeface="Times New Roman"/>
                <a:cs typeface="Times New Roman"/>
              </a:rPr>
              <a:t> </a:t>
            </a:r>
            <a:r>
              <a:rPr sz="1200" dirty="0">
                <a:latin typeface="Times New Roman"/>
                <a:cs typeface="Times New Roman"/>
              </a:rPr>
              <a:t>librerías</a:t>
            </a:r>
            <a:r>
              <a:rPr sz="1200" spc="-5" dirty="0">
                <a:latin typeface="Times New Roman"/>
                <a:cs typeface="Times New Roman"/>
              </a:rPr>
              <a:t> </a:t>
            </a:r>
            <a:r>
              <a:rPr sz="1200" dirty="0">
                <a:latin typeface="Times New Roman"/>
                <a:cs typeface="Times New Roman"/>
              </a:rPr>
              <a:t>para</a:t>
            </a:r>
            <a:r>
              <a:rPr sz="1200" spc="-10" dirty="0">
                <a:latin typeface="Times New Roman"/>
                <a:cs typeface="Times New Roman"/>
              </a:rPr>
              <a:t> </a:t>
            </a:r>
            <a:r>
              <a:rPr sz="1200" dirty="0">
                <a:latin typeface="Times New Roman"/>
                <a:cs typeface="Times New Roman"/>
              </a:rPr>
              <a:t>optimizar el</a:t>
            </a:r>
            <a:r>
              <a:rPr sz="1200" spc="-15" dirty="0">
                <a:latin typeface="Times New Roman"/>
                <a:cs typeface="Times New Roman"/>
              </a:rPr>
              <a:t> </a:t>
            </a:r>
            <a:r>
              <a:rPr sz="1200" spc="-10" dirty="0">
                <a:latin typeface="Times New Roman"/>
                <a:cs typeface="Times New Roman"/>
              </a:rPr>
              <a:t>desarrollo.</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3200" spc="120" dirty="0">
                <a:latin typeface="Times New Roman"/>
                <a:cs typeface="Times New Roman"/>
              </a:rPr>
              <a:t>Alcance · Usuarios e Inventario</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
        <p:nvSpPr>
          <p:cNvPr id="9" name="Rounded Rectangle 8"/>
          <p:cNvSpPr/>
          <p:nvPr/>
        </p:nvSpPr>
        <p:spPr>
          <a:xfrm>
            <a:off x="457200" y="1572768"/>
            <a:ext cx="3657600" cy="310896"/>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ALCANCE 1 · LO QUE HACE EL SISTEMA</a:t>
            </a:r>
          </a:p>
        </p:txBody>
      </p:sp>
      <p:sp>
        <p:nvSpPr>
          <p:cNvPr id="10" name="Rounded Rectangle 9"/>
          <p:cNvSpPr/>
          <p:nvPr/>
        </p:nvSpPr>
        <p:spPr>
          <a:xfrm>
            <a:off x="457200" y="2148840"/>
            <a:ext cx="5513832" cy="31089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331720"/>
            <a:ext cx="4937760" cy="3200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Módulo de Usuarios y Seguridad</a:t>
            </a:r>
          </a:p>
        </p:txBody>
      </p:sp>
      <p:sp>
        <p:nvSpPr>
          <p:cNvPr id="12" name="Rounded Rectangle 11"/>
          <p:cNvSpPr/>
          <p:nvPr/>
        </p:nvSpPr>
        <p:spPr>
          <a:xfrm>
            <a:off x="731520" y="2761488"/>
            <a:ext cx="137160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Administrador</a:t>
            </a:r>
          </a:p>
        </p:txBody>
      </p:sp>
      <p:sp>
        <p:nvSpPr>
          <p:cNvPr id="13" name="Rounded Rectangle 12"/>
          <p:cNvSpPr/>
          <p:nvPr/>
        </p:nvSpPr>
        <p:spPr>
          <a:xfrm>
            <a:off x="2212848" y="2761488"/>
            <a:ext cx="137160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Cajero</a:t>
            </a:r>
          </a:p>
        </p:txBody>
      </p:sp>
      <p:sp>
        <p:nvSpPr>
          <p:cNvPr id="14" name="Rounded Rectangle 13"/>
          <p:cNvSpPr/>
          <p:nvPr/>
        </p:nvSpPr>
        <p:spPr>
          <a:xfrm>
            <a:off x="3694176" y="2761488"/>
            <a:ext cx="137160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Domiciliario</a:t>
            </a:r>
          </a:p>
        </p:txBody>
      </p:sp>
      <p:sp>
        <p:nvSpPr>
          <p:cNvPr id="15" name="TextBox 14"/>
          <p:cNvSpPr txBox="1"/>
          <p:nvPr/>
        </p:nvSpPr>
        <p:spPr>
          <a:xfrm>
            <a:off x="731520" y="3291840"/>
            <a:ext cx="4965192" cy="1828800"/>
          </a:xfrm>
          <a:prstGeom prst="rect">
            <a:avLst/>
          </a:prstGeom>
          <a:noFill/>
        </p:spPr>
        <p:txBody>
          <a:bodyPr wrap="square" lIns="0" rIns="0" tIns="0" bIns="0" anchor="t"/>
          <a:lstStyle/>
          <a:p>
            <a:pPr algn="just">
              <a:lnSpc>
                <a:spcPct val="100000"/>
              </a:lnSpc>
              <a:spcAft>
                <a:spcPts val="1000"/>
              </a:spcAft>
            </a:pPr>
            <a:r>
              <a:rPr sz="1200" b="0" i="0">
                <a:solidFill>
                  <a:srgbClr val="222222"/>
                </a:solidFill>
                <a:latin typeface="Times New Roman"/>
                <a:cs typeface="Times New Roman"/>
              </a:rPr>
              <a:t>Controla quién entra al sistema y qué puede hacer. Permite registrar, consultar, editar y activar o desactivar a los empleados. A cada uno se le asigna uno de tres roles: administrador, cajero o domiciliario.</a:t>
            </a:r>
          </a:p>
          <a:p>
            <a:pPr algn="just">
              <a:lnSpc>
                <a:spcPct val="100000"/>
              </a:lnSpc>
              <a:spcAft>
                <a:spcPts val="1000"/>
              </a:spcAft>
            </a:pPr>
            <a:r>
              <a:rPr sz="1200" b="0" i="0">
                <a:solidFill>
                  <a:srgbClr val="222222"/>
                </a:solidFill>
                <a:latin typeface="Times New Roman"/>
                <a:cs typeface="Times New Roman"/>
              </a:rPr>
              <a:t>Al iniciar sesión, cada usuario ve solo el panel de su rol. Cualquier usuario puede cambiar su propia contraseña, que se guarda cifrada. Las acciones importantes, como anular una venta, quedan registradas en un log de auditoría.</a:t>
            </a:r>
          </a:p>
        </p:txBody>
      </p:sp>
      <p:sp>
        <p:nvSpPr>
          <p:cNvPr id="16" name="Rounded Rectangle 15"/>
          <p:cNvSpPr/>
          <p:nvPr/>
        </p:nvSpPr>
        <p:spPr>
          <a:xfrm>
            <a:off x="6217920" y="2148840"/>
            <a:ext cx="5513832" cy="310896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2240" y="2331720"/>
            <a:ext cx="4937760" cy="3200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Módulo de Inventario</a:t>
            </a:r>
          </a:p>
        </p:txBody>
      </p:sp>
      <p:sp>
        <p:nvSpPr>
          <p:cNvPr id="18" name="Rounded Rectangle 17"/>
          <p:cNvSpPr/>
          <p:nvPr/>
        </p:nvSpPr>
        <p:spPr>
          <a:xfrm>
            <a:off x="6492240" y="2761488"/>
            <a:ext cx="137160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Entrada</a:t>
            </a:r>
          </a:p>
        </p:txBody>
      </p:sp>
      <p:sp>
        <p:nvSpPr>
          <p:cNvPr id="19" name="Rounded Rectangle 18"/>
          <p:cNvSpPr/>
          <p:nvPr/>
        </p:nvSpPr>
        <p:spPr>
          <a:xfrm>
            <a:off x="7973567" y="2761488"/>
            <a:ext cx="137160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Salida</a:t>
            </a:r>
          </a:p>
        </p:txBody>
      </p:sp>
      <p:sp>
        <p:nvSpPr>
          <p:cNvPr id="20" name="Rounded Rectangle 19"/>
          <p:cNvSpPr/>
          <p:nvPr/>
        </p:nvSpPr>
        <p:spPr>
          <a:xfrm>
            <a:off x="9454896" y="2761488"/>
            <a:ext cx="137160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Ajuste</a:t>
            </a:r>
          </a:p>
        </p:txBody>
      </p:sp>
      <p:sp>
        <p:nvSpPr>
          <p:cNvPr id="21" name="TextBox 20"/>
          <p:cNvSpPr txBox="1"/>
          <p:nvPr/>
        </p:nvSpPr>
        <p:spPr>
          <a:xfrm>
            <a:off x="6492240" y="3291840"/>
            <a:ext cx="4965192" cy="1828800"/>
          </a:xfrm>
          <a:prstGeom prst="rect">
            <a:avLst/>
          </a:prstGeom>
          <a:noFill/>
        </p:spPr>
        <p:txBody>
          <a:bodyPr wrap="square" lIns="0" rIns="0" tIns="0" bIns="0" anchor="t"/>
          <a:lstStyle/>
          <a:p>
            <a:pPr algn="just">
              <a:lnSpc>
                <a:spcPct val="100000"/>
              </a:lnSpc>
              <a:spcAft>
                <a:spcPts val="1000"/>
              </a:spcAft>
            </a:pPr>
            <a:r>
              <a:rPr sz="1200" b="0" i="0">
                <a:solidFill>
                  <a:srgbClr val="222222"/>
                </a:solidFill>
                <a:latin typeface="Times New Roman"/>
                <a:cs typeface="Times New Roman"/>
              </a:rPr>
              <a:t>Mantiene al día los productos del autoservicio. Permite registrar, consultar, editar y desactivar productos, con su código, categoría, precio, stock actual y stock mínimo.</a:t>
            </a:r>
          </a:p>
          <a:p>
            <a:pPr algn="just">
              <a:lnSpc>
                <a:spcPct val="100000"/>
              </a:lnSpc>
              <a:spcAft>
                <a:spcPts val="1000"/>
              </a:spcAft>
            </a:pPr>
            <a:r>
              <a:rPr sz="1200" b="0" i="0">
                <a:solidFill>
                  <a:srgbClr val="222222"/>
                </a:solidFill>
                <a:latin typeface="Times New Roman"/>
                <a:cs typeface="Times New Roman"/>
              </a:rPr>
              <a:t>Cada entrada, salida o ajuste queda guardado como un movimiento, con fecha y usuario responsable. Cuando un producto baja de su stock mínimo, el sistema genera una alerta para reponerlo a tiempo.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3200" spc="120" dirty="0">
                <a:latin typeface="Times New Roman"/>
                <a:cs typeface="Times New Roman"/>
              </a:rPr>
              <a:t>Alcance · Ventas y Caja</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
        <p:nvSpPr>
          <p:cNvPr id="9" name="Rounded Rectangle 8"/>
          <p:cNvSpPr/>
          <p:nvPr/>
        </p:nvSpPr>
        <p:spPr>
          <a:xfrm>
            <a:off x="457200" y="1572768"/>
            <a:ext cx="3657600" cy="310896"/>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ALCANCE 1 · LO QUE HACE EL SISTEMA</a:t>
            </a:r>
          </a:p>
        </p:txBody>
      </p:sp>
      <p:sp>
        <p:nvSpPr>
          <p:cNvPr id="10" name="Rounded Rectangle 9"/>
          <p:cNvSpPr/>
          <p:nvPr/>
        </p:nvSpPr>
        <p:spPr>
          <a:xfrm>
            <a:off x="457200" y="2103120"/>
            <a:ext cx="3566160" cy="420624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2286000"/>
            <a:ext cx="3108960" cy="3200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Módulo de Ventas y Caja</a:t>
            </a:r>
          </a:p>
        </p:txBody>
      </p:sp>
      <p:sp>
        <p:nvSpPr>
          <p:cNvPr id="12" name="TextBox 11"/>
          <p:cNvSpPr txBox="1"/>
          <p:nvPr/>
        </p:nvSpPr>
        <p:spPr>
          <a:xfrm>
            <a:off x="685800" y="2697480"/>
            <a:ext cx="3108960" cy="14630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Maneja el cobro diario en el punto de venta, desde la apertura del turno hasta el cierre de caja, cuidando que el inventario y el dinero siempre cuadren.</a:t>
            </a:r>
          </a:p>
        </p:txBody>
      </p:sp>
      <p:sp>
        <p:nvSpPr>
          <p:cNvPr id="13" name="TextBox 12"/>
          <p:cNvSpPr txBox="1"/>
          <p:nvPr/>
        </p:nvSpPr>
        <p:spPr>
          <a:xfrm>
            <a:off x="685800" y="4160520"/>
            <a:ext cx="3108960"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Medios de pago aceptados</a:t>
            </a:r>
          </a:p>
        </p:txBody>
      </p:sp>
      <p:sp>
        <p:nvSpPr>
          <p:cNvPr id="14" name="Rounded Rectangle 13"/>
          <p:cNvSpPr/>
          <p:nvPr/>
        </p:nvSpPr>
        <p:spPr>
          <a:xfrm>
            <a:off x="685800" y="4572000"/>
            <a:ext cx="146304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Efectivo</a:t>
            </a:r>
          </a:p>
        </p:txBody>
      </p:sp>
      <p:sp>
        <p:nvSpPr>
          <p:cNvPr id="15" name="Rounded Rectangle 14"/>
          <p:cNvSpPr/>
          <p:nvPr/>
        </p:nvSpPr>
        <p:spPr>
          <a:xfrm>
            <a:off x="2258568" y="4572000"/>
            <a:ext cx="146304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Nequi</a:t>
            </a:r>
          </a:p>
        </p:txBody>
      </p:sp>
      <p:sp>
        <p:nvSpPr>
          <p:cNvPr id="16" name="Rounded Rectangle 15"/>
          <p:cNvSpPr/>
          <p:nvPr/>
        </p:nvSpPr>
        <p:spPr>
          <a:xfrm>
            <a:off x="685800" y="5010912"/>
            <a:ext cx="146304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Transferencia</a:t>
            </a:r>
          </a:p>
        </p:txBody>
      </p:sp>
      <p:sp>
        <p:nvSpPr>
          <p:cNvPr id="17" name="Rounded Rectangle 16"/>
          <p:cNvSpPr/>
          <p:nvPr/>
        </p:nvSpPr>
        <p:spPr>
          <a:xfrm>
            <a:off x="2258568" y="5010912"/>
            <a:ext cx="146304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Tarjeta</a:t>
            </a:r>
          </a:p>
        </p:txBody>
      </p:sp>
      <p:cxnSp>
        <p:nvCxnSpPr>
          <p:cNvPr id="18" name="Connector 17"/>
          <p:cNvCxnSpPr/>
          <p:nvPr/>
        </p:nvCxnSpPr>
        <p:spPr>
          <a:xfrm>
            <a:off x="4553712" y="2286000"/>
            <a:ext cx="0" cy="3703320"/>
          </a:xfrm>
          <a:prstGeom prst="line">
            <a:avLst/>
          </a:prstGeom>
          <a:ln w="25400">
            <a:solidFill>
              <a:srgbClr val="C9E0B8"/>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343400" y="2103120"/>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1</a:t>
            </a:r>
          </a:p>
        </p:txBody>
      </p:sp>
      <p:sp>
        <p:nvSpPr>
          <p:cNvPr id="20" name="TextBox 19"/>
          <p:cNvSpPr txBox="1"/>
          <p:nvPr/>
        </p:nvSpPr>
        <p:spPr>
          <a:xfrm>
            <a:off x="4983480" y="2084831"/>
            <a:ext cx="6748272" cy="7772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Apertura de turno. </a:t>
            </a:r>
            <a:r>
              <a:rPr sz="1200" b="0" i="0">
                <a:solidFill>
                  <a:srgbClr val="222222"/>
                </a:solidFill>
                <a:latin typeface="Times New Roman"/>
                <a:cs typeface="Times New Roman"/>
              </a:rPr>
              <a:t>El cajero abre su turno con una base de dinero y registra las ventas buscando o escaneando los productos.</a:t>
            </a:r>
          </a:p>
        </p:txBody>
      </p:sp>
      <p:sp>
        <p:nvSpPr>
          <p:cNvPr id="21" name="Oval 20"/>
          <p:cNvSpPr/>
          <p:nvPr/>
        </p:nvSpPr>
        <p:spPr>
          <a:xfrm>
            <a:off x="4343400" y="2953512"/>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2</a:t>
            </a:r>
          </a:p>
        </p:txBody>
      </p:sp>
      <p:sp>
        <p:nvSpPr>
          <p:cNvPr id="22" name="TextBox 21"/>
          <p:cNvSpPr txBox="1"/>
          <p:nvPr/>
        </p:nvSpPr>
        <p:spPr>
          <a:xfrm>
            <a:off x="4983480" y="2935224"/>
            <a:ext cx="6748272" cy="7772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Validación y pago. </a:t>
            </a:r>
            <a:r>
              <a:rPr sz="1200" b="0" i="0">
                <a:solidFill>
                  <a:srgbClr val="222222"/>
                </a:solidFill>
                <a:latin typeface="Times New Roman"/>
                <a:cs typeface="Times New Roman"/>
              </a:rPr>
              <a:t>El sistema valida que haya stock suficiente, calcula el total y el cambio, y acepta efectivo, Nequi, transferencia o tarjeta.</a:t>
            </a:r>
          </a:p>
        </p:txBody>
      </p:sp>
      <p:sp>
        <p:nvSpPr>
          <p:cNvPr id="23" name="Oval 22"/>
          <p:cNvSpPr/>
          <p:nvPr/>
        </p:nvSpPr>
        <p:spPr>
          <a:xfrm>
            <a:off x="4343400" y="3803904"/>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3</a:t>
            </a:r>
          </a:p>
        </p:txBody>
      </p:sp>
      <p:sp>
        <p:nvSpPr>
          <p:cNvPr id="24" name="TextBox 23"/>
          <p:cNvSpPr txBox="1"/>
          <p:nvPr/>
        </p:nvSpPr>
        <p:spPr>
          <a:xfrm>
            <a:off x="4983480" y="3785616"/>
            <a:ext cx="6748272" cy="7772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Comprobante. </a:t>
            </a:r>
            <a:r>
              <a:rPr sz="1200" b="0" i="0">
                <a:solidFill>
                  <a:srgbClr val="222222"/>
                </a:solidFill>
                <a:latin typeface="Times New Roman"/>
                <a:cs typeface="Times New Roman"/>
              </a:rPr>
              <a:t>Cada venta genera un comprobante imprimible y descuenta automáticamente el inventario.</a:t>
            </a:r>
          </a:p>
        </p:txBody>
      </p:sp>
      <p:sp>
        <p:nvSpPr>
          <p:cNvPr id="25" name="Oval 24"/>
          <p:cNvSpPr/>
          <p:nvPr/>
        </p:nvSpPr>
        <p:spPr>
          <a:xfrm>
            <a:off x="4343400" y="4654296"/>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4</a:t>
            </a:r>
          </a:p>
        </p:txBody>
      </p:sp>
      <p:sp>
        <p:nvSpPr>
          <p:cNvPr id="26" name="TextBox 25"/>
          <p:cNvSpPr txBox="1"/>
          <p:nvPr/>
        </p:nvSpPr>
        <p:spPr>
          <a:xfrm>
            <a:off x="4983480" y="4636008"/>
            <a:ext cx="6748272" cy="7772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Consultas y anulaciones. </a:t>
            </a:r>
            <a:r>
              <a:rPr sz="1200" b="0" i="0">
                <a:solidFill>
                  <a:srgbClr val="222222"/>
                </a:solidFill>
                <a:latin typeface="Times New Roman"/>
                <a:cs typeface="Times New Roman"/>
              </a:rPr>
              <a:t>Permite consultar el historial de ventas y el detalle de cada factura, anular ventas y registrar devoluciones, siempre con un motivo.</a:t>
            </a:r>
          </a:p>
        </p:txBody>
      </p:sp>
      <p:sp>
        <p:nvSpPr>
          <p:cNvPr id="27" name="Oval 26"/>
          <p:cNvSpPr/>
          <p:nvPr/>
        </p:nvSpPr>
        <p:spPr>
          <a:xfrm>
            <a:off x="4343400" y="5504688"/>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5</a:t>
            </a:r>
          </a:p>
        </p:txBody>
      </p:sp>
      <p:sp>
        <p:nvSpPr>
          <p:cNvPr id="28" name="TextBox 27"/>
          <p:cNvSpPr txBox="1"/>
          <p:nvPr/>
        </p:nvSpPr>
        <p:spPr>
          <a:xfrm>
            <a:off x="4983480" y="5486400"/>
            <a:ext cx="6748272" cy="7772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Cierre de caja. </a:t>
            </a:r>
            <a:r>
              <a:rPr sz="1200" b="0" i="0">
                <a:solidFill>
                  <a:srgbClr val="222222"/>
                </a:solidFill>
                <a:latin typeface="Times New Roman"/>
                <a:cs typeface="Times New Roman"/>
              </a:rPr>
              <a:t>Al final del turno el sistema compara el efectivo esperado con el contado y muestra si hay faltante o sobrante.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3200" spc="120" dirty="0">
                <a:latin typeface="Times New Roman"/>
                <a:cs typeface="Times New Roman"/>
              </a:rPr>
              <a:t>Alcance · Domicilios</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
        <p:nvSpPr>
          <p:cNvPr id="9" name="Rounded Rectangle 8"/>
          <p:cNvSpPr/>
          <p:nvPr/>
        </p:nvSpPr>
        <p:spPr>
          <a:xfrm>
            <a:off x="457200" y="1572768"/>
            <a:ext cx="3657600" cy="310896"/>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ALCANCE 1 · LO QUE HACE EL SISTEMA</a:t>
            </a:r>
          </a:p>
        </p:txBody>
      </p:sp>
      <p:sp>
        <p:nvSpPr>
          <p:cNvPr id="10" name="TextBox 9"/>
          <p:cNvSpPr txBox="1"/>
          <p:nvPr/>
        </p:nvSpPr>
        <p:spPr>
          <a:xfrm>
            <a:off x="457200" y="2057400"/>
            <a:ext cx="11274552" cy="548640"/>
          </a:xfrm>
          <a:prstGeom prst="rect">
            <a:avLst/>
          </a:prstGeom>
          <a:noFill/>
        </p:spPr>
        <p:txBody>
          <a:bodyPr wrap="square" lIns="0" rIns="0" tIns="0" bIns="0" anchor="t"/>
          <a:lstStyle/>
          <a:p>
            <a:pPr algn="just">
              <a:lnSpc>
                <a:spcPct val="100000"/>
              </a:lnSpc>
              <a:spcAft>
                <a:spcPts val="800"/>
              </a:spcAft>
            </a:pPr>
            <a:r>
              <a:rPr sz="1200" b="1" i="0">
                <a:solidFill>
                  <a:srgbClr val="2A7A00"/>
                </a:solidFill>
                <a:latin typeface="Times New Roman"/>
                <a:cs typeface="Times New Roman"/>
              </a:rPr>
              <a:t>Módulo de Domicilios. </a:t>
            </a:r>
            <a:r>
              <a:rPr sz="1200" b="0" i="0">
                <a:solidFill>
                  <a:srgbClr val="222222"/>
                </a:solidFill>
                <a:latin typeface="Times New Roman"/>
                <a:cs typeface="Times New Roman"/>
              </a:rPr>
              <a:t>Gestiona los pedidos que se entregan a domicilio, desde que el cliente los solicita hasta que los recibe, con trazabilidad de cada cambio de estado.</a:t>
            </a:r>
          </a:p>
        </p:txBody>
      </p:sp>
      <p:sp>
        <p:nvSpPr>
          <p:cNvPr id="11" name="Rounded Rectangle 10"/>
          <p:cNvSpPr/>
          <p:nvPr/>
        </p:nvSpPr>
        <p:spPr>
          <a:xfrm>
            <a:off x="457200" y="2926080"/>
            <a:ext cx="2560320" cy="137160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0080" y="2743200"/>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1</a:t>
            </a:r>
          </a:p>
        </p:txBody>
      </p:sp>
      <p:sp>
        <p:nvSpPr>
          <p:cNvPr id="13" name="TextBox 12"/>
          <p:cNvSpPr txBox="1"/>
          <p:nvPr/>
        </p:nvSpPr>
        <p:spPr>
          <a:xfrm>
            <a:off x="640080" y="3246120"/>
            <a:ext cx="2194560" cy="137160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Registro. </a:t>
            </a:r>
            <a:r>
              <a:rPr sz="1200" b="0" i="0">
                <a:solidFill>
                  <a:srgbClr val="222222"/>
                </a:solidFill>
                <a:latin typeface="Times New Roman"/>
                <a:cs typeface="Times New Roman"/>
              </a:rPr>
              <a:t>Se registra el pedido con la dirección, el barrio y el teléfono del cliente.</a:t>
            </a:r>
          </a:p>
        </p:txBody>
      </p:sp>
      <p:sp>
        <p:nvSpPr>
          <p:cNvPr id="14" name="Chevron 13"/>
          <p:cNvSpPr/>
          <p:nvPr/>
        </p:nvSpPr>
        <p:spPr>
          <a:xfrm>
            <a:off x="3081527" y="3493008"/>
            <a:ext cx="210312" cy="237744"/>
          </a:xfrm>
          <a:prstGeom prst="chevron">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355848" y="2926080"/>
            <a:ext cx="2560320" cy="137160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538728" y="2743200"/>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2</a:t>
            </a:r>
          </a:p>
        </p:txBody>
      </p:sp>
      <p:sp>
        <p:nvSpPr>
          <p:cNvPr id="17" name="TextBox 16"/>
          <p:cNvSpPr txBox="1"/>
          <p:nvPr/>
        </p:nvSpPr>
        <p:spPr>
          <a:xfrm>
            <a:off x="3538728" y="3246120"/>
            <a:ext cx="2194560" cy="137160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Asignación. </a:t>
            </a:r>
            <a:r>
              <a:rPr sz="1200" b="0" i="0">
                <a:solidFill>
                  <a:srgbClr val="222222"/>
                </a:solidFill>
                <a:latin typeface="Times New Roman"/>
                <a:cs typeface="Times New Roman"/>
              </a:rPr>
              <a:t>El administrador asigna cada pedido a un domiciliario.</a:t>
            </a:r>
          </a:p>
        </p:txBody>
      </p:sp>
      <p:sp>
        <p:nvSpPr>
          <p:cNvPr id="18" name="Chevron 17"/>
          <p:cNvSpPr/>
          <p:nvPr/>
        </p:nvSpPr>
        <p:spPr>
          <a:xfrm>
            <a:off x="5980176" y="3493008"/>
            <a:ext cx="210312" cy="237744"/>
          </a:xfrm>
          <a:prstGeom prst="chevron">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254496" y="2926080"/>
            <a:ext cx="2560320" cy="137160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37376" y="2743200"/>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3</a:t>
            </a:r>
          </a:p>
        </p:txBody>
      </p:sp>
      <p:sp>
        <p:nvSpPr>
          <p:cNvPr id="21" name="TextBox 20"/>
          <p:cNvSpPr txBox="1"/>
          <p:nvPr/>
        </p:nvSpPr>
        <p:spPr>
          <a:xfrm>
            <a:off x="6437376" y="3246120"/>
            <a:ext cx="2194560" cy="137160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Seguimiento. </a:t>
            </a:r>
            <a:r>
              <a:rPr sz="1200" b="0" i="0">
                <a:solidFill>
                  <a:srgbClr val="222222"/>
                </a:solidFill>
                <a:latin typeface="Times New Roman"/>
                <a:cs typeface="Times New Roman"/>
              </a:rPr>
              <a:t>El domiciliario actualiza el estado del pedido: pendiente, en camino o entregado.</a:t>
            </a:r>
          </a:p>
        </p:txBody>
      </p:sp>
      <p:sp>
        <p:nvSpPr>
          <p:cNvPr id="22" name="Chevron 21"/>
          <p:cNvSpPr/>
          <p:nvPr/>
        </p:nvSpPr>
        <p:spPr>
          <a:xfrm>
            <a:off x="8878824" y="3493008"/>
            <a:ext cx="210312" cy="237744"/>
          </a:xfrm>
          <a:prstGeom prst="chevron">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9153144" y="2926080"/>
            <a:ext cx="2560320" cy="137160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336024" y="2743200"/>
            <a:ext cx="420624" cy="420624"/>
          </a:xfrm>
          <a:prstGeom prst="ellipse">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spcAft>
                <a:spcPts val="0"/>
              </a:spcAft>
            </a:pPr>
            <a:r>
              <a:rPr sz="1200" b="1" i="0">
                <a:solidFill>
                  <a:srgbClr val="FFFFFF"/>
                </a:solidFill>
                <a:latin typeface="Times New Roman"/>
                <a:cs typeface="Times New Roman"/>
              </a:rPr>
              <a:t>4</a:t>
            </a:r>
          </a:p>
        </p:txBody>
      </p:sp>
      <p:sp>
        <p:nvSpPr>
          <p:cNvPr id="25" name="TextBox 24"/>
          <p:cNvSpPr txBox="1"/>
          <p:nvPr/>
        </p:nvSpPr>
        <p:spPr>
          <a:xfrm>
            <a:off x="9336024" y="3246120"/>
            <a:ext cx="2194560" cy="137160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Notificación. </a:t>
            </a:r>
            <a:r>
              <a:rPr sz="1200" b="0" i="0">
                <a:solidFill>
                  <a:srgbClr val="222222"/>
                </a:solidFill>
                <a:latin typeface="Times New Roman"/>
                <a:cs typeface="Times New Roman"/>
              </a:rPr>
              <a:t>Cada cambio de estado se notifica al cliente.</a:t>
            </a:r>
          </a:p>
        </p:txBody>
      </p:sp>
      <p:sp>
        <p:nvSpPr>
          <p:cNvPr id="26" name="Rounded Rectangle 25"/>
          <p:cNvSpPr/>
          <p:nvPr/>
        </p:nvSpPr>
        <p:spPr>
          <a:xfrm>
            <a:off x="457200" y="4709160"/>
            <a:ext cx="11274552" cy="1188720"/>
          </a:xfrm>
          <a:prstGeom prst="roundRect">
            <a:avLst>
              <a:gd name="adj" fmla="val 6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ular Callout 26"/>
          <p:cNvSpPr/>
          <p:nvPr/>
        </p:nvSpPr>
        <p:spPr>
          <a:xfrm>
            <a:off x="731520" y="4910328"/>
            <a:ext cx="1371600" cy="685800"/>
          </a:xfrm>
          <a:prstGeom prst="wedgeRoundRectCallout">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Aft>
                <a:spcPts val="0"/>
              </a:spcAft>
            </a:pPr>
            <a:r>
              <a:rPr sz="1200" b="1" i="0">
                <a:solidFill>
                  <a:srgbClr val="FFFFFF"/>
                </a:solidFill>
                <a:latin typeface="Times New Roman"/>
                <a:cs typeface="Times New Roman"/>
              </a:rPr>
              <a:t>Chatbot</a:t>
            </a:r>
          </a:p>
        </p:txBody>
      </p:sp>
      <p:sp>
        <p:nvSpPr>
          <p:cNvPr id="28" name="TextBox 27"/>
          <p:cNvSpPr txBox="1"/>
          <p:nvPr/>
        </p:nvSpPr>
        <p:spPr>
          <a:xfrm>
            <a:off x="2423160" y="4892040"/>
            <a:ext cx="9052560" cy="822960"/>
          </a:xfrm>
          <a:prstGeom prst="rect">
            <a:avLst/>
          </a:prstGeom>
          <a:noFill/>
        </p:spPr>
        <p:txBody>
          <a:bodyPr wrap="square" lIns="0" rIns="0" tIns="0" bIns="0" anchor="ctr"/>
          <a:lstStyle/>
          <a:p>
            <a:pPr algn="l">
              <a:lnSpc>
                <a:spcPct val="100000"/>
              </a:lnSpc>
              <a:spcAft>
                <a:spcPts val="800"/>
              </a:spcAft>
            </a:pPr>
            <a:r>
              <a:rPr sz="1200" b="0" i="0">
                <a:solidFill>
                  <a:srgbClr val="222222"/>
                </a:solidFill>
                <a:latin typeface="Times New Roman"/>
                <a:cs typeface="Times New Roman"/>
              </a:rPr>
              <a:t>Incluye un chatbot simulado para que el cliente haga pedidos por mensaje. Está preparado para conectarse después a WhatsApp o Telegram.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3200" spc="120" dirty="0">
                <a:latin typeface="Times New Roman"/>
                <a:cs typeface="Times New Roman"/>
              </a:rPr>
              <a:t>Alcance · Reportes</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
        <p:nvSpPr>
          <p:cNvPr id="9" name="Rounded Rectangle 8"/>
          <p:cNvSpPr/>
          <p:nvPr/>
        </p:nvSpPr>
        <p:spPr>
          <a:xfrm>
            <a:off x="457200" y="1572768"/>
            <a:ext cx="3657600" cy="310896"/>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ALCANCE 1 · LO QUE HACE EL SISTEMA</a:t>
            </a:r>
          </a:p>
        </p:txBody>
      </p:sp>
      <p:sp>
        <p:nvSpPr>
          <p:cNvPr id="10" name="TextBox 9"/>
          <p:cNvSpPr txBox="1"/>
          <p:nvPr/>
        </p:nvSpPr>
        <p:spPr>
          <a:xfrm>
            <a:off x="457200" y="2057400"/>
            <a:ext cx="11274552" cy="548640"/>
          </a:xfrm>
          <a:prstGeom prst="rect">
            <a:avLst/>
          </a:prstGeom>
          <a:noFill/>
        </p:spPr>
        <p:txBody>
          <a:bodyPr wrap="square" lIns="0" rIns="0" tIns="0" bIns="0" anchor="t"/>
          <a:lstStyle/>
          <a:p>
            <a:pPr algn="just">
              <a:lnSpc>
                <a:spcPct val="100000"/>
              </a:lnSpc>
              <a:spcAft>
                <a:spcPts val="800"/>
              </a:spcAft>
            </a:pPr>
            <a:r>
              <a:rPr sz="1200" b="1" i="0">
                <a:solidFill>
                  <a:srgbClr val="2A7A00"/>
                </a:solidFill>
                <a:latin typeface="Times New Roman"/>
                <a:cs typeface="Times New Roman"/>
              </a:rPr>
              <a:t>Módulo de Reportes. </a:t>
            </a:r>
            <a:r>
              <a:rPr sz="1200" b="0" i="0">
                <a:solidFill>
                  <a:srgbClr val="222222"/>
                </a:solidFill>
                <a:latin typeface="Times New Roman"/>
                <a:cs typeface="Times New Roman"/>
              </a:rPr>
              <a:t>Convierte los datos del negocio en información para tomar decisiones. Ofrece dos tipos de reporte sobre ventas, inventario y usuarios.</a:t>
            </a:r>
          </a:p>
        </p:txBody>
      </p:sp>
      <p:sp>
        <p:nvSpPr>
          <p:cNvPr id="11" name="Rounded Rectangle 10"/>
          <p:cNvSpPr/>
          <p:nvPr/>
        </p:nvSpPr>
        <p:spPr>
          <a:xfrm>
            <a:off x="457200" y="2788920"/>
            <a:ext cx="6766560" cy="292608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2971800"/>
            <a:ext cx="4572000" cy="3200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Reportes gráficos</a:t>
            </a:r>
          </a:p>
        </p:txBody>
      </p:sp>
      <p:sp>
        <p:nvSpPr>
          <p:cNvPr id="13" name="Rectangle 12"/>
          <p:cNvSpPr/>
          <p:nvPr/>
        </p:nvSpPr>
        <p:spPr>
          <a:xfrm>
            <a:off x="6355080" y="3108960"/>
            <a:ext cx="128016" cy="201168"/>
          </a:xfrm>
          <a:prstGeom prst="rect">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537960" y="2962656"/>
            <a:ext cx="128016" cy="347472"/>
          </a:xfrm>
          <a:prstGeom prst="rect">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720840" y="3035808"/>
            <a:ext cx="128016" cy="274320"/>
          </a:xfrm>
          <a:prstGeom prst="rect">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903720" y="2852928"/>
            <a:ext cx="128016" cy="457200"/>
          </a:xfrm>
          <a:prstGeom prst="rect">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31520" y="3566160"/>
            <a:ext cx="1325880" cy="292608"/>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Ventas</a:t>
            </a:r>
          </a:p>
        </p:txBody>
      </p:sp>
      <p:sp>
        <p:nvSpPr>
          <p:cNvPr id="18" name="TextBox 17"/>
          <p:cNvSpPr txBox="1"/>
          <p:nvPr/>
        </p:nvSpPr>
        <p:spPr>
          <a:xfrm>
            <a:off x="2240280" y="3547872"/>
            <a:ext cx="4754880" cy="685800"/>
          </a:xfrm>
          <a:prstGeom prst="rect">
            <a:avLst/>
          </a:prstGeom>
          <a:noFill/>
        </p:spPr>
        <p:txBody>
          <a:bodyPr wrap="square" lIns="0" rIns="0" tIns="0" bIns="0" anchor="t"/>
          <a:lstStyle/>
          <a:p>
            <a:pPr algn="l">
              <a:lnSpc>
                <a:spcPct val="100000"/>
              </a:lnSpc>
              <a:spcAft>
                <a:spcPts val="0"/>
              </a:spcAft>
            </a:pPr>
            <a:r>
              <a:rPr sz="1200" b="0" i="0">
                <a:solidFill>
                  <a:srgbClr val="222222"/>
                </a:solidFill>
                <a:latin typeface="Times New Roman"/>
                <a:cs typeface="Times New Roman"/>
              </a:rPr>
              <a:t>Ventas por periodo, por método de pago y productos más vendidos.</a:t>
            </a:r>
          </a:p>
        </p:txBody>
      </p:sp>
      <p:sp>
        <p:nvSpPr>
          <p:cNvPr id="19" name="Rounded Rectangle 18"/>
          <p:cNvSpPr/>
          <p:nvPr/>
        </p:nvSpPr>
        <p:spPr>
          <a:xfrm>
            <a:off x="731520" y="4224528"/>
            <a:ext cx="1325880" cy="292608"/>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Inventario</a:t>
            </a:r>
          </a:p>
        </p:txBody>
      </p:sp>
      <p:sp>
        <p:nvSpPr>
          <p:cNvPr id="20" name="TextBox 19"/>
          <p:cNvSpPr txBox="1"/>
          <p:nvPr/>
        </p:nvSpPr>
        <p:spPr>
          <a:xfrm>
            <a:off x="2240280" y="4206240"/>
            <a:ext cx="4754880" cy="685800"/>
          </a:xfrm>
          <a:prstGeom prst="rect">
            <a:avLst/>
          </a:prstGeom>
          <a:noFill/>
        </p:spPr>
        <p:txBody>
          <a:bodyPr wrap="square" lIns="0" rIns="0" tIns="0" bIns="0" anchor="t"/>
          <a:lstStyle/>
          <a:p>
            <a:pPr algn="l">
              <a:lnSpc>
                <a:spcPct val="100000"/>
              </a:lnSpc>
              <a:spcAft>
                <a:spcPts val="0"/>
              </a:spcAft>
            </a:pPr>
            <a:r>
              <a:rPr sz="1200" b="0" i="0">
                <a:solidFill>
                  <a:srgbClr val="222222"/>
                </a:solidFill>
                <a:latin typeface="Times New Roman"/>
                <a:cs typeface="Times New Roman"/>
              </a:rPr>
              <a:t>Productos de mayor y menor rotación, y evolución del stock.</a:t>
            </a:r>
          </a:p>
        </p:txBody>
      </p:sp>
      <p:sp>
        <p:nvSpPr>
          <p:cNvPr id="21" name="Rounded Rectangle 20"/>
          <p:cNvSpPr/>
          <p:nvPr/>
        </p:nvSpPr>
        <p:spPr>
          <a:xfrm>
            <a:off x="731520" y="4882896"/>
            <a:ext cx="1325880" cy="292608"/>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Usuarios</a:t>
            </a:r>
          </a:p>
        </p:txBody>
      </p:sp>
      <p:sp>
        <p:nvSpPr>
          <p:cNvPr id="22" name="TextBox 21"/>
          <p:cNvSpPr txBox="1"/>
          <p:nvPr/>
        </p:nvSpPr>
        <p:spPr>
          <a:xfrm>
            <a:off x="2240280" y="4864608"/>
            <a:ext cx="4754880" cy="685800"/>
          </a:xfrm>
          <a:prstGeom prst="rect">
            <a:avLst/>
          </a:prstGeom>
          <a:noFill/>
        </p:spPr>
        <p:txBody>
          <a:bodyPr wrap="square" lIns="0" rIns="0" tIns="0" bIns="0" anchor="t"/>
          <a:lstStyle/>
          <a:p>
            <a:pPr algn="l">
              <a:lnSpc>
                <a:spcPct val="100000"/>
              </a:lnSpc>
              <a:spcAft>
                <a:spcPts val="0"/>
              </a:spcAft>
            </a:pPr>
            <a:r>
              <a:rPr sz="1200" b="0" i="0">
                <a:solidFill>
                  <a:srgbClr val="222222"/>
                </a:solidFill>
                <a:latin typeface="Times New Roman"/>
                <a:cs typeface="Times New Roman"/>
              </a:rPr>
              <a:t>Desempeño de cada vendedor y distribución de usuarios por rol.</a:t>
            </a:r>
          </a:p>
        </p:txBody>
      </p:sp>
      <p:sp>
        <p:nvSpPr>
          <p:cNvPr id="23" name="Rounded Rectangle 22"/>
          <p:cNvSpPr/>
          <p:nvPr/>
        </p:nvSpPr>
        <p:spPr>
          <a:xfrm>
            <a:off x="7498079" y="2788920"/>
            <a:ext cx="4233672" cy="292608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72400" y="2971800"/>
            <a:ext cx="3657600" cy="32004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Reportes impresos</a:t>
            </a:r>
          </a:p>
        </p:txBody>
      </p:sp>
      <p:sp>
        <p:nvSpPr>
          <p:cNvPr id="25" name="TextBox 24"/>
          <p:cNvSpPr txBox="1"/>
          <p:nvPr/>
        </p:nvSpPr>
        <p:spPr>
          <a:xfrm>
            <a:off x="7772400" y="3566160"/>
            <a:ext cx="3703320" cy="1463040"/>
          </a:xfrm>
          <a:prstGeom prst="rect">
            <a:avLst/>
          </a:prstGeom>
          <a:noFill/>
        </p:spPr>
        <p:txBody>
          <a:bodyPr wrap="square" lIns="0" rIns="0" tIns="0" bIns="0" anchor="t"/>
          <a:lstStyle/>
          <a:p>
            <a:pPr algn="l">
              <a:lnSpc>
                <a:spcPct val="100000"/>
              </a:lnSpc>
              <a:spcAft>
                <a:spcPts val="800"/>
              </a:spcAft>
            </a:pPr>
            <a:r>
              <a:rPr sz="1200" b="0" i="0">
                <a:solidFill>
                  <a:srgbClr val="222222"/>
                </a:solidFill>
                <a:latin typeface="Times New Roman"/>
                <a:cs typeface="Times New Roman"/>
              </a:rPr>
              <a:t>Listados con el encabezado del negocio, los totales y un pie con el usuario que los generó, listos para imprimir o exportar en PDF.</a:t>
            </a:r>
          </a:p>
        </p:txBody>
      </p:sp>
      <p:sp>
        <p:nvSpPr>
          <p:cNvPr id="26" name="Rounded Rectangle 25"/>
          <p:cNvSpPr/>
          <p:nvPr/>
        </p:nvSpPr>
        <p:spPr>
          <a:xfrm>
            <a:off x="7772400" y="4983480"/>
            <a:ext cx="164592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Imprimir</a:t>
            </a:r>
          </a:p>
        </p:txBody>
      </p:sp>
      <p:sp>
        <p:nvSpPr>
          <p:cNvPr id="27" name="Rounded Rectangle 26"/>
          <p:cNvSpPr/>
          <p:nvPr/>
        </p:nvSpPr>
        <p:spPr>
          <a:xfrm>
            <a:off x="9555480" y="4983480"/>
            <a:ext cx="1645920" cy="292608"/>
          </a:xfrm>
          <a:prstGeom prst="roundRect">
            <a:avLst>
              <a:gd name="adj" fmla="val 50000"/>
            </a:avLst>
          </a:prstGeom>
          <a:solidFill>
            <a:srgbClr val="FFFFFF"/>
          </a:solidFill>
          <a:ln w="12700">
            <a:solidFill>
              <a:srgbClr val="39A900"/>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2A7A00"/>
                </a:solidFill>
                <a:latin typeface="Times New Roman"/>
                <a:cs typeface="Times New Roman"/>
              </a:rPr>
              <a:t>Exportar PDF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3200" spc="120" dirty="0">
                <a:latin typeface="Times New Roman"/>
                <a:cs typeface="Times New Roman"/>
              </a:rPr>
              <a:t>Alcance · Arquitectura</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
        <p:nvSpPr>
          <p:cNvPr id="9" name="Rounded Rectangle 8"/>
          <p:cNvSpPr/>
          <p:nvPr/>
        </p:nvSpPr>
        <p:spPr>
          <a:xfrm>
            <a:off x="457200" y="1572768"/>
            <a:ext cx="3291840" cy="310896"/>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ALCANCE 2 · STACK TECNOLÓGICO</a:t>
            </a:r>
          </a:p>
        </p:txBody>
      </p:sp>
      <p:sp>
        <p:nvSpPr>
          <p:cNvPr id="10" name="Rounded Rectangle 9"/>
          <p:cNvSpPr/>
          <p:nvPr/>
        </p:nvSpPr>
        <p:spPr>
          <a:xfrm>
            <a:off x="457200" y="2103120"/>
            <a:ext cx="3410712" cy="777240"/>
          </a:xfrm>
          <a:prstGeom prst="roundRect">
            <a:avLst>
              <a:gd name="adj" fmla="val 6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Aft>
                <a:spcPts val="0"/>
              </a:spcAft>
            </a:pPr>
            <a:r>
              <a:rPr sz="1200" b="1" i="0">
                <a:solidFill>
                  <a:srgbClr val="FFFFFF"/>
                </a:solidFill>
                <a:latin typeface="Times New Roman"/>
                <a:cs typeface="Times New Roman"/>
              </a:rPr>
              <a:t>Capa de presentación</a:t>
            </a:r>
          </a:p>
          <a:p>
            <a:pPr algn="ctr">
              <a:lnSpc>
                <a:spcPct val="100000"/>
              </a:lnSpc>
              <a:spcAft>
                <a:spcPts val="0"/>
              </a:spcAft>
            </a:pPr>
            <a:r>
              <a:rPr sz="1200" b="0" i="0">
                <a:solidFill>
                  <a:srgbClr val="FFFFFF"/>
                </a:solidFill>
                <a:latin typeface="Times New Roman"/>
                <a:cs typeface="Times New Roman"/>
              </a:rPr>
              <a:t>Frontend web y app móvil</a:t>
            </a:r>
          </a:p>
        </p:txBody>
      </p:sp>
      <p:sp>
        <p:nvSpPr>
          <p:cNvPr id="11" name="Chevron 10"/>
          <p:cNvSpPr/>
          <p:nvPr/>
        </p:nvSpPr>
        <p:spPr>
          <a:xfrm>
            <a:off x="3968496" y="2377440"/>
            <a:ext cx="219456" cy="237744"/>
          </a:xfrm>
          <a:prstGeom prst="chevron">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389120" y="2103120"/>
            <a:ext cx="3410712" cy="777240"/>
          </a:xfrm>
          <a:prstGeom prst="roundRect">
            <a:avLst>
              <a:gd name="adj" fmla="val 6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Aft>
                <a:spcPts val="0"/>
              </a:spcAft>
            </a:pPr>
            <a:r>
              <a:rPr sz="1200" b="1" i="0">
                <a:solidFill>
                  <a:srgbClr val="FFFFFF"/>
                </a:solidFill>
                <a:latin typeface="Times New Roman"/>
                <a:cs typeface="Times New Roman"/>
              </a:rPr>
              <a:t>Capa de lógica de negocio</a:t>
            </a:r>
          </a:p>
          <a:p>
            <a:pPr algn="ctr">
              <a:lnSpc>
                <a:spcPct val="100000"/>
              </a:lnSpc>
              <a:spcAft>
                <a:spcPts val="0"/>
              </a:spcAft>
            </a:pPr>
            <a:r>
              <a:rPr sz="1200" b="0" i="0">
                <a:solidFill>
                  <a:srgbClr val="FFFFFF"/>
                </a:solidFill>
                <a:latin typeface="Times New Roman"/>
                <a:cs typeface="Times New Roman"/>
              </a:rPr>
              <a:t>API REST con Django</a:t>
            </a:r>
          </a:p>
        </p:txBody>
      </p:sp>
      <p:sp>
        <p:nvSpPr>
          <p:cNvPr id="13" name="Chevron 12"/>
          <p:cNvSpPr/>
          <p:nvPr/>
        </p:nvSpPr>
        <p:spPr>
          <a:xfrm>
            <a:off x="7900416" y="2377440"/>
            <a:ext cx="219456" cy="237744"/>
          </a:xfrm>
          <a:prstGeom prst="chevron">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321040" y="2103120"/>
            <a:ext cx="3410712" cy="777240"/>
          </a:xfrm>
          <a:prstGeom prst="roundRect">
            <a:avLst>
              <a:gd name="adj" fmla="val 6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Aft>
                <a:spcPts val="0"/>
              </a:spcAft>
            </a:pPr>
            <a:r>
              <a:rPr sz="1200" b="1" i="0">
                <a:solidFill>
                  <a:srgbClr val="FFFFFF"/>
                </a:solidFill>
                <a:latin typeface="Times New Roman"/>
                <a:cs typeface="Times New Roman"/>
              </a:rPr>
              <a:t>Capa de datos</a:t>
            </a:r>
          </a:p>
          <a:p>
            <a:pPr algn="ctr">
              <a:lnSpc>
                <a:spcPct val="100000"/>
              </a:lnSpc>
              <a:spcAft>
                <a:spcPts val="0"/>
              </a:spcAft>
            </a:pPr>
            <a:r>
              <a:rPr sz="1200" b="0" i="0">
                <a:solidFill>
                  <a:srgbClr val="FFFFFF"/>
                </a:solidFill>
                <a:latin typeface="Times New Roman"/>
                <a:cs typeface="Times New Roman"/>
              </a:rPr>
              <a:t>MySQL Server 8.4 LTS</a:t>
            </a:r>
          </a:p>
        </p:txBody>
      </p:sp>
      <p:sp>
        <p:nvSpPr>
          <p:cNvPr id="15" name="Rounded Rectangle 14"/>
          <p:cNvSpPr/>
          <p:nvPr/>
        </p:nvSpPr>
        <p:spPr>
          <a:xfrm>
            <a:off x="457200" y="3200400"/>
            <a:ext cx="5513832" cy="141732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337560"/>
            <a:ext cx="496519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Patrón arquitectónico</a:t>
            </a:r>
          </a:p>
        </p:txBody>
      </p:sp>
      <p:sp>
        <p:nvSpPr>
          <p:cNvPr id="17" name="TextBox 16"/>
          <p:cNvSpPr txBox="1"/>
          <p:nvPr/>
        </p:nvSpPr>
        <p:spPr>
          <a:xfrm>
            <a:off x="731520" y="3657600"/>
            <a:ext cx="4965192" cy="1005840"/>
          </a:xfrm>
          <a:prstGeom prst="rect">
            <a:avLst/>
          </a:prstGeom>
          <a:noFill/>
        </p:spPr>
        <p:txBody>
          <a:bodyPr wrap="square" lIns="0" rIns="0" tIns="0" bIns="0" anchor="t"/>
          <a:lstStyle/>
          <a:p>
            <a:pPr algn="just">
              <a:lnSpc>
                <a:spcPct val="100000"/>
              </a:lnSpc>
              <a:spcAft>
                <a:spcPts val="0"/>
              </a:spcAft>
            </a:pPr>
            <a:r>
              <a:rPr sz="1200" b="0" i="0">
                <a:solidFill>
                  <a:srgbClr val="222222"/>
                </a:solidFill>
                <a:latin typeface="Times New Roman"/>
                <a:cs typeface="Times New Roman"/>
              </a:rPr>
              <a:t>Control Store usa una arquitectura cliente-servidor en tres capas desacopladas: presentación, lógica de negocio y datos. Cada capa se puede mantener y escalar por separado, y se comunican por HTTPS intercambiando mensajes JSON.</a:t>
            </a:r>
          </a:p>
        </p:txBody>
      </p:sp>
      <p:sp>
        <p:nvSpPr>
          <p:cNvPr id="18" name="Rounded Rectangle 17"/>
          <p:cNvSpPr/>
          <p:nvPr/>
        </p:nvSpPr>
        <p:spPr>
          <a:xfrm>
            <a:off x="6217920" y="3200400"/>
            <a:ext cx="5513832" cy="141732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92240" y="3337560"/>
            <a:ext cx="496519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Organización del backend</a:t>
            </a:r>
          </a:p>
        </p:txBody>
      </p:sp>
      <p:sp>
        <p:nvSpPr>
          <p:cNvPr id="20" name="TextBox 19"/>
          <p:cNvSpPr txBox="1"/>
          <p:nvPr/>
        </p:nvSpPr>
        <p:spPr>
          <a:xfrm>
            <a:off x="6492240" y="3657600"/>
            <a:ext cx="4965192" cy="1005840"/>
          </a:xfrm>
          <a:prstGeom prst="rect">
            <a:avLst/>
          </a:prstGeom>
          <a:noFill/>
        </p:spPr>
        <p:txBody>
          <a:bodyPr wrap="square" lIns="0" rIns="0" tIns="0" bIns="0" anchor="t"/>
          <a:lstStyle/>
          <a:p>
            <a:pPr algn="just">
              <a:lnSpc>
                <a:spcPct val="100000"/>
              </a:lnSpc>
              <a:spcAft>
                <a:spcPts val="0"/>
              </a:spcAft>
            </a:pPr>
            <a:r>
              <a:rPr sz="1200" b="0" i="0">
                <a:solidFill>
                  <a:srgbClr val="222222"/>
                </a:solidFill>
                <a:latin typeface="Times New Roman"/>
                <a:cs typeface="Times New Roman"/>
              </a:rPr>
              <a:t>Django estructura el código con su patrón MVT (Modelo-Vista-Template) y separa las funciones en apps: usuarios, inventario, ventas, domicilios y reportes. La API es la única autorizada para conectarse a la base de datos.</a:t>
            </a:r>
          </a:p>
        </p:txBody>
      </p:sp>
      <p:sp>
        <p:nvSpPr>
          <p:cNvPr id="21" name="Rounded Rectangle 20"/>
          <p:cNvSpPr/>
          <p:nvPr/>
        </p:nvSpPr>
        <p:spPr>
          <a:xfrm>
            <a:off x="457200" y="4800600"/>
            <a:ext cx="5513832" cy="141732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1520" y="4937760"/>
            <a:ext cx="496519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Comunicación entre capas</a:t>
            </a:r>
          </a:p>
        </p:txBody>
      </p:sp>
      <p:sp>
        <p:nvSpPr>
          <p:cNvPr id="23" name="TextBox 22"/>
          <p:cNvSpPr txBox="1"/>
          <p:nvPr/>
        </p:nvSpPr>
        <p:spPr>
          <a:xfrm>
            <a:off x="731520" y="5257800"/>
            <a:ext cx="4965192" cy="1005840"/>
          </a:xfrm>
          <a:prstGeom prst="rect">
            <a:avLst/>
          </a:prstGeom>
          <a:noFill/>
        </p:spPr>
        <p:txBody>
          <a:bodyPr wrap="square" lIns="0" rIns="0" tIns="0" bIns="0" anchor="t"/>
          <a:lstStyle/>
          <a:p>
            <a:pPr algn="just">
              <a:lnSpc>
                <a:spcPct val="100000"/>
              </a:lnSpc>
              <a:spcAft>
                <a:spcPts val="0"/>
              </a:spcAft>
            </a:pPr>
            <a:r>
              <a:rPr sz="1200" b="0" i="0">
                <a:solidFill>
                  <a:srgbClr val="222222"/>
                </a:solidFill>
                <a:latin typeface="Times New Roman"/>
                <a:cs typeface="Times New Roman"/>
              </a:rPr>
              <a:t>El navegador accede al frontend por HTTPS/TLS 1.3 (puerto 443). El frontend y la app móvil consumen la API REST por HTTPS (puerto 443), la API se conecta a MySQL por TCP/IP (puerto 3306) y recibe los mensajes de WhatsApp mediante un webhook de Twilio.</a:t>
            </a:r>
          </a:p>
        </p:txBody>
      </p:sp>
      <p:sp>
        <p:nvSpPr>
          <p:cNvPr id="24" name="Rounded Rectangle 23"/>
          <p:cNvSpPr/>
          <p:nvPr/>
        </p:nvSpPr>
        <p:spPr>
          <a:xfrm>
            <a:off x="6217920" y="4800600"/>
            <a:ext cx="5513832" cy="1417320"/>
          </a:xfrm>
          <a:prstGeom prst="roundRect">
            <a:avLst>
              <a:gd name="adj" fmla="val 6000"/>
            </a:avLst>
          </a:prstGeom>
          <a:solidFill>
            <a:srgbClr val="EEF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92240" y="4937760"/>
            <a:ext cx="4965192" cy="274320"/>
          </a:xfrm>
          <a:prstGeom prst="rect">
            <a:avLst/>
          </a:prstGeom>
          <a:noFill/>
        </p:spPr>
        <p:txBody>
          <a:bodyPr wrap="square" lIns="0" rIns="0" tIns="0" bIns="0" anchor="t"/>
          <a:lstStyle/>
          <a:p>
            <a:pPr algn="l">
              <a:lnSpc>
                <a:spcPct val="100000"/>
              </a:lnSpc>
              <a:spcAft>
                <a:spcPts val="0"/>
              </a:spcAft>
            </a:pPr>
            <a:r>
              <a:rPr sz="1200" b="1" i="0">
                <a:solidFill>
                  <a:srgbClr val="2A7A00"/>
                </a:solidFill>
                <a:latin typeface="Times New Roman"/>
                <a:cs typeface="Times New Roman"/>
              </a:rPr>
              <a:t>Infraestructura</a:t>
            </a:r>
          </a:p>
        </p:txBody>
      </p:sp>
      <p:sp>
        <p:nvSpPr>
          <p:cNvPr id="26" name="TextBox 25"/>
          <p:cNvSpPr txBox="1"/>
          <p:nvPr/>
        </p:nvSpPr>
        <p:spPr>
          <a:xfrm>
            <a:off x="6492240" y="5257800"/>
            <a:ext cx="4965192" cy="1005840"/>
          </a:xfrm>
          <a:prstGeom prst="rect">
            <a:avLst/>
          </a:prstGeom>
          <a:noFill/>
        </p:spPr>
        <p:txBody>
          <a:bodyPr wrap="square" lIns="0" rIns="0" tIns="0" bIns="0" anchor="t"/>
          <a:lstStyle/>
          <a:p>
            <a:pPr algn="just">
              <a:lnSpc>
                <a:spcPct val="100000"/>
              </a:lnSpc>
              <a:spcAft>
                <a:spcPts val="0"/>
              </a:spcAft>
            </a:pPr>
            <a:r>
              <a:rPr sz="1200" b="0" i="0">
                <a:solidFill>
                  <a:srgbClr val="222222"/>
                </a:solidFill>
                <a:latin typeface="Times New Roman"/>
                <a:cs typeface="Times New Roman"/>
              </a:rPr>
              <a:t>El frontend y el backend se despliegan en instancias AWS EC2 (t3.micro a t3.medium) con procesador Intel Xeon Platinum 8259CL, y la base de datos en AWS RDS (db.t3.small a db.t3.medium), con respaldo diario automatizado.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3200" spc="120" dirty="0">
                <a:latin typeface="Times New Roman"/>
                <a:cs typeface="Times New Roman"/>
              </a:rPr>
              <a:t>Alcance · Stack Tecnológico</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8695943" y="457200"/>
              <a:ext cx="1077468" cy="647700"/>
            </a:xfrm>
            <a:prstGeom prst="rect">
              <a:avLst/>
            </a:prstGeom>
          </p:spPr>
        </p:pic>
        <p:pic>
          <p:nvPicPr>
            <p:cNvPr id="8" name="object 8"/>
            <p:cNvPicPr/>
            <p:nvPr/>
          </p:nvPicPr>
          <p:blipFill>
            <a:blip r:embed="rId3" cstate="print"/>
            <a:stretch>
              <a:fillRect/>
            </a:stretch>
          </p:blipFill>
          <p:spPr>
            <a:xfrm>
              <a:off x="9773411" y="486155"/>
              <a:ext cx="1304544" cy="589788"/>
            </a:xfrm>
            <a:prstGeom prst="rect">
              <a:avLst/>
            </a:prstGeom>
          </p:spPr>
        </p:pic>
      </p:grpSp>
      <p:sp>
        <p:nvSpPr>
          <p:cNvPr id="9" name="Rounded Rectangle 8"/>
          <p:cNvSpPr/>
          <p:nvPr/>
        </p:nvSpPr>
        <p:spPr>
          <a:xfrm>
            <a:off x="457200" y="1572768"/>
            <a:ext cx="3291840" cy="310896"/>
          </a:xfrm>
          <a:prstGeom prst="roundRect">
            <a:avLst>
              <a:gd name="adj" fmla="val 50000"/>
            </a:avLst>
          </a:prstGeom>
          <a:solidFill>
            <a:srgbClr val="39A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lnSpc>
                <a:spcPct val="100000"/>
              </a:lnSpc>
              <a:spcAft>
                <a:spcPts val="0"/>
              </a:spcAft>
            </a:pPr>
            <a:r>
              <a:rPr sz="1200" b="1" i="0">
                <a:solidFill>
                  <a:srgbClr val="FFFFFF"/>
                </a:solidFill>
                <a:latin typeface="Times New Roman"/>
                <a:cs typeface="Times New Roman"/>
              </a:rPr>
              <a:t>ALCANCE 2 · STACK TECNOLÓGICO</a:t>
            </a:r>
          </a:p>
        </p:txBody>
      </p:sp>
      <p:sp>
        <p:nvSpPr>
          <p:cNvPr id="10" name="TextBox 9"/>
          <p:cNvSpPr txBox="1"/>
          <p:nvPr/>
        </p:nvSpPr>
        <p:spPr>
          <a:xfrm>
            <a:off x="457200" y="2057400"/>
            <a:ext cx="11274552" cy="548640"/>
          </a:xfrm>
          <a:prstGeom prst="rect">
            <a:avLst/>
          </a:prstGeom>
          <a:noFill/>
        </p:spPr>
        <p:txBody>
          <a:bodyPr wrap="square" lIns="0" rIns="0" tIns="0" bIns="0" anchor="t"/>
          <a:lstStyle/>
          <a:p>
            <a:pPr algn="just">
              <a:lnSpc>
                <a:spcPct val="100000"/>
              </a:lnSpc>
              <a:spcAft>
                <a:spcPts val="800"/>
              </a:spcAft>
            </a:pPr>
            <a:r>
              <a:rPr sz="1200" b="0" i="0">
                <a:solidFill>
                  <a:srgbClr val="222222"/>
                </a:solidFill>
                <a:latin typeface="Times New Roman"/>
                <a:cs typeface="Times New Roman"/>
              </a:rPr>
              <a:t>Tecnologías que conforman cada capa del sistema, con sus lenguajes, frameworks, librerías y versiones, tomadas del diagrama de despliegue de Control Store.</a:t>
            </a:r>
          </a:p>
        </p:txBody>
      </p:sp>
      <p:graphicFrame>
        <p:nvGraphicFramePr>
          <p:cNvPr id="11" name="Table 10"/>
          <p:cNvGraphicFramePr>
            <a:graphicFrameLocks noGrp="1"/>
          </p:cNvGraphicFramePr>
          <p:nvPr/>
        </p:nvGraphicFramePr>
        <p:xfrm>
          <a:off x="457200" y="2651760"/>
          <a:ext cx="11274552" cy="3566160"/>
        </p:xfrm>
        <a:graphic>
          <a:graphicData uri="http://schemas.openxmlformats.org/drawingml/2006/table">
            <a:tbl>
              <a:tblPr firstRow="1" bandRow="0">
                <a:tableStyleId>{5C22544A-7EE6-4342-B048-85BDC9FD1C3A}</a:tableStyleId>
              </a:tblPr>
              <a:tblGrid>
                <a:gridCol w="1828800"/>
                <a:gridCol w="2148840"/>
                <a:gridCol w="4160520"/>
                <a:gridCol w="3136392"/>
              </a:tblGrid>
              <a:tr h="713232">
                <a:tc>
                  <a:txBody>
                    <a:bodyPr/>
                    <a:lstStyle/>
                    <a:p>
                      <a:pPr algn="l">
                        <a:lnSpc>
                          <a:spcPct val="100000"/>
                        </a:lnSpc>
                        <a:spcAft>
                          <a:spcPts val="0"/>
                        </a:spcAft>
                      </a:pPr>
                      <a:r>
                        <a:rPr sz="1200" b="1" i="0">
                          <a:solidFill>
                            <a:srgbClr val="FFFFFF"/>
                          </a:solidFill>
                          <a:latin typeface="Times New Roman"/>
                          <a:cs typeface="Times New Roman"/>
                        </a:rPr>
                        <a:t>Capa</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Lenguaje</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Frameworks, librerías y versiones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Entorno de ejecución</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r>
              <a:tr h="713232">
                <a:tc>
                  <a:txBody>
                    <a:bodyPr/>
                    <a:lstStyle/>
                    <a:p>
                      <a:pPr algn="l">
                        <a:lnSpc>
                          <a:spcPct val="100000"/>
                        </a:lnSpc>
                        <a:spcAft>
                          <a:spcPts val="0"/>
                        </a:spcAft>
                      </a:pPr>
                      <a:r>
                        <a:rPr sz="1200" b="1" i="0">
                          <a:solidFill>
                            <a:srgbClr val="2A7A00"/>
                          </a:solidFill>
                          <a:latin typeface="Times New Roman"/>
                          <a:cs typeface="Times New Roman"/>
                        </a:rPr>
                        <a:t>Backend (API REST)</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Python 3.13</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Django 5.2.16, mysqlclient 2.2.8, requests 2.34.2 y twilio 9.10.9 (Twilio API for WhatsApp para el chatbot).</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AWS EC2 (t3.small a t3.medium); expone JSON por HTTPS, puerto 443.</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713232">
                <a:tc>
                  <a:txBody>
                    <a:bodyPr/>
                    <a:lstStyle/>
                    <a:p>
                      <a:pPr algn="l">
                        <a:lnSpc>
                          <a:spcPct val="100000"/>
                        </a:lnSpc>
                        <a:spcAft>
                          <a:spcPts val="0"/>
                        </a:spcAft>
                      </a:pPr>
                      <a:r>
                        <a:rPr sz="1200" b="1" i="0">
                          <a:solidFill>
                            <a:srgbClr val="2A7A00"/>
                          </a:solidFill>
                          <a:latin typeface="Times New Roman"/>
                          <a:cs typeface="Times New Roman"/>
                        </a:rPr>
                        <a:t>Frontend web</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HTML5, CSS3 y JavaScript ES6</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Bootstrap 5.3.3 y Bootstrap Icons 1.11.3.</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Nginx 1.24 sobre AWS EC2; navegador Google Chrome 120+ o Edge.</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r h="713232">
                <a:tc>
                  <a:txBody>
                    <a:bodyPr/>
                    <a:lstStyle/>
                    <a:p>
                      <a:pPr algn="l">
                        <a:lnSpc>
                          <a:spcPct val="100000"/>
                        </a:lnSpc>
                        <a:spcAft>
                          <a:spcPts val="0"/>
                        </a:spcAft>
                      </a:pPr>
                      <a:r>
                        <a:rPr sz="1200" b="1" i="0">
                          <a:solidFill>
                            <a:srgbClr val="2A7A00"/>
                          </a:solidFill>
                          <a:latin typeface="Times New Roman"/>
                          <a:cs typeface="Times New Roman"/>
                        </a:rPr>
                        <a:t>Aplicación móvil (fase futura)</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JavaScript</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React Native 0.76; se distribuye como control_store.apk.</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Android 10+ e iOS 14+; consume la misma API REST.</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713232">
                <a:tc>
                  <a:txBody>
                    <a:bodyPr/>
                    <a:lstStyle/>
                    <a:p>
                      <a:pPr algn="l">
                        <a:lnSpc>
                          <a:spcPct val="100000"/>
                        </a:lnSpc>
                        <a:spcAft>
                          <a:spcPts val="0"/>
                        </a:spcAft>
                      </a:pPr>
                      <a:r>
                        <a:rPr sz="1200" b="1" i="0">
                          <a:solidFill>
                            <a:srgbClr val="2A7A00"/>
                          </a:solidFill>
                          <a:latin typeface="Times New Roman"/>
                          <a:cs typeface="Times New Roman"/>
                        </a:rPr>
                        <a:t>Base de datos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SQL</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MySQL Server 8.4 LTS, motor InnoDB, cotejamiento utf8mb4_spanish_ci; script controlstore_sena.sql (13 tablas).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AWS RDS (db.t3.small a db.t3.medium); respaldo diario con mysqldump.</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sz="4400" spc="110" dirty="0">
                <a:latin typeface="Times New Roman"/>
                <a:cs typeface="Times New Roman"/>
              </a:rPr>
              <a:t>Delimitación</a:t>
            </a:r>
            <a:endParaRPr sz="44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sp>
        <p:nvSpPr>
          <p:cNvPr id="5" name="object 5"/>
          <p:cNvSpPr txBox="1">
            <a:spLocks noGrp="1"/>
          </p:cNvSpPr>
          <p:nvPr>
            <p:ph type="body" idx="1"/>
          </p:nvPr>
        </p:nvSpPr>
        <p:spPr>
          <a:xfrm>
            <a:off x="381000" y="1941269"/>
            <a:ext cx="10998835" cy="4916731"/>
          </a:xfrm>
          <a:prstGeom prst="rect">
            <a:avLst/>
          </a:prstGeom>
        </p:spPr>
        <p:txBody>
          <a:bodyPr vert="horz" wrap="square" lIns="0" tIns="12700" rIns="0" bIns="0" rtlCol="0">
            <a:spAutoFit/>
          </a:bodyPr>
          <a:lstStyle/>
          <a:p>
            <a:pPr>
              <a:spcBef>
                <a:spcPts val="969"/>
              </a:spcBef>
            </a:pPr>
            <a:r>
              <a:rPr lang="es-CO" dirty="0" sz="1200">
                <a:latin typeface="Times New Roman"/>
                <a:cs typeface="Times New Roman"/>
              </a:rPr>
              <a:t>El proyecto se desarrolla en siete trimestres académicos. En el primer trimestre se define el problema y los requerimientos. En el segundo trimestre se diseñan los prototipos y la base de datos. En el tercer y cuarto trimestre se desarrollan la base de datos y el </a:t>
            </a:r>
            <a:r>
              <a:rPr lang="es-CO" dirty="0" err="1" sz="1200">
                <a:latin typeface="Times New Roman"/>
                <a:cs typeface="Times New Roman"/>
              </a:rPr>
              <a:t>frontend</a:t>
            </a:r>
            <a:r>
              <a:rPr lang="es-CO" dirty="0" sz="1200">
                <a:latin typeface="Times New Roman"/>
                <a:cs typeface="Times New Roman"/>
              </a:rPr>
              <a:t>. En el quinto y sexto trimestre se integra la API y la aplicación móvil. Finalmente, en el séptimo trimestre se realizan las pruebas, el manual de usuario y el despliegue del sistema.</a:t>
            </a:r>
          </a:p>
          <a:p>
            <a:pPr>
              <a:spcBef>
                <a:spcPts val="969"/>
              </a:spcBef>
            </a:pPr>
            <a:endParaRPr lang="es-CO" dirty="0" sz="1200">
              <a:latin typeface="Times New Roman"/>
              <a:cs typeface="Times New Roman"/>
            </a:endParaRPr>
          </a:p>
          <a:p>
            <a:pPr>
              <a:lnSpc>
                <a:spcPct val="100000"/>
              </a:lnSpc>
              <a:spcBef>
                <a:spcPts val="969"/>
              </a:spcBef>
            </a:pPr>
            <a:r>
              <a:rPr lang="es-CO" dirty="0" sz="1200">
                <a:latin typeface="Times New Roman"/>
                <a:cs typeface="Times New Roman"/>
              </a:rPr>
              <a:t>El desarrollo del proyecto se lleva a cabo en la ciudad de Bogotá. Si bien el sistema se diseña a partir de las necesidades particulares del Autoservicio Ayuelal, su arquitectura y funcionalidades se plantean de forma que puedan adaptarse e implementarse en cualquier tienda o autoservicio de la ciudad de Bogotá.</a:t>
            </a:r>
          </a:p>
          <a:p>
            <a:pPr>
              <a:lnSpc>
                <a:spcPct val="100000"/>
              </a:lnSpc>
              <a:spcBef>
                <a:spcPts val="969"/>
              </a:spcBef>
            </a:pPr>
            <a:endParaRPr lang="es-CO" u="sng" dirty="0" sz="1200">
              <a:solidFill>
                <a:srgbClr val="1155CC"/>
              </a:solidFill>
              <a:latin typeface="Times New Roman"/>
              <a:cs typeface="Times New Roman"/>
              <a:hlinkClick r:id="rId2"/>
            </a:endParaRPr>
          </a:p>
          <a:p>
            <a:pPr>
              <a:lnSpc>
                <a:spcPct val="100000"/>
              </a:lnSpc>
              <a:spcBef>
                <a:spcPts val="969"/>
              </a:spcBef>
            </a:pPr>
            <a:endParaRPr lang="es-CO" u="sng" dirty="0" sz="1200">
              <a:solidFill>
                <a:srgbClr val="1155CC"/>
              </a:solidFill>
              <a:latin typeface="Times New Roman"/>
              <a:cs typeface="Times New Roman"/>
              <a:hlinkClick r:id="rId2"/>
            </a:endParaRPr>
          </a:p>
          <a:p>
            <a:pPr>
              <a:lnSpc>
                <a:spcPct val="100000"/>
              </a:lnSpc>
              <a:spcBef>
                <a:spcPts val="969"/>
              </a:spcBef>
            </a:pPr>
            <a:endParaRPr lang="es-CO" u="sng" dirty="0" sz="1200">
              <a:solidFill>
                <a:srgbClr val="1155CC"/>
              </a:solidFill>
              <a:latin typeface="Times New Roman"/>
              <a:cs typeface="Times New Roman"/>
              <a:hlinkClick r:id="rId2"/>
            </a:endParaRPr>
          </a:p>
          <a:p>
            <a:pPr>
              <a:lnSpc>
                <a:spcPct val="100000"/>
              </a:lnSpc>
              <a:spcBef>
                <a:spcPts val="969"/>
              </a:spcBef>
            </a:pPr>
            <a:endParaRPr lang="es-CO" u="sng" dirty="0" sz="1200">
              <a:solidFill>
                <a:srgbClr val="1155CC"/>
              </a:solidFill>
              <a:latin typeface="Times New Roman"/>
              <a:cs typeface="Times New Roman"/>
              <a:hlinkClick r:id="rId2"/>
            </a:endParaRPr>
          </a:p>
          <a:p>
            <a:pPr>
              <a:lnSpc>
                <a:spcPct val="100000"/>
              </a:lnSpc>
              <a:spcBef>
                <a:spcPts val="969"/>
              </a:spcBef>
            </a:pPr>
            <a:r>
              <a:rPr lang="es-CO" u="sng" dirty="0" sz="1200">
                <a:solidFill>
                  <a:srgbClr val="1155CC"/>
                </a:solidFill>
                <a:latin typeface="Times New Roman"/>
                <a:cs typeface="Times New Roman"/>
                <a:hlinkClick r:id="rId2"/>
              </a:rPr>
              <a:t>Ver Diagrama de Gantt (Excel)</a:t>
            </a:r>
          </a:p>
          <a:p>
            <a:pPr>
              <a:lnSpc>
                <a:spcPct val="100000"/>
              </a:lnSpc>
              <a:spcBef>
                <a:spcPts val="969"/>
              </a:spcBef>
            </a:pPr>
            <a:endParaRPr lang="es-CO" spc="-10" dirty="0"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I</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I" descr="Diagrama de Gantt del Trimestre I: actividades, responsables, fechas y evidencias"/>
          <p:cNvPicPr>
            <a:picLocks noChangeAspect="1"/>
          </p:cNvPicPr>
          <p:nvPr/>
        </p:nvPicPr>
        <p:blipFill>
          <a:blip r:embed="rId10"/>
          <a:stretch>
            <a:fillRect/>
          </a:stretch>
        </p:blipFill>
        <p:spPr>
          <a:xfrm>
            <a:off x="381000" y="1800865"/>
            <a:ext cx="11430000" cy="4728269"/>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II</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II" descr="Diagrama de Gantt del Trimestre II: actividades, responsables, fechas y evidencias"/>
          <p:cNvPicPr>
            <a:picLocks noChangeAspect="1"/>
          </p:cNvPicPr>
          <p:nvPr/>
        </p:nvPicPr>
        <p:blipFill>
          <a:blip r:embed="rId10"/>
          <a:stretch>
            <a:fillRect/>
          </a:stretch>
        </p:blipFill>
        <p:spPr>
          <a:xfrm>
            <a:off x="381000" y="1800865"/>
            <a:ext cx="11430000" cy="4728269"/>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III</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III" descr="Diagrama de Gantt del Trimestre III: actividades, responsables, fechas y evidencias"/>
          <p:cNvPicPr>
            <a:picLocks noChangeAspect="1"/>
          </p:cNvPicPr>
          <p:nvPr/>
        </p:nvPicPr>
        <p:blipFill>
          <a:blip r:embed="rId10"/>
          <a:stretch>
            <a:fillRect/>
          </a:stretch>
        </p:blipFill>
        <p:spPr>
          <a:xfrm>
            <a:off x="1513725" y="1600000"/>
            <a:ext cx="9164549" cy="5130000"/>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IV</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IV" descr="Diagrama de Gantt del Trimestre IV: actividades, responsables, fechas y evidencias"/>
          <p:cNvPicPr>
            <a:picLocks noChangeAspect="1"/>
          </p:cNvPicPr>
          <p:nvPr/>
        </p:nvPicPr>
        <p:blipFill>
          <a:blip r:embed="rId10"/>
          <a:stretch>
            <a:fillRect/>
          </a:stretch>
        </p:blipFill>
        <p:spPr>
          <a:xfrm>
            <a:off x="550054" y="1600000"/>
            <a:ext cx="11091891" cy="5130000"/>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V</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V" descr="Diagrama de Gantt del Trimestre V: actividades, responsables, fechas y evidencias"/>
          <p:cNvPicPr>
            <a:picLocks noChangeAspect="1"/>
          </p:cNvPicPr>
          <p:nvPr/>
        </p:nvPicPr>
        <p:blipFill>
          <a:blip r:embed="rId10"/>
          <a:stretch>
            <a:fillRect/>
          </a:stretch>
        </p:blipFill>
        <p:spPr>
          <a:xfrm>
            <a:off x="381000" y="2079918"/>
            <a:ext cx="11430000" cy="4170164"/>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VI</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VI" descr="Diagrama de Gantt del Trimestre VI: actividades, responsables, fechas y evidencias"/>
          <p:cNvPicPr>
            <a:picLocks noChangeAspect="1"/>
          </p:cNvPicPr>
          <p:nvPr/>
        </p:nvPicPr>
        <p:blipFill>
          <a:blip r:embed="rId10"/>
          <a:stretch>
            <a:fillRect/>
          </a:stretch>
        </p:blipFill>
        <p:spPr>
          <a:xfrm>
            <a:off x="550054" y="1600000"/>
            <a:ext cx="11091891" cy="5130000"/>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12014" rIns="0" bIns="0" rtlCol="0">
            <a:spAutoFit/>
          </a:bodyPr>
          <a:lstStyle/>
          <a:p>
            <a:pPr marL="433070">
              <a:lnSpc>
                <a:spcPct val="100000"/>
              </a:lnSpc>
              <a:spcBef>
                <a:spcPts val="100"/>
              </a:spcBef>
            </a:pPr>
            <a:r>
              <a:rPr lang="es-CO" sz="3200" spc="110" dirty="0">
                <a:latin typeface="Times New Roman"/>
                <a:cs typeface="Times New Roman"/>
              </a:rPr>
              <a:t>Delimitación · Trimestre VII</a:t>
            </a:r>
            <a:endParaRPr sz="3200">
              <a:latin typeface="Times New Roman"/>
              <a:cs typeface="Times New Roman"/>
            </a:endParaRPr>
          </a:p>
        </p:txBody>
      </p:sp>
      <p:sp>
        <p:nvSpPr>
          <p:cNvPr id="3" name="object 3"/>
          <p:cNvSpPr txBox="1"/>
          <p:nvPr/>
        </p:nvSpPr>
        <p:spPr>
          <a:xfrm>
            <a:off x="8700516" y="515112"/>
            <a:ext cx="1077595" cy="538480"/>
          </a:xfrm>
          <a:prstGeom prst="rect">
            <a:avLst/>
          </a:prstGeom>
          <a:ln w="9271">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6985" algn="ctr">
              <a:lnSpc>
                <a:spcPct val="100000"/>
              </a:lnSpc>
              <a:spcBef>
                <a:spcPts val="110"/>
              </a:spcBef>
            </a:pPr>
            <a:r>
              <a:rPr sz="1200" spc="-10" dirty="0">
                <a:solidFill>
                  <a:srgbClr val="FFFFFF"/>
                </a:solidFill>
                <a:latin typeface="Times New Roman"/>
                <a:cs typeface="Times New Roman"/>
              </a:rPr>
              <a:t>Sistema</a:t>
            </a:r>
            <a:endParaRPr sz="1200">
              <a:latin typeface="Times New Roman"/>
              <a:cs typeface="Times New Roman"/>
            </a:endParaRPr>
          </a:p>
        </p:txBody>
      </p:sp>
      <p:sp>
        <p:nvSpPr>
          <p:cNvPr id="4" name="object 4"/>
          <p:cNvSpPr txBox="1"/>
          <p:nvPr/>
        </p:nvSpPr>
        <p:spPr>
          <a:xfrm>
            <a:off x="9778047" y="515112"/>
            <a:ext cx="1085215" cy="538480"/>
          </a:xfrm>
          <a:prstGeom prst="rect">
            <a:avLst/>
          </a:prstGeom>
          <a:ln w="9144">
            <a:solidFill>
              <a:srgbClr val="FFFFFF"/>
            </a:solidFill>
          </a:ln>
        </p:spPr>
        <p:txBody>
          <a:bodyPr vert="horz" wrap="square" lIns="0" tIns="0" rIns="0" bIns="0" rtlCol="0">
            <a:spAutoFit/>
          </a:bodyPr>
          <a:lstStyle/>
          <a:p>
            <a:pPr algn="ctr">
              <a:lnSpc>
                <a:spcPts val="1750"/>
              </a:lnSpc>
            </a:pPr>
            <a:r>
              <a:rPr sz="1200" spc="-20" dirty="0">
                <a:solidFill>
                  <a:srgbClr val="FFFFFF"/>
                </a:solidFill>
                <a:latin typeface="Times New Roman"/>
                <a:cs typeface="Times New Roman"/>
              </a:rPr>
              <a:t>Logo</a:t>
            </a:r>
            <a:endParaRPr sz="1200">
              <a:latin typeface="Times New Roman"/>
              <a:cs typeface="Times New Roman"/>
            </a:endParaRPr>
          </a:p>
          <a:p>
            <a:pPr marR="8255" algn="ctr">
              <a:lnSpc>
                <a:spcPct val="100000"/>
              </a:lnSpc>
              <a:spcBef>
                <a:spcPts val="110"/>
              </a:spcBef>
            </a:pPr>
            <a:r>
              <a:rPr sz="1200" spc="-10" dirty="0">
                <a:solidFill>
                  <a:srgbClr val="FFFFFF"/>
                </a:solidFill>
                <a:latin typeface="Times New Roman"/>
                <a:cs typeface="Times New Roman"/>
              </a:rPr>
              <a:t>Empresa</a:t>
            </a:r>
            <a:endParaRPr sz="1200">
              <a:latin typeface="Times New Roman"/>
              <a:cs typeface="Times New Roman"/>
            </a:endParaRPr>
          </a:p>
        </p:txBody>
      </p:sp>
      <p:pic>
        <p:nvPicPr>
          <p:cNvPr id="9" name="Gantt Trimestre VII" descr="Diagrama de Gantt del Trimestre VII: actividades, responsables, fechas y evidencias"/>
          <p:cNvPicPr>
            <a:picLocks noChangeAspect="1"/>
          </p:cNvPicPr>
          <p:nvPr/>
        </p:nvPicPr>
        <p:blipFill>
          <a:blip r:embed="rId10"/>
          <a:stretch>
            <a:fillRect/>
          </a:stretch>
        </p:blipFill>
        <p:spPr>
          <a:xfrm>
            <a:off x="1513725" y="1600000"/>
            <a:ext cx="9164549" cy="5130000"/>
          </a:xfrm>
          <a:prstGeom prst="rect">
            <a:avLst/>
          </a:prstGeom>
          <a:ln w="9525">
            <a:solidFill>
              <a:srgbClr val="D9D9D9"/>
            </a:solidFill>
          </a:ln>
        </p:spPr>
      </p:pic>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3" cstate="print"/>
            <a:stretch>
              <a:fillRect/>
            </a:stretch>
          </p:blipFill>
          <p:spPr>
            <a:xfrm>
              <a:off x="8695943" y="457200"/>
              <a:ext cx="1077468" cy="647700"/>
            </a:xfrm>
            <a:prstGeom prst="rect">
              <a:avLst/>
            </a:prstGeom>
          </p:spPr>
        </p:pic>
        <p:pic>
          <p:nvPicPr>
            <p:cNvPr id="8" name="object 8"/>
            <p:cNvPicPr/>
            <p:nvPr/>
          </p:nvPicPr>
          <p:blipFill>
            <a:blip r:embed="rId4" cstate="print"/>
            <a:stretch>
              <a:fillRect/>
            </a:stretch>
          </p:blipFill>
          <p:spPr>
            <a:xfrm>
              <a:off x="9773411" y="486155"/>
              <a:ext cx="1304544" cy="589788"/>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63500" rIns="0" bIns="0" rtlCol="0">
            <a:spAutoFit/>
          </a:bodyPr>
          <a:lstStyle/>
          <a:p>
            <a:pPr marL="433070" marR="5080">
              <a:lnSpc>
                <a:spcPts val="3500"/>
              </a:lnSpc>
              <a:spcBef>
                <a:spcPts val="500"/>
              </a:spcBef>
            </a:pPr>
            <a:r>
              <a:rPr spc="90" dirty="0" sz="3600">
                <a:latin typeface="Times New Roman"/>
                <a:cs typeface="Times New Roman"/>
              </a:rPr>
              <a:t>Entregables por Trimestre</a:t>
            </a:r>
          </a:p>
        </p:txBody>
      </p:sp>
      <p:sp>
        <p:nvSpPr>
          <p:cNvPr id="3" name="object 3"/>
          <p:cNvSpPr/>
          <p:nvPr/>
        </p:nvSpPr>
        <p:spPr>
          <a:xfrm>
            <a:off x="8700516" y="509016"/>
            <a:ext cx="1077595" cy="544195"/>
          </a:xfrm>
          <a:custGeom>
            <a:avLst/>
            <a:gdLst/>
            <a:ahLst/>
            <a:cxnLst/>
            <a:rect l="l" t="t" r="r" b="b"/>
            <a:pathLst>
              <a:path w="1077595" h="544194">
                <a:moveTo>
                  <a:pt x="0" y="544195"/>
                </a:moveTo>
                <a:lnTo>
                  <a:pt x="1077595" y="544195"/>
                </a:lnTo>
                <a:lnTo>
                  <a:pt x="1077595" y="0"/>
                </a:lnTo>
                <a:lnTo>
                  <a:pt x="0" y="0"/>
                </a:lnTo>
                <a:lnTo>
                  <a:pt x="0" y="544195"/>
                </a:lnTo>
                <a:close/>
              </a:path>
            </a:pathLst>
          </a:custGeom>
          <a:ln w="9143">
            <a:solidFill>
              <a:srgbClr val="FFFFFF"/>
            </a:solidFill>
          </a:ln>
        </p:spPr>
        <p:txBody>
          <a:bodyPr wrap="square" lIns="0" tIns="0" rIns="0" bIns="0" rtlCol="0"/>
          <a:lstStyle/>
          <a:p>
            <a:endParaRPr sz="1200">
              <a:latin typeface="Times New Roman"/>
              <a:cs typeface="Times New Roman"/>
            </a:endParaRPr>
          </a:p>
        </p:txBody>
      </p:sp>
      <p:sp>
        <p:nvSpPr>
          <p:cNvPr id="4" name="object 4"/>
          <p:cNvSpPr txBox="1"/>
          <p:nvPr/>
        </p:nvSpPr>
        <p:spPr>
          <a:xfrm>
            <a:off x="8895842" y="507013"/>
            <a:ext cx="672465" cy="478790"/>
          </a:xfrm>
          <a:prstGeom prst="rect">
            <a:avLst/>
          </a:prstGeom>
        </p:spPr>
        <p:txBody>
          <a:bodyPr vert="horz" wrap="square" lIns="0" tIns="0" rIns="0" bIns="0" rtlCol="0">
            <a:spAutoFit/>
          </a:bodyPr>
          <a:lstStyle/>
          <a:p>
            <a:pPr marL="8255" algn="ctr">
              <a:lnSpc>
                <a:spcPts val="1764"/>
              </a:lnSpc>
            </a:pPr>
            <a:r>
              <a:rPr sz="1200" spc="-20" dirty="0">
                <a:solidFill>
                  <a:srgbClr val="FFFFFF"/>
                </a:solidFill>
                <a:latin typeface="Times New Roman"/>
                <a:cs typeface="Times New Roman"/>
              </a:rPr>
              <a:t>Logo</a:t>
            </a:r>
            <a:endParaRPr sz="1200">
              <a:latin typeface="Times New Roman"/>
              <a:cs typeface="Times New Roman"/>
            </a:endParaRPr>
          </a:p>
          <a:p>
            <a:pPr algn="ctr">
              <a:lnSpc>
                <a:spcPct val="100000"/>
              </a:lnSpc>
              <a:spcBef>
                <a:spcPts val="110"/>
              </a:spcBef>
            </a:pPr>
            <a:r>
              <a:rPr sz="1200" spc="-25" dirty="0">
                <a:solidFill>
                  <a:srgbClr val="FFFFFF"/>
                </a:solidFill>
                <a:latin typeface="Times New Roman"/>
                <a:cs typeface="Times New Roman"/>
              </a:rPr>
              <a:t>Sistema</a:t>
            </a:r>
            <a:endParaRPr sz="1200">
              <a:latin typeface="Times New Roman"/>
              <a:cs typeface="Times New Roman"/>
            </a:endParaRPr>
          </a:p>
        </p:txBody>
      </p:sp>
      <p:sp>
        <p:nvSpPr>
          <p:cNvPr id="5" name="object 5"/>
          <p:cNvSpPr txBox="1"/>
          <p:nvPr/>
        </p:nvSpPr>
        <p:spPr>
          <a:xfrm>
            <a:off x="9918827" y="519237"/>
            <a:ext cx="779145" cy="478790"/>
          </a:xfrm>
          <a:prstGeom prst="rect">
            <a:avLst/>
          </a:prstGeom>
        </p:spPr>
        <p:txBody>
          <a:bodyPr vert="horz" wrap="square" lIns="0" tIns="0" rIns="0" bIns="0" rtlCol="0">
            <a:spAutoFit/>
          </a:bodyPr>
          <a:lstStyle/>
          <a:p>
            <a:pPr marL="13335" algn="ctr">
              <a:lnSpc>
                <a:spcPts val="1764"/>
              </a:lnSpc>
            </a:pPr>
            <a:r>
              <a:rPr sz="1200" spc="-20" dirty="0">
                <a:solidFill>
                  <a:srgbClr val="FFFFFF"/>
                </a:solidFill>
                <a:latin typeface="Times New Roman"/>
                <a:cs typeface="Times New Roman"/>
              </a:rPr>
              <a:t>Logo</a:t>
            </a:r>
            <a:endParaRPr sz="1200">
              <a:latin typeface="Times New Roman"/>
              <a:cs typeface="Times New Roman"/>
            </a:endParaRPr>
          </a:p>
          <a:p>
            <a:pPr algn="ctr">
              <a:lnSpc>
                <a:spcPct val="100000"/>
              </a:lnSpc>
              <a:spcBef>
                <a:spcPts val="105"/>
              </a:spcBef>
            </a:pPr>
            <a:r>
              <a:rPr sz="1200" spc="-10" dirty="0">
                <a:solidFill>
                  <a:srgbClr val="FFFFFF"/>
                </a:solidFill>
                <a:latin typeface="Times New Roman"/>
                <a:cs typeface="Times New Roman"/>
              </a:rPr>
              <a:t>Empresa</a:t>
            </a:r>
            <a:endParaRPr sz="1200">
              <a:latin typeface="Times New Roman"/>
              <a:cs typeface="Times New Roman"/>
            </a:endParaRPr>
          </a:p>
        </p:txBody>
      </p:sp>
      <p:grpSp>
        <p:nvGrpSpPr>
          <p:cNvPr id="6" name="object 6"/>
          <p:cNvGrpSpPr/>
          <p:nvPr/>
        </p:nvGrpSpPr>
        <p:grpSpPr>
          <a:xfrm>
            <a:off x="8695943" y="457200"/>
            <a:ext cx="2382520" cy="647700"/>
            <a:chOff x="8695943" y="457200"/>
            <a:chExt cx="2382520" cy="647700"/>
          </a:xfrm>
        </p:grpSpPr>
        <p:pic>
          <p:nvPicPr>
            <p:cNvPr id="7" name="object 7"/>
            <p:cNvPicPr/>
            <p:nvPr/>
          </p:nvPicPr>
          <p:blipFill>
            <a:blip r:embed="rId2" cstate="print"/>
            <a:stretch>
              <a:fillRect/>
            </a:stretch>
          </p:blipFill>
          <p:spPr>
            <a:xfrm>
              <a:off x="9773411" y="486155"/>
              <a:ext cx="1304544" cy="589788"/>
            </a:xfrm>
            <a:prstGeom prst="rect">
              <a:avLst/>
            </a:prstGeom>
          </p:spPr>
        </p:pic>
        <p:pic>
          <p:nvPicPr>
            <p:cNvPr id="8" name="object 8"/>
            <p:cNvPicPr/>
            <p:nvPr/>
          </p:nvPicPr>
          <p:blipFill>
            <a:blip r:embed="rId3" cstate="print"/>
            <a:stretch>
              <a:fillRect/>
            </a:stretch>
          </p:blipFill>
          <p:spPr>
            <a:xfrm>
              <a:off x="8695943" y="457200"/>
              <a:ext cx="1077468" cy="647700"/>
            </a:xfrm>
            <a:prstGeom prst="rect">
              <a:avLst/>
            </a:prstGeom>
          </p:spPr>
        </p:pic>
      </p:grpSp>
      <p:graphicFrame>
        <p:nvGraphicFramePr>
          <p:cNvPr id="9" name="Table 8"/>
          <p:cNvGraphicFramePr>
            <a:graphicFrameLocks noGrp="1"/>
          </p:cNvGraphicFramePr>
          <p:nvPr/>
        </p:nvGraphicFramePr>
        <p:xfrm>
          <a:off x="457200" y="1691640"/>
          <a:ext cx="11274552" cy="4096512"/>
        </p:xfrm>
        <a:graphic>
          <a:graphicData uri="http://schemas.openxmlformats.org/drawingml/2006/table">
            <a:tbl>
              <a:tblPr firstRow="1" bandRow="0">
                <a:tableStyleId>{5C22544A-7EE6-4342-B048-85BDC9FD1C3A}</a:tableStyleId>
              </a:tblPr>
              <a:tblGrid>
                <a:gridCol w="1188720"/>
                <a:gridCol w="2926080"/>
                <a:gridCol w="7159752"/>
              </a:tblGrid>
              <a:tr h="512064">
                <a:tc>
                  <a:txBody>
                    <a:bodyPr/>
                    <a:lstStyle/>
                    <a:p>
                      <a:pPr algn="l">
                        <a:lnSpc>
                          <a:spcPct val="100000"/>
                        </a:lnSpc>
                        <a:spcAft>
                          <a:spcPts val="0"/>
                        </a:spcAft>
                      </a:pPr>
                      <a:r>
                        <a:rPr sz="1200" b="1" i="0">
                          <a:solidFill>
                            <a:srgbClr val="FFFFFF"/>
                          </a:solidFill>
                          <a:latin typeface="Times New Roman"/>
                          <a:cs typeface="Times New Roman"/>
                        </a:rPr>
                        <a:t>Trimestre</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Fase</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c>
                  <a:txBody>
                    <a:bodyPr/>
                    <a:lstStyle/>
                    <a:p>
                      <a:pPr algn="l">
                        <a:lnSpc>
                          <a:spcPct val="100000"/>
                        </a:lnSpc>
                        <a:spcAft>
                          <a:spcPts val="0"/>
                        </a:spcAft>
                      </a:pPr>
                      <a:r>
                        <a:rPr sz="1200" b="1" i="0">
                          <a:solidFill>
                            <a:srgbClr val="FFFFFF"/>
                          </a:solidFill>
                          <a:latin typeface="Times New Roman"/>
                          <a:cs typeface="Times New Roman"/>
                        </a:rPr>
                        <a:t>Entregables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39A900"/>
                    </a:solidFill>
                  </a:tcPr>
                </a:tc>
              </a:tr>
              <a:tr h="512064">
                <a:tc>
                  <a:txBody>
                    <a:bodyPr/>
                    <a:lstStyle/>
                    <a:p>
                      <a:pPr algn="l">
                        <a:lnSpc>
                          <a:spcPct val="100000"/>
                        </a:lnSpc>
                        <a:spcAft>
                          <a:spcPts val="0"/>
                        </a:spcAft>
                      </a:pPr>
                      <a:r>
                        <a:rPr sz="1200" b="1" i="0">
                          <a:solidFill>
                            <a:srgbClr val="2A7A00"/>
                          </a:solidFill>
                          <a:latin typeface="Times New Roman"/>
                          <a:cs typeface="Times New Roman"/>
                        </a:rPr>
                        <a:t>T1</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Especificación de Requisitos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u="sng">
                          <a:solidFill>
                            <a:srgbClr val="1155CC"/>
                          </a:solidFill>
                          <a:latin typeface="Times New Roman"/>
                          <a:cs typeface="Times New Roman"/>
                          <a:hlinkClick r:id="rId5"/>
                        </a:rPr>
                        <a:t>Diagrama de procesos</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6"/>
                        </a:rPr>
                        <a:t>Análisis de necesidades</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7"/>
                        </a:rPr>
                        <a:t>Requisitos IEEE-830</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512064">
                <a:tc>
                  <a:txBody>
                    <a:bodyPr/>
                    <a:lstStyle/>
                    <a:p>
                      <a:pPr algn="l">
                        <a:lnSpc>
                          <a:spcPct val="100000"/>
                        </a:lnSpc>
                        <a:spcAft>
                          <a:spcPts val="0"/>
                        </a:spcAft>
                      </a:pPr>
                      <a:r>
                        <a:rPr sz="1200" b="1" i="0">
                          <a:solidFill>
                            <a:srgbClr val="2A7A00"/>
                          </a:solidFill>
                          <a:latin typeface="Times New Roman"/>
                          <a:cs typeface="Times New Roman"/>
                        </a:rPr>
                        <a:t>T2</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Diseño y Prototipado</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u="sng">
                          <a:solidFill>
                            <a:srgbClr val="1155CC"/>
                          </a:solidFill>
                          <a:latin typeface="Times New Roman"/>
                          <a:cs typeface="Times New Roman"/>
                          <a:hlinkClick r:id="rId9"/>
                        </a:rPr>
                        <a:t>Casos de uso (UML)</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0"/>
                        </a:rPr>
                        <a:t>Mockups en Figma</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1"/>
                        </a:rPr>
                        <a:t>Cronograma y costos</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2"/>
                        </a:rPr>
                        <a:t>Repositorio (SCV)</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r h="512064">
                <a:tc>
                  <a:txBody>
                    <a:bodyPr/>
                    <a:lstStyle/>
                    <a:p>
                      <a:pPr algn="l">
                        <a:lnSpc>
                          <a:spcPct val="100000"/>
                        </a:lnSpc>
                        <a:spcAft>
                          <a:spcPts val="0"/>
                        </a:spcAft>
                      </a:pPr>
                      <a:r>
                        <a:rPr sz="1200" b="1" i="0">
                          <a:solidFill>
                            <a:srgbClr val="2A7A00"/>
                          </a:solidFill>
                          <a:latin typeface="Times New Roman"/>
                          <a:cs typeface="Times New Roman"/>
                        </a:rPr>
                        <a:t>T3</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Diseño Técnico de Datos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u="sng">
                          <a:solidFill>
                            <a:srgbClr val="1155CC"/>
                          </a:solidFill>
                          <a:latin typeface="Times New Roman"/>
                          <a:cs typeface="Times New Roman"/>
                          <a:hlinkClick r:id="rId14"/>
                        </a:rPr>
                        <a:t>Modelo relacional</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5"/>
                        </a:rPr>
                        <a:t>Normalización 3FN</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6"/>
                        </a:rPr>
                        <a:t>Diccionario de datos</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7"/>
                        </a:rPr>
                        <a:t>Diagramas UML</a:t>
                      </a:r>
                      <a:r>
                        <a:rPr sz="1200" b="0" i="0">
                          <a:solidFill>
                            <a:srgbClr val="C9E0B8"/>
                          </a:solidFill>
                          <a:latin typeface="Times New Roman"/>
                          <a:cs typeface="Times New Roman"/>
                        </a:rPr>
                        <a:t>  |  </a:t>
                      </a:r>
                      <a:r>
                        <a:rPr sz="1200" b="0" i="0" u="sng">
                          <a:solidFill>
                            <a:srgbClr val="1155CC"/>
                          </a:solidFill>
                          <a:latin typeface="Times New Roman"/>
                          <a:cs typeface="Times New Roman"/>
                          <a:hlinkClick r:id="rId18"/>
                        </a:rPr>
                        <a:t>Prototipo navegable</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512064">
                <a:tc>
                  <a:txBody>
                    <a:bodyPr/>
                    <a:lstStyle/>
                    <a:p>
                      <a:pPr algn="l">
                        <a:lnSpc>
                          <a:spcPct val="100000"/>
                        </a:lnSpc>
                        <a:spcAft>
                          <a:spcPts val="0"/>
                        </a:spcAft>
                      </a:pPr>
                      <a:r>
                        <a:rPr sz="1200" b="1" i="0">
                          <a:solidFill>
                            <a:srgbClr val="2A7A00"/>
                          </a:solidFill>
                          <a:latin typeface="Times New Roman"/>
                          <a:cs typeface="Times New Roman"/>
                        </a:rPr>
                        <a:t>T4</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Desarrollo BD y Frontend</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a:solidFill>
                            <a:srgbClr val="222222"/>
                          </a:solidFill>
                          <a:latin typeface="Times New Roman"/>
                          <a:cs typeface="Times New Roman"/>
                        </a:rPr>
                        <a:t>Script DDL</a:t>
                      </a:r>
                      <a:r>
                        <a:rPr sz="1200" b="0" i="0">
                          <a:solidFill>
                            <a:srgbClr val="C9E0B8"/>
                          </a:solidFill>
                          <a:latin typeface="Times New Roman"/>
                          <a:cs typeface="Times New Roman"/>
                        </a:rPr>
                        <a:t>  |  </a:t>
                      </a:r>
                      <a:r>
                        <a:rPr sz="1200" b="0" i="0">
                          <a:solidFill>
                            <a:srgbClr val="222222"/>
                          </a:solidFill>
                          <a:latin typeface="Times New Roman"/>
                          <a:cs typeface="Times New Roman"/>
                        </a:rPr>
                        <a:t>Script DML</a:t>
                      </a:r>
                      <a:r>
                        <a:rPr sz="1200" b="0" i="0">
                          <a:solidFill>
                            <a:srgbClr val="C9E0B8"/>
                          </a:solidFill>
                          <a:latin typeface="Times New Roman"/>
                          <a:cs typeface="Times New Roman"/>
                        </a:rPr>
                        <a:t>  |  </a:t>
                      </a:r>
                      <a:r>
                        <a:rPr sz="1200" b="0" i="0">
                          <a:solidFill>
                            <a:srgbClr val="222222"/>
                          </a:solidFill>
                          <a:latin typeface="Times New Roman"/>
                          <a:cs typeface="Times New Roman"/>
                        </a:rPr>
                        <a:t>Seguridad de BD</a:t>
                      </a:r>
                      <a:r>
                        <a:rPr sz="1200" b="0" i="0">
                          <a:solidFill>
                            <a:srgbClr val="C9E0B8"/>
                          </a:solidFill>
                          <a:latin typeface="Times New Roman"/>
                          <a:cs typeface="Times New Roman"/>
                        </a:rPr>
                        <a:t>  |  </a:t>
                      </a:r>
                      <a:r>
                        <a:rPr sz="1200" b="0" i="0">
                          <a:solidFill>
                            <a:srgbClr val="222222"/>
                          </a:solidFill>
                          <a:latin typeface="Times New Roman"/>
                          <a:cs typeface="Times New Roman"/>
                        </a:rPr>
                        <a:t>Frontend Blade + Sanctum</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r h="512064">
                <a:tc>
                  <a:txBody>
                    <a:bodyPr/>
                    <a:lstStyle/>
                    <a:p>
                      <a:pPr algn="l">
                        <a:lnSpc>
                          <a:spcPct val="100000"/>
                        </a:lnSpc>
                        <a:spcAft>
                          <a:spcPts val="0"/>
                        </a:spcAft>
                      </a:pPr>
                      <a:r>
                        <a:rPr sz="1200" b="1" i="0">
                          <a:solidFill>
                            <a:srgbClr val="2A7A00"/>
                          </a:solidFill>
                          <a:latin typeface="Times New Roman"/>
                          <a:cs typeface="Times New Roman"/>
                        </a:rPr>
                        <a:t>T5</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Integración API REST</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a:solidFill>
                            <a:srgbClr val="222222"/>
                          </a:solidFill>
                          <a:latin typeface="Times New Roman"/>
                          <a:cs typeface="Times New Roman"/>
                        </a:rPr>
                        <a:t>API REST (Sanctum/CORS)</a:t>
                      </a:r>
                      <a:r>
                        <a:rPr sz="1200" b="0" i="0">
                          <a:solidFill>
                            <a:srgbClr val="C9E0B8"/>
                          </a:solidFill>
                          <a:latin typeface="Times New Roman"/>
                          <a:cs typeface="Times New Roman"/>
                        </a:rPr>
                        <a:t>  |  </a:t>
                      </a:r>
                      <a:r>
                        <a:rPr sz="1200" b="0" i="0">
                          <a:solidFill>
                            <a:srgbClr val="222222"/>
                          </a:solidFill>
                          <a:latin typeface="Times New Roman"/>
                          <a:cs typeface="Times New Roman"/>
                        </a:rPr>
                        <a:t>Frontend integrado</a:t>
                      </a:r>
                      <a:r>
                        <a:rPr sz="1200" b="0" i="0">
                          <a:solidFill>
                            <a:srgbClr val="C9E0B8"/>
                          </a:solidFill>
                          <a:latin typeface="Times New Roman"/>
                          <a:cs typeface="Times New Roman"/>
                        </a:rPr>
                        <a:t>  |  </a:t>
                      </a:r>
                      <a:r>
                        <a:rPr sz="1200" b="0" i="0">
                          <a:solidFill>
                            <a:srgbClr val="222222"/>
                          </a:solidFill>
                          <a:latin typeface="Times New Roman"/>
                          <a:cs typeface="Times New Roman"/>
                        </a:rPr>
                        <a:t>Repositorio (SCV)</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r h="512064">
                <a:tc>
                  <a:txBody>
                    <a:bodyPr/>
                    <a:lstStyle/>
                    <a:p>
                      <a:pPr algn="l">
                        <a:lnSpc>
                          <a:spcPct val="100000"/>
                        </a:lnSpc>
                        <a:spcAft>
                          <a:spcPts val="0"/>
                        </a:spcAft>
                      </a:pPr>
                      <a:r>
                        <a:rPr sz="1200" b="1" i="0">
                          <a:solidFill>
                            <a:srgbClr val="2A7A00"/>
                          </a:solidFill>
                          <a:latin typeface="Times New Roman"/>
                          <a:cs typeface="Times New Roman"/>
                        </a:rPr>
                        <a:t>T6</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App Móvil y Cierre Frontend</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a:solidFill>
                            <a:srgbClr val="222222"/>
                          </a:solidFill>
                          <a:latin typeface="Times New Roman"/>
                          <a:cs typeface="Times New Roman"/>
                        </a:rPr>
                        <a:t>Solución web completa</a:t>
                      </a:r>
                      <a:r>
                        <a:rPr sz="1200" b="0" i="0">
                          <a:solidFill>
                            <a:srgbClr val="C9E0B8"/>
                          </a:solidFill>
                          <a:latin typeface="Times New Roman"/>
                          <a:cs typeface="Times New Roman"/>
                        </a:rPr>
                        <a:t>  |  </a:t>
                      </a:r>
                      <a:r>
                        <a:rPr sz="1200" b="0" i="0">
                          <a:solidFill>
                            <a:srgbClr val="222222"/>
                          </a:solidFill>
                          <a:latin typeface="Times New Roman"/>
                          <a:cs typeface="Times New Roman"/>
                        </a:rPr>
                        <a:t>API documentada (Swagger)</a:t>
                      </a:r>
                      <a:r>
                        <a:rPr sz="1200" b="0" i="0">
                          <a:solidFill>
                            <a:srgbClr val="C9E0B8"/>
                          </a:solidFill>
                          <a:latin typeface="Times New Roman"/>
                          <a:cs typeface="Times New Roman"/>
                        </a:rPr>
                        <a:t>  |  </a:t>
                      </a:r>
                      <a:r>
                        <a:rPr sz="1200" b="0" i="0">
                          <a:solidFill>
                            <a:srgbClr val="222222"/>
                          </a:solidFill>
                          <a:latin typeface="Times New Roman"/>
                          <a:cs typeface="Times New Roman"/>
                        </a:rPr>
                        <a:t>App móvil ágil</a:t>
                      </a:r>
                      <a:r>
                        <a:rPr sz="1200" b="0" i="0">
                          <a:solidFill>
                            <a:srgbClr val="C9E0B8"/>
                          </a:solidFill>
                          <a:latin typeface="Times New Roman"/>
                          <a:cs typeface="Times New Roman"/>
                        </a:rPr>
                        <a:t>  |  </a:t>
                      </a:r>
                      <a:r>
                        <a:rPr sz="1200" b="0" i="0">
                          <a:solidFill>
                            <a:srgbClr val="222222"/>
                          </a:solidFill>
                          <a:latin typeface="Times New Roman"/>
                          <a:cs typeface="Times New Roman"/>
                        </a:rPr>
                        <a:t>App móvil con API</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EEF7E6"/>
                    </a:solidFill>
                  </a:tcPr>
                </a:tc>
              </a:tr>
              <a:tr h="512064">
                <a:tc>
                  <a:txBody>
                    <a:bodyPr/>
                    <a:lstStyle/>
                    <a:p>
                      <a:pPr algn="l">
                        <a:lnSpc>
                          <a:spcPct val="100000"/>
                        </a:lnSpc>
                        <a:spcAft>
                          <a:spcPts val="0"/>
                        </a:spcAft>
                      </a:pPr>
                      <a:r>
                        <a:rPr sz="1200" b="1" i="0">
                          <a:solidFill>
                            <a:srgbClr val="2A7A00"/>
                          </a:solidFill>
                          <a:latin typeface="Times New Roman"/>
                          <a:cs typeface="Times New Roman"/>
                        </a:rPr>
                        <a:t>T7</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Pruebas, Calidad y Despliegue</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c>
                  <a:txBody>
                    <a:bodyPr/>
                    <a:lstStyle/>
                    <a:p>
                      <a:pPr algn="l">
                        <a:lnSpc>
                          <a:spcPct val="100000"/>
                        </a:lnSpc>
                        <a:spcAft>
                          <a:spcPts val="0"/>
                        </a:spcAft>
                      </a:pPr>
                      <a:r>
                        <a:rPr sz="1200" b="0" i="0">
                          <a:solidFill>
                            <a:srgbClr val="222222"/>
                          </a:solidFill>
                          <a:latin typeface="Times New Roman"/>
                          <a:cs typeface="Times New Roman"/>
                        </a:rPr>
                        <a:t>​</a:t>
                      </a:r>
                      <a:r>
                        <a:rPr sz="1200" b="0" i="0">
                          <a:solidFill>
                            <a:srgbClr val="222222"/>
                          </a:solidFill>
                          <a:latin typeface="Times New Roman"/>
                          <a:cs typeface="Times New Roman"/>
                        </a:rPr>
                        <a:t>Pruebas de software</a:t>
                      </a:r>
                      <a:r>
                        <a:rPr sz="1200" b="0" i="0">
                          <a:solidFill>
                            <a:srgbClr val="C9E0B8"/>
                          </a:solidFill>
                          <a:latin typeface="Times New Roman"/>
                          <a:cs typeface="Times New Roman"/>
                        </a:rPr>
                        <a:t>  |  </a:t>
                      </a:r>
                      <a:r>
                        <a:rPr sz="1200" b="0" i="0">
                          <a:solidFill>
                            <a:srgbClr val="222222"/>
                          </a:solidFill>
                          <a:latin typeface="Times New Roman"/>
                          <a:cs typeface="Times New Roman"/>
                        </a:rPr>
                        <a:t>Plan de despliegue</a:t>
                      </a:r>
                      <a:r>
                        <a:rPr sz="1200" b="0" i="0">
                          <a:solidFill>
                            <a:srgbClr val="C9E0B8"/>
                          </a:solidFill>
                          <a:latin typeface="Times New Roman"/>
                          <a:cs typeface="Times New Roman"/>
                        </a:rPr>
                        <a:t>  |  </a:t>
                      </a:r>
                      <a:r>
                        <a:rPr sz="1200" b="0" i="0">
                          <a:solidFill>
                            <a:srgbClr val="222222"/>
                          </a:solidFill>
                          <a:latin typeface="Times New Roman"/>
                          <a:cs typeface="Times New Roman"/>
                        </a:rPr>
                        <a:t>Calidad ISO 25010</a:t>
                      </a:r>
                      <a:r>
                        <a:rPr sz="1200" b="0" i="0">
                          <a:solidFill>
                            <a:srgbClr val="C9E0B8"/>
                          </a:solidFill>
                          <a:latin typeface="Times New Roman"/>
                          <a:cs typeface="Times New Roman"/>
                        </a:rPr>
                        <a:t>  |  </a:t>
                      </a:r>
                      <a:r>
                        <a:rPr sz="1200" b="0" i="0">
                          <a:solidFill>
                            <a:srgbClr val="222222"/>
                          </a:solidFill>
                          <a:latin typeface="Times New Roman"/>
                          <a:cs typeface="Times New Roman"/>
                        </a:rPr>
                        <a:t>Manuales técnico y usuario</a:t>
                      </a:r>
                      <a:r>
                        <a:rPr sz="1200" b="0" i="0">
                          <a:solidFill>
                            <a:srgbClr val="C9E0B8"/>
                          </a:solidFill>
                          <a:latin typeface="Times New Roman"/>
                          <a:cs typeface="Times New Roman"/>
                        </a:rPr>
                        <a:t>  |  </a:t>
                      </a:r>
                      <a:r>
                        <a:rPr sz="1200" b="0" i="0">
                          <a:solidFill>
                            <a:srgbClr val="222222"/>
                          </a:solidFill>
                          <a:latin typeface="Times New Roman"/>
                          <a:cs typeface="Times New Roman"/>
                        </a:rPr>
                        <a:t>Despliegue en servidores</a:t>
                      </a:r>
                    </a:p>
                  </a:txBody>
                  <a:tcPr marL="73152" marR="73152" marT="45720" marB="45720" anchor="ctr">
                    <a:lnL w="9525">
                      <a:solidFill>
                        <a:srgbClr val="C9E0B8"/>
                      </a:solidFill>
                    </a:lnL>
                    <a:lnR w="9525">
                      <a:solidFill>
                        <a:srgbClr val="C9E0B8"/>
                      </a:solidFill>
                    </a:lnR>
                    <a:lnT w="9525">
                      <a:solidFill>
                        <a:srgbClr val="C9E0B8"/>
                      </a:solidFill>
                    </a:lnT>
                    <a:lnB w="9525">
                      <a:solidFill>
                        <a:srgbClr val="C9E0B8"/>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4320" y="5201080"/>
            <a:ext cx="4259580" cy="556895"/>
          </a:xfrm>
          <a:prstGeom prst="rect">
            <a:avLst/>
          </a:prstGeom>
        </p:spPr>
        <p:txBody>
          <a:bodyPr vert="horz" wrap="square" lIns="0" tIns="64769" rIns="0" bIns="0" rtlCol="0">
            <a:spAutoFit/>
          </a:bodyPr>
          <a:lstStyle/>
          <a:p>
            <a:pPr marL="12700">
              <a:lnSpc>
                <a:spcPct val="100000"/>
              </a:lnSpc>
              <a:spcBef>
                <a:spcPts val="509"/>
              </a:spcBef>
            </a:pPr>
            <a:r>
              <a:rPr sz="1200" dirty="0">
                <a:solidFill>
                  <a:srgbClr val="FFFFFF"/>
                </a:solidFill>
                <a:latin typeface="Times New Roman"/>
                <a:cs typeface="Times New Roman"/>
              </a:rPr>
              <a:t>Línea</a:t>
            </a:r>
            <a:r>
              <a:rPr sz="1200" spc="200" dirty="0">
                <a:solidFill>
                  <a:srgbClr val="FFFFFF"/>
                </a:solidFill>
                <a:latin typeface="Times New Roman"/>
                <a:cs typeface="Times New Roman"/>
              </a:rPr>
              <a:t> </a:t>
            </a:r>
            <a:r>
              <a:rPr sz="1200" dirty="0">
                <a:solidFill>
                  <a:srgbClr val="D6F8AD"/>
                </a:solidFill>
                <a:latin typeface="Times New Roman"/>
                <a:cs typeface="Times New Roman"/>
              </a:rPr>
              <a:t>de</a:t>
            </a:r>
            <a:r>
              <a:rPr sz="1200" spc="305" dirty="0">
                <a:solidFill>
                  <a:srgbClr val="D6F8AD"/>
                </a:solidFill>
                <a:latin typeface="Times New Roman"/>
                <a:cs typeface="Times New Roman"/>
              </a:rPr>
              <a:t> </a:t>
            </a:r>
            <a:r>
              <a:rPr sz="1200" dirty="0">
                <a:solidFill>
                  <a:srgbClr val="FFFFFF"/>
                </a:solidFill>
                <a:latin typeface="Times New Roman"/>
                <a:cs typeface="Times New Roman"/>
              </a:rPr>
              <a:t>atención</a:t>
            </a:r>
            <a:r>
              <a:rPr sz="1200" spc="400" dirty="0">
                <a:solidFill>
                  <a:srgbClr val="FFFFFF"/>
                </a:solidFill>
                <a:latin typeface="Times New Roman"/>
                <a:cs typeface="Times New Roman"/>
              </a:rPr>
              <a:t> </a:t>
            </a:r>
            <a:r>
              <a:rPr sz="1200" dirty="0">
                <a:solidFill>
                  <a:srgbClr val="FFFFFF"/>
                </a:solidFill>
                <a:latin typeface="Times New Roman"/>
                <a:cs typeface="Times New Roman"/>
              </a:rPr>
              <a:t>al</a:t>
            </a:r>
            <a:r>
              <a:rPr sz="1200" spc="325" dirty="0">
                <a:solidFill>
                  <a:srgbClr val="FFFFFF"/>
                </a:solidFill>
                <a:latin typeface="Times New Roman"/>
                <a:cs typeface="Times New Roman"/>
              </a:rPr>
              <a:t> </a:t>
            </a:r>
            <a:r>
              <a:rPr sz="1200" dirty="0">
                <a:solidFill>
                  <a:srgbClr val="FFFFFF"/>
                </a:solidFill>
                <a:latin typeface="Times New Roman"/>
                <a:cs typeface="Times New Roman"/>
              </a:rPr>
              <a:t>ciudadano:</a:t>
            </a:r>
            <a:r>
              <a:rPr sz="1200" spc="434" dirty="0">
                <a:solidFill>
                  <a:srgbClr val="FFFFFF"/>
                </a:solidFill>
                <a:latin typeface="Times New Roman"/>
                <a:cs typeface="Times New Roman"/>
              </a:rPr>
              <a:t> </a:t>
            </a:r>
            <a:r>
              <a:rPr sz="1200" dirty="0">
                <a:solidFill>
                  <a:srgbClr val="FFFFFF"/>
                </a:solidFill>
                <a:latin typeface="Times New Roman"/>
                <a:cs typeface="Times New Roman"/>
              </a:rPr>
              <a:t>01</a:t>
            </a:r>
            <a:r>
              <a:rPr sz="1200" spc="105" dirty="0">
                <a:solidFill>
                  <a:srgbClr val="FFFFFF"/>
                </a:solidFill>
                <a:latin typeface="Times New Roman"/>
                <a:cs typeface="Times New Roman"/>
              </a:rPr>
              <a:t> </a:t>
            </a:r>
            <a:r>
              <a:rPr sz="1200" dirty="0">
                <a:solidFill>
                  <a:srgbClr val="FFFFFF"/>
                </a:solidFill>
                <a:latin typeface="Times New Roman"/>
                <a:cs typeface="Times New Roman"/>
              </a:rPr>
              <a:t>8000</a:t>
            </a:r>
            <a:r>
              <a:rPr sz="1200" spc="390" dirty="0">
                <a:solidFill>
                  <a:srgbClr val="FFFFFF"/>
                </a:solidFill>
                <a:latin typeface="Times New Roman"/>
                <a:cs typeface="Times New Roman"/>
              </a:rPr>
              <a:t> </a:t>
            </a:r>
            <a:r>
              <a:rPr sz="1200" spc="-10" dirty="0">
                <a:solidFill>
                  <a:srgbClr val="FFFFFF"/>
                </a:solidFill>
                <a:latin typeface="Times New Roman"/>
                <a:cs typeface="Times New Roman"/>
              </a:rPr>
              <a:t>910270</a:t>
            </a:r>
            <a:endParaRPr sz="1200">
              <a:latin typeface="Times New Roman"/>
              <a:cs typeface="Times New Roman"/>
            </a:endParaRPr>
          </a:p>
          <a:p>
            <a:pPr marL="12700">
              <a:lnSpc>
                <a:spcPct val="100000"/>
              </a:lnSpc>
              <a:spcBef>
                <a:spcPts val="409"/>
              </a:spcBef>
            </a:pPr>
            <a:r>
              <a:rPr sz="1200" dirty="0">
                <a:solidFill>
                  <a:srgbClr val="FFFFFF"/>
                </a:solidFill>
                <a:latin typeface="Times New Roman"/>
                <a:cs typeface="Times New Roman"/>
              </a:rPr>
              <a:t>Línea</a:t>
            </a:r>
            <a:r>
              <a:rPr sz="1200" spc="254" dirty="0">
                <a:solidFill>
                  <a:srgbClr val="FFFFFF"/>
                </a:solidFill>
                <a:latin typeface="Times New Roman"/>
                <a:cs typeface="Times New Roman"/>
              </a:rPr>
              <a:t> </a:t>
            </a:r>
            <a:r>
              <a:rPr sz="1200" dirty="0">
                <a:solidFill>
                  <a:srgbClr val="FFFFFF"/>
                </a:solidFill>
                <a:latin typeface="Times New Roman"/>
                <a:cs typeface="Times New Roman"/>
              </a:rPr>
              <a:t>de</a:t>
            </a:r>
            <a:r>
              <a:rPr sz="1200" spc="320" dirty="0">
                <a:solidFill>
                  <a:srgbClr val="FFFFFF"/>
                </a:solidFill>
                <a:latin typeface="Times New Roman"/>
                <a:cs typeface="Times New Roman"/>
              </a:rPr>
              <a:t> </a:t>
            </a:r>
            <a:r>
              <a:rPr sz="1200" spc="-10" dirty="0">
                <a:solidFill>
                  <a:srgbClr val="FFFFFF"/>
                </a:solidFill>
                <a:latin typeface="Times New Roman"/>
                <a:cs typeface="Times New Roman"/>
              </a:rPr>
              <a:t>aten</a:t>
            </a:r>
            <a:r>
              <a:rPr sz="1200" spc="-195" dirty="0">
                <a:solidFill>
                  <a:srgbClr val="FFFFFF"/>
                </a:solidFill>
                <a:latin typeface="Times New Roman"/>
                <a:cs typeface="Times New Roman"/>
              </a:rPr>
              <a:t> </a:t>
            </a:r>
            <a:r>
              <a:rPr sz="1200" dirty="0">
                <a:solidFill>
                  <a:srgbClr val="FFFFFF"/>
                </a:solidFill>
                <a:latin typeface="Times New Roman"/>
                <a:cs typeface="Times New Roman"/>
              </a:rPr>
              <a:t>ción</a:t>
            </a:r>
            <a:r>
              <a:rPr sz="1200" spc="300" dirty="0">
                <a:solidFill>
                  <a:srgbClr val="FFFFFF"/>
                </a:solidFill>
                <a:latin typeface="Times New Roman"/>
                <a:cs typeface="Times New Roman"/>
              </a:rPr>
              <a:t> </a:t>
            </a:r>
            <a:r>
              <a:rPr sz="1200" dirty="0">
                <a:solidFill>
                  <a:srgbClr val="FFFFFF"/>
                </a:solidFill>
                <a:latin typeface="Times New Roman"/>
                <a:cs typeface="Times New Roman"/>
              </a:rPr>
              <a:t>al</a:t>
            </a:r>
            <a:r>
              <a:rPr sz="1200" spc="350" dirty="0">
                <a:solidFill>
                  <a:srgbClr val="FFFFFF"/>
                </a:solidFill>
                <a:latin typeface="Times New Roman"/>
                <a:cs typeface="Times New Roman"/>
              </a:rPr>
              <a:t> </a:t>
            </a:r>
            <a:r>
              <a:rPr sz="1200" dirty="0">
                <a:solidFill>
                  <a:srgbClr val="FFFFFF"/>
                </a:solidFill>
                <a:latin typeface="Times New Roman"/>
                <a:cs typeface="Times New Roman"/>
              </a:rPr>
              <a:t>empresario:</a:t>
            </a:r>
            <a:r>
              <a:rPr sz="1200" spc="434" dirty="0">
                <a:solidFill>
                  <a:srgbClr val="FFFFFF"/>
                </a:solidFill>
                <a:latin typeface="Times New Roman"/>
                <a:cs typeface="Times New Roman"/>
              </a:rPr>
              <a:t> </a:t>
            </a:r>
            <a:r>
              <a:rPr sz="1200" dirty="0">
                <a:solidFill>
                  <a:srgbClr val="E6FFCD"/>
                </a:solidFill>
                <a:latin typeface="Times New Roman"/>
                <a:cs typeface="Times New Roman"/>
              </a:rPr>
              <a:t>01</a:t>
            </a:r>
            <a:r>
              <a:rPr sz="1200" spc="145" dirty="0">
                <a:solidFill>
                  <a:srgbClr val="E6FFCD"/>
                </a:solidFill>
                <a:latin typeface="Times New Roman"/>
                <a:cs typeface="Times New Roman"/>
              </a:rPr>
              <a:t> </a:t>
            </a:r>
            <a:r>
              <a:rPr sz="1200" dirty="0">
                <a:solidFill>
                  <a:srgbClr val="FFFFFF"/>
                </a:solidFill>
                <a:latin typeface="Times New Roman"/>
                <a:cs typeface="Times New Roman"/>
              </a:rPr>
              <a:t>8000</a:t>
            </a:r>
            <a:r>
              <a:rPr sz="1200" spc="370" dirty="0">
                <a:solidFill>
                  <a:srgbClr val="FFFFFF"/>
                </a:solidFill>
                <a:latin typeface="Times New Roman"/>
                <a:cs typeface="Times New Roman"/>
              </a:rPr>
              <a:t> </a:t>
            </a:r>
            <a:r>
              <a:rPr sz="1200" spc="-10" dirty="0">
                <a:solidFill>
                  <a:srgbClr val="FFFFFF"/>
                </a:solidFill>
                <a:latin typeface="Times New Roman"/>
                <a:cs typeface="Times New Roman"/>
              </a:rPr>
              <a:t>910682</a:t>
            </a:r>
            <a:endParaRPr sz="1200">
              <a:latin typeface="Times New Roman"/>
              <a:cs typeface="Times New Roman"/>
            </a:endParaRPr>
          </a:p>
        </p:txBody>
      </p:sp>
      <p:sp>
        <p:nvSpPr>
          <p:cNvPr id="3" name="object 3"/>
          <p:cNvSpPr txBox="1"/>
          <p:nvPr/>
        </p:nvSpPr>
        <p:spPr>
          <a:xfrm>
            <a:off x="7154926" y="5379465"/>
            <a:ext cx="3848100" cy="22352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88B86E"/>
                </a:solidFill>
                <a:latin typeface="Times New Roman"/>
                <a:cs typeface="Times New Roman"/>
              </a:rPr>
              <a:t>@</a:t>
            </a:r>
            <a:r>
              <a:rPr sz="1200" spc="-60" dirty="0">
                <a:solidFill>
                  <a:srgbClr val="88B86E"/>
                </a:solidFill>
                <a:latin typeface="Times New Roman"/>
                <a:cs typeface="Times New Roman"/>
              </a:rPr>
              <a:t> </a:t>
            </a:r>
            <a:r>
              <a:rPr sz="1200" spc="-10" dirty="0">
                <a:solidFill>
                  <a:srgbClr val="E9FFD2"/>
                </a:solidFill>
                <a:latin typeface="Times New Roman"/>
                <a:cs typeface="Times New Roman"/>
              </a:rPr>
              <a:t>S</a:t>
            </a:r>
            <a:r>
              <a:rPr sz="1200" spc="-220" dirty="0">
                <a:solidFill>
                  <a:srgbClr val="E9FFD2"/>
                </a:solidFill>
                <a:latin typeface="Times New Roman"/>
                <a:cs typeface="Times New Roman"/>
              </a:rPr>
              <a:t> </a:t>
            </a:r>
            <a:r>
              <a:rPr sz="1200" spc="-10" dirty="0">
                <a:solidFill>
                  <a:srgbClr val="FFFFFF"/>
                </a:solidFill>
                <a:latin typeface="Times New Roman"/>
                <a:cs typeface="Times New Roman"/>
              </a:rPr>
              <a:t>E</a:t>
            </a:r>
            <a:r>
              <a:rPr sz="1200" spc="-260" dirty="0">
                <a:solidFill>
                  <a:srgbClr val="FFFFFF"/>
                </a:solidFill>
                <a:latin typeface="Times New Roman"/>
                <a:cs typeface="Times New Roman"/>
              </a:rPr>
              <a:t> </a:t>
            </a:r>
            <a:r>
              <a:rPr sz="1200" spc="-20" dirty="0">
                <a:solidFill>
                  <a:srgbClr val="FFFFFF"/>
                </a:solidFill>
                <a:latin typeface="Times New Roman"/>
                <a:cs typeface="Times New Roman"/>
              </a:rPr>
              <a:t>N</a:t>
            </a:r>
            <a:r>
              <a:rPr sz="1200" spc="-260" dirty="0">
                <a:solidFill>
                  <a:srgbClr val="FFFFFF"/>
                </a:solidFill>
                <a:latin typeface="Times New Roman"/>
                <a:cs typeface="Times New Roman"/>
              </a:rPr>
              <a:t> </a:t>
            </a:r>
            <a:r>
              <a:rPr sz="1200" dirty="0">
                <a:solidFill>
                  <a:srgbClr val="FFFFFF"/>
                </a:solidFill>
                <a:latin typeface="Times New Roman"/>
                <a:cs typeface="Times New Roman"/>
              </a:rPr>
              <a:t>ACo</a:t>
            </a:r>
            <a:r>
              <a:rPr sz="1200" spc="-160" dirty="0">
                <a:solidFill>
                  <a:srgbClr val="FFFFFF"/>
                </a:solidFill>
                <a:latin typeface="Times New Roman"/>
                <a:cs typeface="Times New Roman"/>
              </a:rPr>
              <a:t> </a:t>
            </a:r>
            <a:r>
              <a:rPr sz="1200" spc="-20" dirty="0">
                <a:solidFill>
                  <a:srgbClr val="FFFFFF"/>
                </a:solidFill>
                <a:latin typeface="Times New Roman"/>
                <a:cs typeface="Times New Roman"/>
              </a:rPr>
              <a:t>m</a:t>
            </a:r>
            <a:r>
              <a:rPr sz="1200" spc="-260" dirty="0">
                <a:solidFill>
                  <a:srgbClr val="FFFFFF"/>
                </a:solidFill>
                <a:latin typeface="Times New Roman"/>
                <a:cs typeface="Times New Roman"/>
              </a:rPr>
              <a:t> </a:t>
            </a:r>
            <a:r>
              <a:rPr sz="1200" dirty="0">
                <a:solidFill>
                  <a:srgbClr val="FFFFFF"/>
                </a:solidFill>
                <a:latin typeface="Times New Roman"/>
                <a:cs typeface="Times New Roman"/>
              </a:rPr>
              <a:t>u</a:t>
            </a:r>
            <a:r>
              <a:rPr sz="1200" spc="-210" dirty="0">
                <a:solidFill>
                  <a:srgbClr val="FFFFFF"/>
                </a:solidFill>
                <a:latin typeface="Times New Roman"/>
                <a:cs typeface="Times New Roman"/>
              </a:rPr>
              <a:t> </a:t>
            </a:r>
            <a:r>
              <a:rPr sz="1200" dirty="0">
                <a:solidFill>
                  <a:srgbClr val="FFFFFF"/>
                </a:solidFill>
                <a:latin typeface="Times New Roman"/>
                <a:cs typeface="Times New Roman"/>
              </a:rPr>
              <a:t>n</a:t>
            </a:r>
            <a:r>
              <a:rPr sz="1200" spc="-195" dirty="0">
                <a:solidFill>
                  <a:srgbClr val="FFFFFF"/>
                </a:solidFill>
                <a:latin typeface="Times New Roman"/>
                <a:cs typeface="Times New Roman"/>
              </a:rPr>
              <a:t> </a:t>
            </a:r>
            <a:r>
              <a:rPr sz="1200" spc="-10" dirty="0">
                <a:solidFill>
                  <a:srgbClr val="FFFFFF"/>
                </a:solidFill>
                <a:latin typeface="Times New Roman"/>
                <a:cs typeface="Times New Roman"/>
              </a:rPr>
              <a:t>i</a:t>
            </a:r>
            <a:r>
              <a:rPr sz="1200" spc="-160" dirty="0">
                <a:solidFill>
                  <a:srgbClr val="FFFFFF"/>
                </a:solidFill>
                <a:latin typeface="Times New Roman"/>
                <a:cs typeface="Times New Roman"/>
              </a:rPr>
              <a:t> </a:t>
            </a:r>
            <a:r>
              <a:rPr sz="1200" dirty="0">
                <a:solidFill>
                  <a:srgbClr val="FFFFFF"/>
                </a:solidFill>
                <a:latin typeface="Times New Roman"/>
                <a:cs typeface="Times New Roman"/>
              </a:rPr>
              <a:t>ca</a:t>
            </a:r>
            <a:r>
              <a:rPr sz="1200" spc="-70" dirty="0">
                <a:solidFill>
                  <a:srgbClr val="FFFFFF"/>
                </a:solidFill>
                <a:latin typeface="Times New Roman"/>
                <a:cs typeface="Times New Roman"/>
              </a:rPr>
              <a:t> </a:t>
            </a:r>
            <a:r>
              <a:rPr sz="1200" spc="-20" dirty="0">
                <a:solidFill>
                  <a:srgbClr val="FFFFFF"/>
                </a:solidFill>
                <a:latin typeface="Times New Roman"/>
                <a:cs typeface="Times New Roman"/>
              </a:rPr>
              <a:t>w</a:t>
            </a:r>
            <a:r>
              <a:rPr sz="1200" spc="-220" dirty="0">
                <a:solidFill>
                  <a:srgbClr val="FFFFFF"/>
                </a:solidFill>
                <a:latin typeface="Times New Roman"/>
                <a:cs typeface="Times New Roman"/>
              </a:rPr>
              <a:t> </a:t>
            </a:r>
            <a:r>
              <a:rPr sz="1200" spc="-20" dirty="0">
                <a:solidFill>
                  <a:srgbClr val="FFFFFF"/>
                </a:solidFill>
                <a:latin typeface="Times New Roman"/>
                <a:cs typeface="Times New Roman"/>
              </a:rPr>
              <a:t>w</a:t>
            </a:r>
            <a:r>
              <a:rPr sz="1200" spc="-220" dirty="0">
                <a:solidFill>
                  <a:srgbClr val="FFFFFF"/>
                </a:solidFill>
                <a:latin typeface="Times New Roman"/>
                <a:cs typeface="Times New Roman"/>
              </a:rPr>
              <a:t> </a:t>
            </a:r>
            <a:r>
              <a:rPr sz="1200" spc="-20" dirty="0">
                <a:solidFill>
                  <a:srgbClr val="FFFFFF"/>
                </a:solidFill>
                <a:latin typeface="Times New Roman"/>
                <a:cs typeface="Times New Roman"/>
              </a:rPr>
              <a:t>w</a:t>
            </a:r>
            <a:r>
              <a:rPr sz="1200" spc="-20" dirty="0">
                <a:solidFill>
                  <a:srgbClr val="E9FFF0"/>
                </a:solidFill>
                <a:latin typeface="Times New Roman"/>
                <a:cs typeface="Times New Roman"/>
              </a:rPr>
              <a:t>.</a:t>
            </a:r>
            <a:r>
              <a:rPr sz="1200" spc="-90" dirty="0">
                <a:solidFill>
                  <a:srgbClr val="E9FFF0"/>
                </a:solidFill>
                <a:latin typeface="Times New Roman"/>
                <a:cs typeface="Times New Roman"/>
              </a:rPr>
              <a:t> </a:t>
            </a:r>
            <a:r>
              <a:rPr sz="1200" dirty="0">
                <a:solidFill>
                  <a:srgbClr val="FFFFFF"/>
                </a:solidFill>
                <a:latin typeface="Times New Roman"/>
                <a:cs typeface="Times New Roman"/>
              </a:rPr>
              <a:t>se</a:t>
            </a:r>
            <a:r>
              <a:rPr sz="1200" spc="-160" dirty="0">
                <a:solidFill>
                  <a:srgbClr val="FFFFFF"/>
                </a:solidFill>
                <a:latin typeface="Times New Roman"/>
                <a:cs typeface="Times New Roman"/>
              </a:rPr>
              <a:t> </a:t>
            </a:r>
            <a:r>
              <a:rPr sz="1200" dirty="0">
                <a:solidFill>
                  <a:srgbClr val="FFFFFF"/>
                </a:solidFill>
                <a:latin typeface="Times New Roman"/>
                <a:cs typeface="Times New Roman"/>
              </a:rPr>
              <a:t>n</a:t>
            </a:r>
            <a:r>
              <a:rPr sz="1200" spc="-170" dirty="0">
                <a:solidFill>
                  <a:srgbClr val="FFFFFF"/>
                </a:solidFill>
                <a:latin typeface="Times New Roman"/>
                <a:cs typeface="Times New Roman"/>
              </a:rPr>
              <a:t> </a:t>
            </a:r>
            <a:r>
              <a:rPr sz="1200" dirty="0">
                <a:solidFill>
                  <a:srgbClr val="E8FFD6"/>
                </a:solidFill>
                <a:latin typeface="Times New Roman"/>
                <a:cs typeface="Times New Roman"/>
              </a:rPr>
              <a:t>a</a:t>
            </a:r>
            <a:r>
              <a:rPr sz="1200" spc="-235" dirty="0">
                <a:solidFill>
                  <a:srgbClr val="E8FFD6"/>
                </a:solidFill>
                <a:latin typeface="Times New Roman"/>
                <a:cs typeface="Times New Roman"/>
              </a:rPr>
              <a:t> </a:t>
            </a:r>
            <a:r>
              <a:rPr sz="1200" spc="-10" dirty="0">
                <a:solidFill>
                  <a:srgbClr val="EDFFD6"/>
                </a:solidFill>
                <a:latin typeface="Times New Roman"/>
                <a:cs typeface="Times New Roman"/>
              </a:rPr>
              <a:t>.</a:t>
            </a:r>
            <a:r>
              <a:rPr sz="1200" spc="-175" dirty="0">
                <a:solidFill>
                  <a:srgbClr val="EDFFD6"/>
                </a:solidFill>
                <a:latin typeface="Times New Roman"/>
                <a:cs typeface="Times New Roman"/>
              </a:rPr>
              <a:t> </a:t>
            </a:r>
            <a:r>
              <a:rPr sz="1200" dirty="0">
                <a:solidFill>
                  <a:srgbClr val="FFFFFF"/>
                </a:solidFill>
                <a:latin typeface="Times New Roman"/>
                <a:cs typeface="Times New Roman"/>
              </a:rPr>
              <a:t>e</a:t>
            </a:r>
            <a:r>
              <a:rPr sz="1200" spc="-260" dirty="0">
                <a:solidFill>
                  <a:srgbClr val="FFFFFF"/>
                </a:solidFill>
                <a:latin typeface="Times New Roman"/>
                <a:cs typeface="Times New Roman"/>
              </a:rPr>
              <a:t> </a:t>
            </a:r>
            <a:r>
              <a:rPr sz="1200" dirty="0">
                <a:solidFill>
                  <a:srgbClr val="FFFFFF"/>
                </a:solidFill>
                <a:latin typeface="Times New Roman"/>
                <a:cs typeface="Times New Roman"/>
              </a:rPr>
              <a:t>d</a:t>
            </a:r>
            <a:r>
              <a:rPr sz="1200" spc="-170" dirty="0">
                <a:solidFill>
                  <a:srgbClr val="FFFFFF"/>
                </a:solidFill>
                <a:latin typeface="Times New Roman"/>
                <a:cs typeface="Times New Roman"/>
              </a:rPr>
              <a:t> </a:t>
            </a:r>
            <a:r>
              <a:rPr sz="1200" dirty="0">
                <a:solidFill>
                  <a:srgbClr val="FFFFFF"/>
                </a:solidFill>
                <a:latin typeface="Times New Roman"/>
                <a:cs typeface="Times New Roman"/>
              </a:rPr>
              <a:t>u</a:t>
            </a:r>
            <a:r>
              <a:rPr sz="1200" spc="-200" dirty="0">
                <a:solidFill>
                  <a:srgbClr val="FFFFFF"/>
                </a:solidFill>
                <a:latin typeface="Times New Roman"/>
                <a:cs typeface="Times New Roman"/>
              </a:rPr>
              <a:t> </a:t>
            </a:r>
            <a:r>
              <a:rPr sz="1200" spc="-10" dirty="0">
                <a:solidFill>
                  <a:srgbClr val="E9FFC5"/>
                </a:solidFill>
                <a:latin typeface="Times New Roman"/>
                <a:cs typeface="Times New Roman"/>
              </a:rPr>
              <a:t>.</a:t>
            </a:r>
            <a:r>
              <a:rPr sz="1200" spc="-155" dirty="0">
                <a:solidFill>
                  <a:srgbClr val="E9FFC5"/>
                </a:solidFill>
                <a:latin typeface="Times New Roman"/>
                <a:cs typeface="Times New Roman"/>
              </a:rPr>
              <a:t> </a:t>
            </a:r>
            <a:r>
              <a:rPr sz="1200" dirty="0">
                <a:solidFill>
                  <a:srgbClr val="FFFFFF"/>
                </a:solidFill>
                <a:latin typeface="Times New Roman"/>
                <a:cs typeface="Times New Roman"/>
              </a:rPr>
              <a:t>c</a:t>
            </a:r>
            <a:r>
              <a:rPr sz="1200" spc="-245" dirty="0">
                <a:solidFill>
                  <a:srgbClr val="FFFFFF"/>
                </a:solidFill>
                <a:latin typeface="Times New Roman"/>
                <a:cs typeface="Times New Roman"/>
              </a:rPr>
              <a:t> </a:t>
            </a:r>
            <a:r>
              <a:rPr sz="1200" spc="-50" dirty="0">
                <a:solidFill>
                  <a:srgbClr val="FFFFFF"/>
                </a:solidFill>
                <a:latin typeface="Times New Roman"/>
                <a:cs typeface="Times New Roman"/>
              </a:rPr>
              <a:t>o</a:t>
            </a:r>
            <a:endParaRPr sz="12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TotalTime>
  <Words>1236</Words>
  <Application>Microsoft Office PowerPoint</Application>
  <PresentationFormat>Panorámica</PresentationFormat>
  <Paragraphs>118</Paragraphs>
  <Slides>12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Arial</vt:lpstr>
      <vt:lpstr>Arial Black</vt:lpstr>
      <vt:lpstr>Arial MT</vt:lpstr>
      <vt:lpstr>Calibri</vt:lpstr>
      <vt:lpstr>Times New Roman</vt:lpstr>
      <vt:lpstr>Trebuchet MS</vt:lpstr>
      <vt:lpstr>Office Theme</vt:lpstr>
      <vt:lpstr>CONTROL STORE</vt:lpstr>
      <vt:lpstr>CONTROL STORE</vt:lpstr>
      <vt:lpstr>Introducción</vt:lpstr>
      <vt:lpstr>CONTROL STORE</vt:lpstr>
      <vt:lpstr>Problema</vt:lpstr>
      <vt:lpstr>Objetivo General</vt:lpstr>
      <vt:lpstr>Justificación</vt:lpstr>
      <vt:lpstr>Justificación</vt:lpstr>
      <vt:lpstr>Alcance</vt:lpstr>
      <vt:lpstr>Delimitación</vt:lpstr>
      <vt:lpstr>Entregables Proyecto Formativo por Trimestre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Bryan Torres</dc:creator>
  <cp:lastModifiedBy>David Alejandro Ortegon Acosta</cp:lastModifiedBy>
  <cp:revision>3</cp:revision>
  <dcterms:created xsi:type="dcterms:W3CDTF">2026-06-20T00:02:44Z</dcterms:created>
  <dcterms:modified xsi:type="dcterms:W3CDTF">2026-09-25T15:06:09Z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2026-06-08T00:00:00Z</vt:filetime>
  </property>
  <property fmtid="{D5CDD505-2E9C-101B-9397-08002B2CF9AE}" pid="4" name="Creator">
    <vt:lpwstr>Microsoft® PowerPoint® para Microsoft 365</vt:lpwstr>
  </property>
  <property fmtid="{D5CDD505-2E9C-101B-9397-08002B2CF9AE}" pid="5" name="LastSaved">
    <vt:filetime>2026-06-20T00:00:00Z</vt:filetime>
  </property>
  <property fmtid="{D5CDD505-2E9C-101B-9397-08002B2CF9AE}" pid="6" name="Producer">
    <vt:lpwstr>Microsoft® PowerPoint® para Microsoft 365</vt:lpwstr>
  </property>
</Properties>
</file>